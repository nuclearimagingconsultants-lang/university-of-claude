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the outcomes before the content. Every slide that follows exists to serve one of these.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Project 2's self-audit is exactly this checklist, and it reliably finds something.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86868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UNIVERSITY OF CLAUDE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417320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A9B4C4"/>
                </a:solidFill>
                <a:latin typeface="Calibri"/>
              </a:rPr>
              <a:t>UC MATH 600 — Mathematics for Computer Science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14884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F6B68"/>
                </a:solidFill>
                <a:latin typeface="Calibri"/>
              </a:rPr>
              <a:t>MODULE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606040"/>
            <a:ext cx="102412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FFFFFF"/>
                </a:solidFill>
                <a:latin typeface="Georgia"/>
              </a:rPr>
              <a:t>Claiming You Proved Something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4526280"/>
            <a:ext cx="2377440" cy="41148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800600"/>
            <a:ext cx="9509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>
                <a:solidFill>
                  <a:srgbClr val="9AA5B5"/>
                </a:solidFill>
                <a:latin typeface="Calibri"/>
              </a:rPr>
              <a:t>Finding your own gaps, and knowing you are ready.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60807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E697A"/>
                </a:solidFill>
                <a:latin typeface="Calibri"/>
              </a:rPr>
              <a:t>UC MATH 600 · Module 13 of 13 · original material, share freely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MODULE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What you will be able to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State what your proof actually establishes.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Find gaps in your own arguments.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Write a proof somebody else can check.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Assess honestly whether you are ready for Semester 1.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State the program's closing rule in this subject.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MATH 600 · Mathematics for Computer Science  —  Module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What a proof establishes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Which is narrower than what you wanted to show.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UC MATH 600 · Mathematics for Computer Science  —  Module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A proof establishes the stated claim under the stated hypotheses, and nothing broader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THE HONEST READING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Which hypotheses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including the ones you used without noticing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: that n is positive, that the graph is simple, that the list is non-empty (Module 04 §1).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What exactly was proved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'for all n' or 'for all sufficiently large n'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which are different and are both common.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what was assumed from elsewhere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 theorem you cited is a hypothesis you did not check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 the honest form is: 'under these assumptions, this claim, by this argument'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three things, and the first is the one people omit.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MATH 600 · Mathematics for Computer Science  —  Module 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Finding your own gaps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Which is the hard skill, and is mechanical.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UC MATH 600 · Mathematics for Computer Science  —  Module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AUDIT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The checklist, run on your own proof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11064240" cy="3904487"/>
          </a:xfrm>
          <a:prstGeom prst="rect">
            <a:avLst/>
          </a:prstGeom>
          <a:solidFill>
            <a:srgbClr val="1B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0" y="2011680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C29B3F"/>
                </a:solidFill>
                <a:latin typeface="Consolas"/>
              </a:rPr>
              <a:t>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084832"/>
            <a:ext cx="10515600" cy="3630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857" b="0" i="0">
                <a:solidFill>
                  <a:srgbClr val="E4E8EF"/>
                </a:solidFill>
                <a:latin typeface="Consolas"/>
              </a:rPr>
              <a:t>  1  EVERY "OBVIOUSLY", "CLEARLY", "IT FOLLOWS"</a:t>
            </a:r>
          </a:p>
          <a:p>
            <a:pPr algn="l">
              <a:lnSpc>
                <a:spcPct val="105000"/>
              </a:lnSpc>
            </a:pPr>
            <a:r>
              <a:rPr sz="857" b="0" i="0">
                <a:solidFill>
                  <a:srgbClr val="E4E8EF"/>
                </a:solidFill>
                <a:latin typeface="Consolas"/>
              </a:rPr>
              <a:t>         is a step you did not write down. Write it.</a:t>
            </a:r>
          </a:p>
          <a:p>
            <a:pPr algn="l">
              <a:lnSpc>
                <a:spcPct val="105000"/>
              </a:lnSpc>
            </a:pPr>
            <a:r>
              <a:rPr sz="857" b="0" i="0">
                <a:solidFill>
                  <a:srgbClr val="E4E8EF"/>
                </a:solidFill>
                <a:latin typeface="Consolas"/>
              </a:rPr>
              <a:t>         (Module 01 section 1)</a:t>
            </a:r>
          </a:p>
          <a:p>
            <a:pPr algn="l">
              <a:lnSpc>
                <a:spcPct val="105000"/>
              </a:lnSpc>
            </a:pPr>
            <a:r>
              <a:rPr sz="857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857" b="0" i="0">
                <a:solidFill>
                  <a:srgbClr val="E4E8EF"/>
                </a:solidFill>
                <a:latin typeface="Consolas"/>
              </a:rPr>
              <a:t>  2  EVERY HYPOTHESIS: where was it used?</a:t>
            </a:r>
          </a:p>
          <a:p>
            <a:pPr algn="l">
              <a:lnSpc>
                <a:spcPct val="105000"/>
              </a:lnSpc>
            </a:pPr>
            <a:r>
              <a:rPr sz="857" b="0" i="0">
                <a:solidFill>
                  <a:srgbClr val="E4E8EF"/>
                </a:solidFill>
                <a:latin typeface="Consolas"/>
              </a:rPr>
              <a:t>         if nowhere, either the claim is stronger</a:t>
            </a:r>
          </a:p>
          <a:p>
            <a:pPr algn="l">
              <a:lnSpc>
                <a:spcPct val="105000"/>
              </a:lnSpc>
            </a:pPr>
            <a:r>
              <a:rPr sz="857" b="0" i="0">
                <a:solidFill>
                  <a:srgbClr val="E4E8EF"/>
                </a:solidFill>
                <a:latin typeface="Consolas"/>
              </a:rPr>
              <a:t>         than you stated or the proof is wrong.</a:t>
            </a:r>
          </a:p>
          <a:p>
            <a:pPr algn="l">
              <a:lnSpc>
                <a:spcPct val="105000"/>
              </a:lnSpc>
            </a:pPr>
            <a:r>
              <a:rPr sz="857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857" b="0" i="0">
                <a:solidFill>
                  <a:srgbClr val="E4E8EF"/>
                </a:solidFill>
                <a:latin typeface="Consolas"/>
              </a:rPr>
              <a:t>  3  EVERY INDUCTION: point at the line where the</a:t>
            </a:r>
          </a:p>
          <a:p>
            <a:pPr algn="l">
              <a:lnSpc>
                <a:spcPct val="105000"/>
              </a:lnSpc>
            </a:pPr>
            <a:r>
              <a:rPr sz="857" b="0" i="0">
                <a:solidFill>
                  <a:srgbClr val="E4E8EF"/>
                </a:solidFill>
                <a:latin typeface="Consolas"/>
              </a:rPr>
              <a:t>         hypothesis was used, and say which</a:t>
            </a:r>
          </a:p>
          <a:p>
            <a:pPr algn="l">
              <a:lnSpc>
                <a:spcPct val="105000"/>
              </a:lnSpc>
            </a:pPr>
            <a:r>
              <a:rPr sz="857" b="0" i="0">
                <a:solidFill>
                  <a:srgbClr val="E4E8EF"/>
                </a:solidFill>
                <a:latin typeface="Consolas"/>
              </a:rPr>
              <a:t>         predecessors it needed.</a:t>
            </a:r>
          </a:p>
          <a:p>
            <a:pPr algn="l">
              <a:lnSpc>
                <a:spcPct val="105000"/>
              </a:lnSpc>
            </a:pPr>
            <a:r>
              <a:rPr sz="857" b="0" i="0">
                <a:solidFill>
                  <a:srgbClr val="E4E8EF"/>
                </a:solidFill>
                <a:latin typeface="Consolas"/>
              </a:rPr>
              <a:t>         (Module 03 section 1)</a:t>
            </a:r>
          </a:p>
          <a:p>
            <a:pPr algn="l">
              <a:lnSpc>
                <a:spcPct val="105000"/>
              </a:lnSpc>
            </a:pPr>
            <a:r>
              <a:rPr sz="857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857" b="0" i="0">
                <a:solidFill>
                  <a:srgbClr val="E4E8EF"/>
                </a:solidFill>
                <a:latin typeface="Consolas"/>
              </a:rPr>
              <a:t>  4  EVERY EDGE CASE: n = 0, n = 1, the empty set,</a:t>
            </a:r>
          </a:p>
          <a:p>
            <a:pPr algn="l">
              <a:lnSpc>
                <a:spcPct val="105000"/>
              </a:lnSpc>
            </a:pPr>
            <a:r>
              <a:rPr sz="857" b="0" i="0">
                <a:solidFill>
                  <a:srgbClr val="E4E8EF"/>
                </a:solidFill>
                <a:latin typeface="Consolas"/>
              </a:rPr>
              <a:t>         the single-element list, the disconnected</a:t>
            </a:r>
          </a:p>
          <a:p>
            <a:pPr algn="l">
              <a:lnSpc>
                <a:spcPct val="105000"/>
              </a:lnSpc>
            </a:pPr>
            <a:r>
              <a:rPr sz="857" b="0" i="0">
                <a:solidFill>
                  <a:srgbClr val="E4E8EF"/>
                </a:solidFill>
                <a:latin typeface="Consolas"/>
              </a:rPr>
              <a:t>         graph. Does the argument still run?</a:t>
            </a:r>
          </a:p>
          <a:p>
            <a:pPr algn="l">
              <a:lnSpc>
                <a:spcPct val="105000"/>
              </a:lnSpc>
            </a:pPr>
            <a:r>
              <a:rPr sz="857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857" b="0" i="0">
                <a:solidFill>
                  <a:srgbClr val="E4E8EF"/>
                </a:solidFill>
                <a:latin typeface="Consolas"/>
              </a:rPr>
              <a:t>  5  EVERY QUANTIFIER: is it "for all x there is a</a:t>
            </a:r>
          </a:p>
          <a:p>
            <a:pPr algn="l">
              <a:lnSpc>
                <a:spcPct val="105000"/>
              </a:lnSpc>
            </a:pPr>
            <a:r>
              <a:rPr sz="857" b="0" i="0">
                <a:solidFill>
                  <a:srgbClr val="E4E8EF"/>
                </a:solidFill>
                <a:latin typeface="Consolas"/>
              </a:rPr>
              <a:t>         y" or "there is a y for all x"?</a:t>
            </a:r>
          </a:p>
          <a:p>
            <a:pPr algn="l">
              <a:lnSpc>
                <a:spcPct val="105000"/>
              </a:lnSpc>
            </a:pPr>
            <a:r>
              <a:rPr sz="857" b="0" i="0">
                <a:solidFill>
                  <a:srgbClr val="E4E8EF"/>
                </a:solidFill>
                <a:latin typeface="Consolas"/>
              </a:rPr>
              <a:t>         (Module 02 section 1)</a:t>
            </a:r>
          </a:p>
          <a:p>
            <a:pPr algn="l">
              <a:lnSpc>
                <a:spcPct val="105000"/>
              </a:lnSpc>
            </a:pPr>
            <a:r>
              <a:rPr sz="857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857" b="0" i="0">
                <a:solidFill>
                  <a:srgbClr val="E4E8EF"/>
                </a:solidFill>
                <a:latin typeface="Consolas"/>
              </a:rPr>
              <a:t>  6  AND: would somebody who wants to disbelieve</a:t>
            </a:r>
          </a:p>
          <a:p>
            <a:pPr algn="l">
              <a:lnSpc>
                <a:spcPct val="105000"/>
              </a:lnSpc>
            </a:pPr>
            <a:r>
              <a:rPr sz="857" b="0" i="0">
                <a:solidFill>
                  <a:srgbClr val="E4E8EF"/>
                </a:solidFill>
                <a:latin typeface="Consolas"/>
              </a:rPr>
              <a:t>         this accept every line?</a:t>
            </a:r>
          </a:p>
          <a:p>
            <a:pPr algn="l">
              <a:lnSpc>
                <a:spcPct val="105000"/>
              </a:lnSpc>
            </a:pPr>
            <a:r>
              <a:rPr sz="857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857" b="0" i="0">
                <a:solidFill>
                  <a:srgbClr val="E4E8EF"/>
                </a:solidFill>
                <a:latin typeface="Consolas"/>
              </a:rPr>
              <a:t>  RUN THIS ON A PROOF A WEEK OLD, NOT A FRESH ONE.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971031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1">
                <a:solidFill>
                  <a:srgbClr val="798290"/>
                </a:solidFill>
                <a:latin typeface="Calibri"/>
              </a:rPr>
              <a:t>Run the audit on a proof a week old, not a fresh one</a:t>
            </a:r>
            <a:r>
              <a:rPr sz="1250" b="0" i="1">
                <a:solidFill>
                  <a:srgbClr val="798290"/>
                </a:solidFill>
                <a:latin typeface="Calibri"/>
              </a:rPr>
              <a:t> — you cannot see the gaps in an argument you just finished constructing.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MATH 600 · Mathematics for Computer Science  —  Module 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Because you cannot see the gap in an argument you just built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WHY THE DELAY IS PART OF THE METHOD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While writing, you are holding the whole structure in mind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so the missing step is present in your head and absent from the page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and you read it as though it were there.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 week later you are the sceptical reader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(Module 01 §1) — which is the reader the proof was supposed to be written for.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reading it aloud catches a surprising amount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because speech will not let you skim the connectives.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Which is CSCE 671 §01's designer blindness, arriving in mathematics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you cannot experience your own work as unfamiliar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and every remedy is some way of manufacturing distance.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MATH 600 · Mathematics for Computer Science  —  Module 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Are you ready?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Honestly, which is the point of this module.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UC MATH 600 · Mathematics for Computer Science  —  Module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READINESS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The test, which you should take before Semester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Can you prove something by induction with all three of Module 03's requirements visible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, without looking anything up?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Can you prove 3n² + 7n = O(n²) by exhibiting c and n₀?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 (Module 09 §2).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Can you solve T(n) = 2T(n/2) + n and say which case of the master theorem it is?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 (Module 10).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Can you do the 99% test calculation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 by counting a million people? (Module 11 §3).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And can you compute an expected count by indicator variables?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 (Module 12 §2).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98932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1">
                <a:solidFill>
                  <a:srgbClr val="798290"/>
                </a:solidFill>
                <a:latin typeface="Calibri"/>
              </a:rPr>
              <a:t>Five questions.</a:t>
            </a:r>
            <a:r>
              <a:rPr sz="1050" b="0" i="1">
                <a:solidFill>
                  <a:srgbClr val="798290"/>
                </a:solidFill>
                <a:latin typeface="Calibri"/>
              </a:rPr>
              <a:t> If you can answer all five without reference, start Semester 1; if not, the gaps name the modules to revisit.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MATH 600 · Mathematics for Computer Science  —  Module 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The rule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Which is the program's, and starts here.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UC MATH 600 · Mathematics for Computer Science  —  Module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State what you proved, state what you assumed, and never claim more than you established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CLOSING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This is the rule every course in the program closes on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and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it begins here, in its original form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because a proof is where the distinction between established and believed is sharpest.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In CSCE 629 it becomes a stated complexity with its model named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;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in CSCE 628 a methods section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;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in CSCE 640 a problem, a baseline, and a machine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they are all this: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 claim is a claim about an argument, and the argument is the part somebody else can check.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Which is also why the proof portfolio keeps the wrong versions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 record of what you believed and why it failed is worth more than a record of what turned out to be true.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MATH 600 · Mathematics for Computer Science  —  Module 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85800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FFFFF"/>
                </a:solidFill>
                <a:latin typeface="Georgia"/>
              </a:rPr>
              <a:t>What to carry forward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481328"/>
            <a:ext cx="1371600" cy="320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104241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1.  A proof establishes the stated claim under the stated hypotheses, and nothing broader.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2.  A theorem you cited is a hypothesis you did not check.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3.  Run the audit on a proof a week old, not a fresh one.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4.  You cannot see the gap in an argument you just built, because the missing step is in your head and not on the page.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5.  Five questions decide readiness, and the ones you fail name the modules to revisit.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6.  A record of what you believed and why it failed is worth more than a record of what turned out to be true.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UC MATH 600 · Mathematics for Computer Science  —  Module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