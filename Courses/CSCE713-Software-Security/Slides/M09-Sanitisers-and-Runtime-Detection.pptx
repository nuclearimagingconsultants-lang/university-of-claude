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State the outcomes before the content. Every slide that follows exists to serve one of these.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incompatibility and the UBSan cost are the two practical facts.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868680"/>
            <a:ext cx="9601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UNIVERSITY OF CLAUDE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417320"/>
            <a:ext cx="9601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700" b="0" i="0">
                <a:solidFill>
                  <a:srgbClr val="A9B4C4"/>
                </a:solidFill>
                <a:latin typeface="Calibri"/>
              </a:rPr>
              <a:t>CSCE 713 — Software Security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14884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1F6B68"/>
                </a:solidFill>
                <a:latin typeface="Calibri"/>
              </a:rPr>
              <a:t>MODULE 09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06040"/>
            <a:ext cx="1024128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400" b="1" i="0">
                <a:solidFill>
                  <a:srgbClr val="FFFFFF"/>
                </a:solidFill>
                <a:latin typeface="Georgia"/>
              </a:rPr>
              <a:t>Sanitisers and Runtime Detection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4526280"/>
            <a:ext cx="2377440" cy="41148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800600"/>
            <a:ext cx="95097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 b="0" i="1">
                <a:solidFill>
                  <a:srgbClr val="9AA5B5"/>
                </a:solidFill>
                <a:latin typeface="Calibri"/>
              </a:rPr>
              <a:t>Making silent corruption loud.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6080760"/>
            <a:ext cx="100584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 i="0">
                <a:solidFill>
                  <a:srgbClr val="5E697A"/>
                </a:solidFill>
                <a:latin typeface="Calibri"/>
              </a:rPr>
              <a:t>CSCE 713 · Module 09 of 13 · original material, share freely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MODULE OUTCOMES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you will be able to do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each sanitiser detects and how.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the cost and the incompatibilities.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why sanitisers and fuzzing are a pair.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Explain what sanitisers cannot detect.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Deploy them in a real build and test pipeline.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AddressSanitizer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highest-value tool in this course.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AddressSanitizer makes out-of-bounds and use-after-free loud instead of silent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MECHANISM, WHICH EXPLAINS THE LIMITS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places poisoned 'redzones' around every allocation and checks every memory access against a shadow map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so an access into a redzone is reported immediately, with the allocation and the access both located.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quarantines freed memory rather than reusing it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a use-after-free hits poisoned memory instead of somebody else's live object.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why its limits are what they are: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 overflow that lands </a:t>
            </a:r>
            <a:r>
              <a:rPr sz="1600" b="1" i="1">
                <a:solidFill>
                  <a:srgbClr val="141924"/>
                </a:solidFill>
                <a:latin typeface="Georgia"/>
              </a:rPr>
              <a:t>inside another valid object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 is not detected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because that memory is legitimately mapped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so a large jump past the redzone can be missed.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But it detects the overwhelming majority of real defects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and it requires no source changes at all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which makes enabling it the single highest-value action available to a C or C++ project.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SANITISERS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The sanitisers, and what each costs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901952"/>
            <a:ext cx="256032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" y="19568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Sanitiser</a:t>
            </a:r>
          </a:p>
        </p:txBody>
      </p:sp>
      <p:sp>
        <p:nvSpPr>
          <p:cNvPr id="8" name="Rectangle 7"/>
          <p:cNvSpPr/>
          <p:nvPr/>
        </p:nvSpPr>
        <p:spPr>
          <a:xfrm>
            <a:off x="312724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3697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Detects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50608" y="1901952"/>
            <a:ext cx="4023360" cy="475488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60336" y="19568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 i="0">
                <a:solidFill>
                  <a:srgbClr val="FFFFFF"/>
                </a:solidFill>
                <a:latin typeface="Calibri"/>
              </a:rPr>
              <a:t>Cost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2377440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6" y="2414016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AddressSanitizer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12724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3697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OOB, use-after-free, double free, leaks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50608" y="2377440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260336" y="2414016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~2× time, ~3× memory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2852928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6656" y="2889504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UndefinedBehavior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12724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3697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Signed overflow, bad shifts, misalignment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50608" y="2852928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260336" y="2889504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 — often under 20%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66928" y="3328416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6" y="3364992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ThreadSanitizer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12724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23697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Data races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50608" y="3328416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260336" y="3364992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~5–15× time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3803904"/>
            <a:ext cx="256032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76656" y="3840480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MemorySanitizer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12724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23697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Uninitialised reads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50608" y="3803904"/>
            <a:ext cx="4023360" cy="475488"/>
          </a:xfrm>
          <a:prstGeom prst="rect">
            <a:avLst/>
          </a:prstGeom>
          <a:solidFill>
            <a:srgbClr val="F1EEE8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260336" y="3840480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~3×, and needs all deps instrumented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66928" y="4279392"/>
            <a:ext cx="256032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76656" y="4315968"/>
            <a:ext cx="2340863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HWASan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12724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23697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Like ASan, lower memory, on ARM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50608" y="4279392"/>
            <a:ext cx="4023360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260336" y="4315968"/>
            <a:ext cx="3803904" cy="47548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150" b="1" i="0">
                <a:solidFill>
                  <a:srgbClr val="3C4555"/>
                </a:solidFill>
                <a:latin typeface="Calibri"/>
              </a:rPr>
              <a:t>Low enough for production use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UBSan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The cheap one, which catches Module 03.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UBSAN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What it catches, and why it matters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Signed integer overflow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Module 03's canonical defect and is otherwise entirely silent.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Shifts by more than the width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is undefined and produces platform-dependent nonsense.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Misaligned and null pointer dereferences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invalid casts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which is Module 03 §4's type confusion.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Array bounds where the size is statically known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and invalid enum or boolean values.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it can be configured to trap rather than report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which turns undefined behaviour into a deterministic abort — a hardening measure rather than a debugging one (Module 12 §2).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The trap mode is the underused feature: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</a:t>
            </a:r>
            <a:r>
              <a:rPr sz="1050" b="1" i="1">
                <a:solidFill>
                  <a:srgbClr val="798290"/>
                </a:solidFill>
                <a:latin typeface="Calibri"/>
              </a:rPr>
              <a:t>-fsanitize-trap converts a class of exploitable undefined behaviour into a crash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, at almost no cost.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The pairing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Why these two techniques multiply.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Fuzzing generates the inputs and sanitisers supply the oracle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WHY NEITHER IS AS GOOD ALONE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Fuzzing without a sanitiser only detects defects that crash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and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one-byte out-of-bounds read does not crash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the input that triggered it is discarded as uninteresting.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 sanitiser without fuzzing only checks the inputs your tests happen to use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are the valid, expected ones, and are precisely not where the defects are.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Together, the fuzzer explores the input space and the sanitiser reports every violation it reaches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this pairing found most of the memory defects fixed in major open-source projects over the past decade.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recommendation is a single pipeline: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sanitiser-instrumented build, coverage-guided fuzzer, persistent corpus, crashes as regression tests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08 §4).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the same build serves your ordinary tests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Run the existing test suite under AddressSanitizer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which frequently finds defects on day one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in code that has passed its tests for years.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Because a test asserts the output and a sanitiser asserts the execution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— so a test can pass while the program corrupts memory.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Add UBSan to the same build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since the costs are compatible and the overlap is small.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Run a separate ThreadSanitizer build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 over the concurrency tests (Module 05 §1).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80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800" b="1" i="0">
                <a:solidFill>
                  <a:srgbClr val="3C4555"/>
                </a:solidFill>
                <a:latin typeface="Calibri"/>
              </a:rPr>
              <a:t>And treat any sanitiser report as a build failure</a:t>
            </a:r>
            <a:r>
              <a:rPr sz="1800" b="0" i="0">
                <a:solidFill>
                  <a:srgbClr val="3C4555"/>
                </a:solidFill>
                <a:latin typeface="Calibri"/>
              </a:rPr>
              <a:t>, not a warning — otherwise the reports accumulate.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'A test asserts the output; a sanitiser asserts the execution' is the sentence that persuades people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it explains why a green suite proves less than it appears 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42C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24028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 i="0">
                <a:solidFill>
                  <a:srgbClr val="C29B3F"/>
                </a:solidFill>
                <a:latin typeface="Calibri"/>
              </a:rPr>
              <a:t>PART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697480"/>
            <a:ext cx="100584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3600" b="1" i="0">
                <a:solidFill>
                  <a:srgbClr val="FFFFFF"/>
                </a:solidFill>
                <a:latin typeface="Georgia"/>
              </a:rPr>
              <a:t>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3977639"/>
            <a:ext cx="93268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500" b="0" i="0">
                <a:solidFill>
                  <a:srgbClr val="9AA5B5"/>
                </a:solidFill>
                <a:latin typeface="Calibri"/>
              </a:rPr>
              <a:t>Stated precisely.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 sanitiser only reports what the execution actually did</a:t>
            </a:r>
          </a:p>
        </p:txBody>
      </p:sp>
      <p:sp>
        <p:nvSpPr>
          <p:cNvPr id="4" name="Rectangle 3"/>
          <p:cNvSpPr/>
          <p:nvPr/>
        </p:nvSpPr>
        <p:spPr>
          <a:xfrm>
            <a:off x="566928" y="1316736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66928" y="1591056"/>
            <a:ext cx="11064240" cy="4261104"/>
          </a:xfrm>
          <a:prstGeom prst="rect">
            <a:avLst/>
          </a:prstGeom>
          <a:solidFill>
            <a:srgbClr val="FFFFFF"/>
          </a:solidFill>
          <a:ln w="12700">
            <a:solidFill>
              <a:srgbClr val="E2DE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591056"/>
            <a:ext cx="64008" cy="42611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1911095"/>
            <a:ext cx="10241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29B3F"/>
                </a:solidFill>
                <a:latin typeface="Calibri"/>
              </a:rPr>
              <a:t>THE HONEST BOUNDARY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368296"/>
            <a:ext cx="10058400" cy="316382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It is a dynamic technique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, so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it finds defects on the paths you executed and says nothing about the paths you did not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which is why coverage (Module 08 §3) is the thing to measure.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And it is not a verifier.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'The suite passes under ASan' means 'these inputs caused no detected violation'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— a statement about your inputs rather than about your program.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Which is the opposite failure mode to static analysis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07 §1):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a sanitiser has essentially no false positives and a large number of false negatives.</a:t>
            </a:r>
          </a:p>
          <a:p>
            <a:pPr algn="l">
              <a:lnSpc>
                <a:spcPct val="135000"/>
              </a:lnSpc>
              <a:spcAft>
                <a:spcPts val="1200"/>
              </a:spcAft>
            </a:pPr>
            <a:r>
              <a:rPr sz="1600" b="1" i="0">
                <a:solidFill>
                  <a:srgbClr val="141924"/>
                </a:solidFill>
                <a:latin typeface="Georgia"/>
              </a:rPr>
              <a:t>So the three techniques are complementary: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</a:t>
            </a:r>
            <a:r>
              <a:rPr sz="1600" b="1" i="0">
                <a:solidFill>
                  <a:srgbClr val="141924"/>
                </a:solidFill>
                <a:latin typeface="Georgia"/>
              </a:rPr>
              <a:t>static analysis reasons about all paths imprecisely, sanitisers observe some paths precisely, and review addresses what neither can</a:t>
            </a:r>
            <a:r>
              <a:rPr sz="1600" b="0" i="0">
                <a:solidFill>
                  <a:srgbClr val="141924"/>
                </a:solidFill>
                <a:latin typeface="Georgia"/>
              </a:rPr>
              <a:t> (Module 11).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6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475488"/>
            <a:ext cx="107899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0">
                <a:solidFill>
                  <a:srgbClr val="B03F2B"/>
                </a:solidFill>
                <a:latin typeface="Calibri"/>
              </a:rPr>
              <a:t>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786384"/>
            <a:ext cx="110642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</a:pPr>
            <a:r>
              <a:rPr sz="2700" b="1" i="0">
                <a:solidFill>
                  <a:srgbClr val="141924"/>
                </a:solidFill>
                <a:latin typeface="Georgia"/>
              </a:rPr>
              <a:t>And running detection in production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627632"/>
            <a:ext cx="1371600" cy="320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13232" y="1901952"/>
            <a:ext cx="10789920" cy="40416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The heavy sanitisers are too expensive for production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but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hardware-assisted ASan and pointer-tagging on ARM are cheap enough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to deploy on a fraction of traffic.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hardened allocator is the cheaper option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— randomised placement, guard pages, and freed-memory quarantine, at single-digit overhead.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UBSan's trap mode for the checks you can afford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which converts undefined behaviour into a clean abort.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And crash reporting that you actually read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because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a repeated crash in a parser is a defect report from a stranger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 (CSCE 701 Module 09).</a:t>
            </a:r>
          </a:p>
          <a:p>
            <a:pPr algn="l">
              <a:lnSpc>
                <a:spcPct val="100000"/>
              </a:lnSpc>
            </a:pPr>
            <a:r>
              <a:rPr sz="600" b="0" i="0">
                <a:solidFill>
                  <a:srgbClr val="3C4555"/>
                </a:solidFill>
                <a:latin typeface="Calibri"/>
              </a:rPr>
              <a:t> </a:t>
            </a:r>
          </a:p>
          <a:p>
            <a:pPr algn="l">
              <a:lnSpc>
                <a:spcPct val="122000"/>
              </a:lnSpc>
              <a:spcAft>
                <a:spcPts val="900"/>
              </a:spcAft>
            </a:pPr>
            <a:r>
              <a:rPr sz="1750" b="0" i="0">
                <a:solidFill>
                  <a:srgbClr val="3C4555"/>
                </a:solidFill>
                <a:latin typeface="Calibri"/>
              </a:rPr>
              <a:t>▪  </a:t>
            </a:r>
            <a:r>
              <a:rPr sz="1750" b="1" i="0">
                <a:solidFill>
                  <a:srgbClr val="3C4555"/>
                </a:solidFill>
                <a:latin typeface="Calibri"/>
              </a:rPr>
              <a:t>Which is the detection-over-prevention argument</a:t>
            </a:r>
            <a:r>
              <a:rPr sz="1750" b="0" i="0">
                <a:solidFill>
                  <a:srgbClr val="3C4555"/>
                </a:solidFill>
                <a:latin typeface="Calibri"/>
              </a:rPr>
              <a:t>, applied to memory safety.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5989320"/>
            <a:ext cx="10789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050" b="1" i="1">
                <a:solidFill>
                  <a:srgbClr val="798290"/>
                </a:solidFill>
                <a:latin typeface="Calibri"/>
              </a:rPr>
              <a:t>Reading your crash reports is free detection</a:t>
            </a:r>
            <a:r>
              <a:rPr sz="1050" b="0" i="1">
                <a:solidFill>
                  <a:srgbClr val="798290"/>
                </a:solidFill>
                <a:latin typeface="Calibri"/>
              </a:rPr>
              <a:t> — and a cluster of crashes at one parser offset is frequently somebody probing.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798290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9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B03F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85800"/>
            <a:ext cx="1051560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2900" b="1" i="0">
                <a:solidFill>
                  <a:srgbClr val="FFFFFF"/>
                </a:solidFill>
                <a:latin typeface="Georgia"/>
              </a:rPr>
              <a:t>What to carry forward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481328"/>
            <a:ext cx="1371600" cy="32004"/>
          </a:xfrm>
          <a:prstGeom prst="rect">
            <a:avLst/>
          </a:prstGeom>
          <a:solidFill>
            <a:srgbClr val="C29B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104241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1.  AddressSanitizer poisons redzones and quarantines freed memory, which is why an overflow landing inside another valid object is missed.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2.  ASan and ThreadSanitizer are incompatible and need separate builds; UBSan is cheap enough that parts of it can ship.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3.  UBSan's trap mode converts exploitable undefined behaviour into a deterministic abort at almost no cost.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4.  Fuzzing supplies the inputs and sanitisers supply the oracle — neither is nearly as effective alone.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5.  A test asserts the output and a sanitiser asserts the execution, which is why a green suite proves less than it appears to.</a:t>
            </a:r>
          </a:p>
          <a:p>
            <a:pPr algn="l">
              <a:lnSpc>
                <a:spcPct val="125000"/>
              </a:lnSpc>
              <a:spcAft>
                <a:spcPts val="1300"/>
              </a:spcAft>
            </a:pPr>
            <a:r>
              <a:rPr sz="1700" b="0" i="0">
                <a:solidFill>
                  <a:srgbClr val="D6DCE6"/>
                </a:solidFill>
                <a:latin typeface="Calibri"/>
              </a:rPr>
              <a:t>6.  Sanitisers have almost no false positives and many false negatives, which is the opposite profile to static analysis.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419088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CSCE 713 · Software Security  —  Module 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28655" y="6419088"/>
            <a:ext cx="914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 i="0">
                <a:solidFill>
                  <a:srgbClr val="6E788A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