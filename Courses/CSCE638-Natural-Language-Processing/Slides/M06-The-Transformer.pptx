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State the outcomes before the content. Every slide that follows exists to serve one of these.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dictionary framing is what makes Q, K, V stop being arbitrary.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mask point collapses a lot of apparent complexity.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868680"/>
            <a:ext cx="9601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UNIVERSITY OF CLAUDE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417320"/>
            <a:ext cx="9601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A9B4C4"/>
                </a:solidFill>
                <a:latin typeface="Calibri"/>
              </a:rPr>
              <a:t>CSCE 638 — Natural Language Processing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148840"/>
            <a:ext cx="100584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F6B68"/>
                </a:solidFill>
                <a:latin typeface="Calibri"/>
              </a:rPr>
              <a:t>MODULE 06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606040"/>
            <a:ext cx="1024128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400" b="1" i="0">
                <a:solidFill>
                  <a:srgbClr val="FFFFFF"/>
                </a:solidFill>
                <a:latin typeface="Georgia"/>
              </a:rPr>
              <a:t>The Transformer</a:t>
            </a:r>
          </a:p>
        </p:txBody>
      </p:sp>
      <p:sp>
        <p:nvSpPr>
          <p:cNvPr id="8" name="Rectangle 7"/>
          <p:cNvSpPr/>
          <p:nvPr/>
        </p:nvSpPr>
        <p:spPr>
          <a:xfrm>
            <a:off x="1005840" y="4526280"/>
            <a:ext cx="2377440" cy="41148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800600"/>
            <a:ext cx="95097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 i="1">
                <a:solidFill>
                  <a:srgbClr val="9AA5B5"/>
                </a:solidFill>
                <a:latin typeface="Calibri"/>
              </a:rPr>
              <a:t>Attention, completely.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608076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E697A"/>
                </a:solidFill>
                <a:latin typeface="Calibri"/>
              </a:rPr>
              <a:t>CSCE 638 · Module 06 of 13 · original material, share freely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MODULE OUTCOMES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What you will be able to do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attention as a differentiable lookup.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multi-head attention and what heads do.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positional encoding and why it is needed.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the full block and the training objectives.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Implement the architecture.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638 · Natural Language Processing  —  Module 06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Attention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A soft dictionary lookup.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638 · Natural Language Processing  —  Module 06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ATTENTION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The operation, in one line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110642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66928" y="1901952"/>
            <a:ext cx="45720" cy="658368"/>
          </a:xfrm>
          <a:prstGeom prst="rect">
            <a:avLst/>
          </a:prstGeom>
          <a:solidFill>
            <a:srgbClr val="1F6B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993392"/>
            <a:ext cx="105156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141924"/>
                </a:solidFill>
                <a:latin typeface="Consolas"/>
              </a:rPr>
              <a:t>Attention(Q, K, V) = softmax(QKᵀ / √d) V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578608"/>
            <a:ext cx="10424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1">
                <a:solidFill>
                  <a:srgbClr val="798290"/>
                </a:solidFill>
                <a:latin typeface="Calibri"/>
              </a:rPr>
              <a:t>Each query is compared against every key; the softmax weights become a weighted average of the values.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3127248"/>
            <a:ext cx="110642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66928" y="3127248"/>
            <a:ext cx="45720" cy="658368"/>
          </a:xfrm>
          <a:prstGeom prst="rect">
            <a:avLst/>
          </a:prstGeom>
          <a:solidFill>
            <a:srgbClr val="1F6B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3218688"/>
            <a:ext cx="105156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141924"/>
                </a:solidFill>
                <a:latin typeface="Consolas"/>
              </a:rPr>
              <a:t>the √d scaling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803904"/>
            <a:ext cx="10424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1">
                <a:solidFill>
                  <a:srgbClr val="798290"/>
                </a:solidFill>
                <a:latin typeface="Calibri"/>
              </a:rPr>
              <a:t>Without it, large d makes the dot products large, the softmax saturates, and the gradient vanishes.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" y="4352544"/>
            <a:ext cx="110642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66928" y="4352544"/>
            <a:ext cx="45720" cy="658368"/>
          </a:xfrm>
          <a:prstGeom prst="rect">
            <a:avLst/>
          </a:prstGeom>
          <a:solidFill>
            <a:srgbClr val="1F6B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4443983"/>
            <a:ext cx="105156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141924"/>
                </a:solidFill>
                <a:latin typeface="Consolas"/>
              </a:rPr>
              <a:t>path length between any two positions: O(1)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5029200"/>
            <a:ext cx="10424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1">
                <a:solidFill>
                  <a:srgbClr val="798290"/>
                </a:solidFill>
                <a:latin typeface="Calibri"/>
              </a:rPr>
              <a:t>Which is Module 05 §3's limitation removed, and the quality half of the argument.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8" y="5669279"/>
            <a:ext cx="10789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1" i="1">
                <a:solidFill>
                  <a:srgbClr val="798290"/>
                </a:solidFill>
                <a:latin typeface="Calibri"/>
              </a:rPr>
              <a:t>Read it as a lookup:</a:t>
            </a:r>
            <a:r>
              <a:rPr sz="1250" b="0" i="1">
                <a:solidFill>
                  <a:srgbClr val="798290"/>
                </a:solidFill>
                <a:latin typeface="Calibri"/>
              </a:rPr>
              <a:t> the query asks a question, the keys advertise what each position offers, and the values are what gets returned.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638 · Natural Language Processing  —  Module 06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Attention is a differentiable dictionary lookup, which is why Q, K, and V are three different things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THE FRAMING THAT MAKES IT INTUITIVE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In a hard lookup you have a key and get one value.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Here the query is compared to every key, producing a similarity distribution, and you get a weighted average of all the values.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So the three projections have distinct jobs: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the key advertises what information a position holds, the query expresses what the current position is looking for, and the value is what is actually transmitted.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Which is why they are separate matrices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what makes a position worth attending to is not the same as what you want from it once you do.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And self-attention is the case where all three come from the same sequence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every position asks every other position a question, which is what makes it a general sequence operation.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638 · Natural Language Processing  —  Module 06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Multiple heads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And what they end up doing.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638 · Natural Language Processing  —  Module 06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HEADS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Why more than one, and what is observed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One attention distribution can only express one relation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 — and a position may need its syntactic head, its coreferent, and its topic simultaneously.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So run several in parallel on lower-dimensional projections, and concatenate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 — which costs about the same as one full-dimensional head.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And the observed specialisation is real but loose: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some heads attend to the previous token, some to syntactic dependents, some to matching brackets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 — and many are not interpretable at all.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With substantial redundancy.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A large fraction of heads can be pruned with little loss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, which is a caution against over-reading any single head.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So treat head interpretations as suggestive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, not as explanations (Module 13 §3).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5989320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1">
                <a:solidFill>
                  <a:srgbClr val="798290"/>
                </a:solidFill>
                <a:latin typeface="Calibri"/>
              </a:rPr>
              <a:t>The prunability result is the honest caveat:</a:t>
            </a:r>
            <a:r>
              <a:rPr sz="1050" b="0" i="1">
                <a:solidFill>
                  <a:srgbClr val="798290"/>
                </a:solidFill>
                <a:latin typeface="Calibri"/>
              </a:rPr>
              <a:t> if most heads can be removed, the story that each one performs a specific linguistic function cannot be the whole picture.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638 · Natural Language Processing  —  Module 06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Position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Which attention does not know about.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638 · Natural Language Processing  —  Module 06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Attention is permutation-invariant, so position must be supplied explicitly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AN EASY THING TO MISS AND A FATAL ONE TO OMIT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The operation treats the input as a </a:t>
            </a:r>
            <a:r>
              <a:rPr sz="1600" b="1" i="1">
                <a:solidFill>
                  <a:srgbClr val="141924"/>
                </a:solidFill>
                <a:latin typeface="Georgia"/>
              </a:rPr>
              <a:t>set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shuffle the positions and the output shuffles identically.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Which makes 'dog bites man' and 'man bites dog' indistinguishable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without extra information.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So position is injected: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learned embeddings per index, fixed sinusoids, or a relative scheme that modifies the attention scores by distance.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And the choice determines how the model handles longer inputs than it was trained on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absolute learned positions do not extrapolate at all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which is why relative and rotary schemes displaced them.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Which is the practical consequence worth remembering: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a model's usable context length is a property of its positional scheme as much as of its training data.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638 · Natural Language Processing  —  Module 06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THE BLOCK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The full architecture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11064240" cy="3904487"/>
          </a:xfrm>
          <a:prstGeom prst="rect">
            <a:avLst/>
          </a:prstGeom>
          <a:solidFill>
            <a:srgbClr val="1B21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0" y="2011680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C29B3F"/>
                </a:solidFill>
                <a:latin typeface="Consolas"/>
              </a:rPr>
              <a:t>text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084832"/>
            <a:ext cx="10515600" cy="3630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893" b="0" i="0">
                <a:solidFill>
                  <a:srgbClr val="E4E8EF"/>
                </a:solidFill>
                <a:latin typeface="Consolas"/>
              </a:rPr>
              <a:t>  ONE BLOCK</a:t>
            </a:r>
          </a:p>
          <a:p>
            <a:pPr algn="l">
              <a:lnSpc>
                <a:spcPct val="105000"/>
              </a:lnSpc>
            </a:pPr>
            <a:r>
              <a:rPr sz="893" b="0" i="0">
                <a:solidFill>
                  <a:srgbClr val="E4E8EF"/>
                </a:solidFill>
                <a:latin typeface="Consolas"/>
              </a:rPr>
              <a:t>      x = x + MultiHeadAttention(LayerNorm(x))</a:t>
            </a:r>
          </a:p>
          <a:p>
            <a:pPr algn="l">
              <a:lnSpc>
                <a:spcPct val="105000"/>
              </a:lnSpc>
            </a:pPr>
            <a:r>
              <a:rPr sz="893" b="0" i="0">
                <a:solidFill>
                  <a:srgbClr val="E4E8EF"/>
                </a:solidFill>
                <a:latin typeface="Consolas"/>
              </a:rPr>
              <a:t>      x = x + FeedForward(LayerNorm(x))</a:t>
            </a:r>
          </a:p>
          <a:p>
            <a:pPr algn="l">
              <a:lnSpc>
                <a:spcPct val="105000"/>
              </a:lnSpc>
            </a:pPr>
            <a:r>
              <a:rPr sz="893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893" b="0" i="0">
                <a:solidFill>
                  <a:srgbClr val="E4E8EF"/>
                </a:solidFill>
                <a:latin typeface="Consolas"/>
              </a:rPr>
              <a:t>  AND THAT IS ALL. Stack it N times.</a:t>
            </a:r>
          </a:p>
          <a:p>
            <a:pPr algn="l">
              <a:lnSpc>
                <a:spcPct val="105000"/>
              </a:lnSpc>
            </a:pPr>
            <a:r>
              <a:rPr sz="893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893" b="0" i="0">
                <a:solidFill>
                  <a:srgbClr val="E4E8EF"/>
                </a:solidFill>
                <a:latin typeface="Consolas"/>
              </a:rPr>
              <a:t>  WHY EACH PIECE</a:t>
            </a:r>
          </a:p>
          <a:p>
            <a:pPr algn="l">
              <a:lnSpc>
                <a:spcPct val="105000"/>
              </a:lnSpc>
            </a:pPr>
            <a:r>
              <a:rPr sz="893" b="0" i="0">
                <a:solidFill>
                  <a:srgbClr val="E4E8EF"/>
                </a:solidFill>
                <a:latin typeface="Consolas"/>
              </a:rPr>
              <a:t>      residual    the gradient path (CSCE 636 M04)</a:t>
            </a:r>
          </a:p>
          <a:p>
            <a:pPr algn="l">
              <a:lnSpc>
                <a:spcPct val="105000"/>
              </a:lnSpc>
            </a:pPr>
            <a:r>
              <a:rPr sz="893" b="0" i="0">
                <a:solidFill>
                  <a:srgbClr val="E4E8EF"/>
                </a:solidFill>
                <a:latin typeface="Consolas"/>
              </a:rPr>
              <a:t>      layer norm  stabilises the scale; the pre-norm</a:t>
            </a:r>
          </a:p>
          <a:p>
            <a:pPr algn="l">
              <a:lnSpc>
                <a:spcPct val="105000"/>
              </a:lnSpc>
            </a:pPr>
            <a:r>
              <a:rPr sz="893" b="0" i="0">
                <a:solidFill>
                  <a:srgbClr val="E4E8EF"/>
                </a:solidFill>
                <a:latin typeface="Consolas"/>
              </a:rPr>
              <a:t>                  placement shown trains more</a:t>
            </a:r>
          </a:p>
          <a:p>
            <a:pPr algn="l">
              <a:lnSpc>
                <a:spcPct val="105000"/>
              </a:lnSpc>
            </a:pPr>
            <a:r>
              <a:rPr sz="893" b="0" i="0">
                <a:solidFill>
                  <a:srgbClr val="E4E8EF"/>
                </a:solidFill>
                <a:latin typeface="Consolas"/>
              </a:rPr>
              <a:t>                  reliably than post-norm</a:t>
            </a:r>
          </a:p>
          <a:p>
            <a:pPr algn="l">
              <a:lnSpc>
                <a:spcPct val="105000"/>
              </a:lnSpc>
            </a:pPr>
            <a:r>
              <a:rPr sz="893" b="0" i="0">
                <a:solidFill>
                  <a:srgbClr val="E4E8EF"/>
                </a:solidFill>
                <a:latin typeface="Consolas"/>
              </a:rPr>
              <a:t>      feedforward per-position capacity; attention</a:t>
            </a:r>
          </a:p>
          <a:p>
            <a:pPr algn="l">
              <a:lnSpc>
                <a:spcPct val="105000"/>
              </a:lnSpc>
            </a:pPr>
            <a:r>
              <a:rPr sz="893" b="0" i="0">
                <a:solidFill>
                  <a:srgbClr val="E4E8EF"/>
                </a:solidFill>
                <a:latin typeface="Consolas"/>
              </a:rPr>
              <a:t>                  mixes across positions and this</a:t>
            </a:r>
          </a:p>
          <a:p>
            <a:pPr algn="l">
              <a:lnSpc>
                <a:spcPct val="105000"/>
              </a:lnSpc>
            </a:pPr>
            <a:r>
              <a:rPr sz="893" b="0" i="0">
                <a:solidFill>
                  <a:srgbClr val="E4E8EF"/>
                </a:solidFill>
                <a:latin typeface="Consolas"/>
              </a:rPr>
              <a:t>                  processes within one. It holds most</a:t>
            </a:r>
          </a:p>
          <a:p>
            <a:pPr algn="l">
              <a:lnSpc>
                <a:spcPct val="105000"/>
              </a:lnSpc>
            </a:pPr>
            <a:r>
              <a:rPr sz="893" b="0" i="0">
                <a:solidFill>
                  <a:srgbClr val="E4E8EF"/>
                </a:solidFill>
                <a:latin typeface="Consolas"/>
              </a:rPr>
              <a:t>                  of the parameters.</a:t>
            </a:r>
          </a:p>
          <a:p>
            <a:pPr algn="l">
              <a:lnSpc>
                <a:spcPct val="105000"/>
              </a:lnSpc>
            </a:pPr>
            <a:r>
              <a:rPr sz="893" b="0" i="0">
                <a:solidFill>
                  <a:srgbClr val="E4E8EF"/>
                </a:solidFill>
                <a:latin typeface="Consolas"/>
              </a:rPr>
              <a:t>      stacking    each layer attends over the previous</a:t>
            </a:r>
          </a:p>
          <a:p>
            <a:pPr algn="l">
              <a:lnSpc>
                <a:spcPct val="105000"/>
              </a:lnSpc>
            </a:pPr>
            <a:r>
              <a:rPr sz="893" b="0" i="0">
                <a:solidFill>
                  <a:srgbClr val="E4E8EF"/>
                </a:solidFill>
                <a:latin typeface="Consolas"/>
              </a:rPr>
              <a:t>                  layer's contextual representations,</a:t>
            </a:r>
          </a:p>
          <a:p>
            <a:pPr algn="l">
              <a:lnSpc>
                <a:spcPct val="105000"/>
              </a:lnSpc>
            </a:pPr>
            <a:r>
              <a:rPr sz="893" b="0" i="0">
                <a:solidFill>
                  <a:srgbClr val="E4E8EF"/>
                </a:solidFill>
                <a:latin typeface="Consolas"/>
              </a:rPr>
              <a:t>                  so the effective receptive</a:t>
            </a:r>
          </a:p>
          <a:p>
            <a:pPr algn="l">
              <a:lnSpc>
                <a:spcPct val="105000"/>
              </a:lnSpc>
            </a:pPr>
            <a:r>
              <a:rPr sz="893" b="0" i="0">
                <a:solidFill>
                  <a:srgbClr val="E4E8EF"/>
                </a:solidFill>
                <a:latin typeface="Consolas"/>
              </a:rPr>
              <a:t>                  structure deepens</a:t>
            </a:r>
          </a:p>
          <a:p>
            <a:pPr algn="l">
              <a:lnSpc>
                <a:spcPct val="105000"/>
              </a:lnSpc>
            </a:pPr>
            <a:r>
              <a:rPr sz="893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893" b="0" i="0">
                <a:solidFill>
                  <a:srgbClr val="E4E8EF"/>
                </a:solidFill>
                <a:latin typeface="Consolas"/>
              </a:rPr>
              <a:t>  THE MASK IS WHAT DISTINGUISHES THE VARIANTS</a:t>
            </a:r>
          </a:p>
          <a:p>
            <a:pPr algn="l">
              <a:lnSpc>
                <a:spcPct val="105000"/>
              </a:lnSpc>
            </a:pPr>
            <a:r>
              <a:rPr sz="893" b="0" i="0">
                <a:solidFill>
                  <a:srgbClr val="E4E8EF"/>
                </a:solidFill>
                <a:latin typeface="Consolas"/>
              </a:rPr>
              <a:t>      causal mask     -&gt; decoder; each position sees</a:t>
            </a:r>
          </a:p>
          <a:p>
            <a:pPr algn="l">
              <a:lnSpc>
                <a:spcPct val="105000"/>
              </a:lnSpc>
            </a:pPr>
            <a:r>
              <a:rPr sz="893" b="0" i="0">
                <a:solidFill>
                  <a:srgbClr val="E4E8EF"/>
                </a:solidFill>
                <a:latin typeface="Consolas"/>
              </a:rPr>
              <a:t>                         only the past</a:t>
            </a:r>
          </a:p>
          <a:p>
            <a:pPr algn="l">
              <a:lnSpc>
                <a:spcPct val="105000"/>
              </a:lnSpc>
            </a:pPr>
            <a:r>
              <a:rPr sz="893" b="0" i="0">
                <a:solidFill>
                  <a:srgbClr val="E4E8EF"/>
                </a:solidFill>
                <a:latin typeface="Consolas"/>
              </a:rPr>
              <a:t>      no mask         -&gt; encoder; bidirectional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5971031"/>
            <a:ext cx="10789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1" i="1">
                <a:solidFill>
                  <a:srgbClr val="798290"/>
                </a:solidFill>
                <a:latin typeface="Calibri"/>
              </a:rPr>
              <a:t>The mask is the only structural difference between an encoder and a decoder</a:t>
            </a:r>
            <a:r>
              <a:rPr sz="1250" b="0" i="1">
                <a:solidFill>
                  <a:srgbClr val="798290"/>
                </a:solidFill>
                <a:latin typeface="Calibri"/>
              </a:rPr>
              <a:t> — which is worth knowing, because the families are usually described as though they were different architectures.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638 · Natural Language Processing  —  Module 06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Why it won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Two reasons, and the second is bigger.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638 · Natural Language Processing  —  Module 06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REASONS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The honest accounting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6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600" b="1" i="0">
                <a:solidFill>
                  <a:srgbClr val="3C4555"/>
                </a:solidFill>
                <a:latin typeface="Calibri"/>
              </a:rPr>
              <a:t>Constant path length</a:t>
            </a:r>
            <a:r>
              <a:rPr sz="1600" b="0" i="0">
                <a:solidFill>
                  <a:srgbClr val="3C4555"/>
                </a:solidFill>
                <a:latin typeface="Calibri"/>
              </a:rPr>
              <a:t>, so long-range dependencies are learnable (Module 05 §3) — which is the quality argument.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6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600" b="1" i="0">
                <a:solidFill>
                  <a:srgbClr val="3C4555"/>
                </a:solidFill>
                <a:latin typeface="Calibri"/>
              </a:rPr>
              <a:t>And full parallelism across positions during training</a:t>
            </a:r>
            <a:r>
              <a:rPr sz="1600" b="0" i="0">
                <a:solidFill>
                  <a:srgbClr val="3C4555"/>
                </a:solidFill>
                <a:latin typeface="Calibri"/>
              </a:rPr>
              <a:t>, which is </a:t>
            </a:r>
            <a:r>
              <a:rPr sz="1600" b="1" i="0">
                <a:solidFill>
                  <a:srgbClr val="3C4555"/>
                </a:solidFill>
                <a:latin typeface="Calibri"/>
              </a:rPr>
              <a:t>the argument that actually mattered</a:t>
            </a:r>
            <a:r>
              <a:rPr sz="1600" b="0" i="0">
                <a:solidFill>
                  <a:srgbClr val="3C4555"/>
                </a:solidFill>
                <a:latin typeface="Calibri"/>
              </a:rPr>
              <a:t>: it made training on far more data with far more parameters affordable.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6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600" b="1" i="0">
                <a:solidFill>
                  <a:srgbClr val="3C4555"/>
                </a:solidFill>
                <a:latin typeface="Calibri"/>
              </a:rPr>
              <a:t>Because the scaling result is what produced the capability</a:t>
            </a:r>
            <a:r>
              <a:rPr sz="1600" b="0" i="0">
                <a:solidFill>
                  <a:srgbClr val="3C4555"/>
                </a:solidFill>
                <a:latin typeface="Calibri"/>
              </a:rPr>
              <a:t> (Module 07) — </a:t>
            </a:r>
            <a:r>
              <a:rPr sz="1600" b="1" i="0">
                <a:solidFill>
                  <a:srgbClr val="3C4555"/>
                </a:solidFill>
                <a:latin typeface="Calibri"/>
              </a:rPr>
              <a:t>and the architecture's contribution was making the scale reachable.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6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600" b="1" i="0">
                <a:solidFill>
                  <a:srgbClr val="3C4555"/>
                </a:solidFill>
                <a:latin typeface="Calibri"/>
              </a:rPr>
              <a:t>The cost is quadratic attention</a:t>
            </a:r>
            <a:r>
              <a:rPr sz="1600" b="0" i="0">
                <a:solidFill>
                  <a:srgbClr val="3C4555"/>
                </a:solidFill>
                <a:latin typeface="Calibri"/>
              </a:rPr>
              <a:t> in sequence length, in both time and memory — which is the active research constraint.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6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600" b="1" i="0">
                <a:solidFill>
                  <a:srgbClr val="3C4555"/>
                </a:solidFill>
                <a:latin typeface="Calibri"/>
              </a:rPr>
              <a:t>And a large appetite for data</a:t>
            </a:r>
            <a:r>
              <a:rPr sz="1600" b="0" i="0">
                <a:solidFill>
                  <a:srgbClr val="3C4555"/>
                </a:solidFill>
                <a:latin typeface="Calibri"/>
              </a:rPr>
              <a:t>, since it has fewer built-in assumptions than a convolution or a recurrence does.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5989320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1">
                <a:solidFill>
                  <a:srgbClr val="798290"/>
                </a:solidFill>
                <a:latin typeface="Calibri"/>
              </a:rPr>
              <a:t>Fewer built-in assumptions is a cost at small scale and an advantage at large scale</a:t>
            </a:r>
            <a:r>
              <a:rPr sz="1050" b="0" i="1">
                <a:solidFill>
                  <a:srgbClr val="798290"/>
                </a:solidFill>
                <a:latin typeface="Calibri"/>
              </a:rPr>
              <a:t> — which is the general shape of the inductive bias trade (CSCE 633 §03).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638 · Natural Language Processing  —  Module 06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And the implementation instruction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CLOSING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Implement it once, from the equations, without copying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single-head attention, then multi-head, then the block, then the stack.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Because the architecture is genuinely simple and reads as complicated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and the gap closes entirely once you have written the four pieces yourself.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Check your implementation against a reference output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since a transposed matrix or a misplaced mask produces something that trains badly rather than failing loudly.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Which is CSCE 711 Project 1's test-vector discipline, in a different subject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a construction that matches known outputs is correct in a way that one which merely runs is not.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638 · Natural Language Processing  —  Module 06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85800"/>
            <a:ext cx="105156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 i="0">
                <a:solidFill>
                  <a:srgbClr val="FFFFFF"/>
                </a:solidFill>
                <a:latin typeface="Georgia"/>
              </a:rPr>
              <a:t>What to carry forward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481328"/>
            <a:ext cx="1371600" cy="320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828800"/>
            <a:ext cx="1042416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1.  Attention is a differentiable dictionary lookup, which is why query, key, and value are three separate projections with distinct jobs.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2.  The square-root scaling exists because large dimensions would saturate the softmax and kill the gradient.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3.  Head specialisation is real and loose, and a large fraction of heads can be pruned — so treat head interpretations as suggestive.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4.  Attention is permutation-invariant, so a model's usable context length is a property of its positional scheme as much as its training data.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5.  The mask is the only structural difference between an encoder and a decoder.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6.  Parallelism rather than path length is the reason attention won, because it made the scale reachable.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638 · Natural Language Processing  —  Module 06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