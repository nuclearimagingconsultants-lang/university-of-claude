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outcomes before the content. Every slide that follows exists to serve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module in this course slots into one column or the other. Worth saying so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fsync row is the one that costs companies money. It gets its own module (09).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chooses the entry point' property is the whole security argument and is worth stating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consistently underrate step 5. Most kernel CVEs are a missing check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synchronous/asynchronous distinction matters: an interrupt can arrive anywhere, which is why kernels disable them in critical sections.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868680"/>
            <a:ext cx="96012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UNIVERSITY OF CLAUDE</a:t>
            </a:r>
          </a:p>
        </p:txBody>
      </p:sp>
      <p:sp>
        <p:nvSpPr>
          <p:cNvPr id="5" name="TextBox 4"/>
          <p:cNvSpPr txBox="1"/>
          <p:nvPr/>
        </p:nvSpPr>
        <p:spPr>
          <a:xfrm>
            <a:off x="1005840" y="1417320"/>
            <a:ext cx="9601200" cy="457200"/>
          </a:xfrm>
          <a:prstGeom prst="rect">
            <a:avLst/>
          </a:prstGeom>
          <a:noFill/>
        </p:spPr>
        <p:txBody>
          <a:bodyPr wrap="square" anchor="t" lIns="0" rIns="0" tIns="0" bIns="0">
            <a:spAutoFit/>
          </a:bodyPr>
          <a:lstStyle/>
          <a:p>
            <a:pPr algn="l">
              <a:lnSpc>
                <a:spcPct val="100000"/>
              </a:lnSpc>
            </a:pPr>
            <a:r>
              <a:rPr sz="1700" b="0" i="0">
                <a:solidFill>
                  <a:srgbClr val="A9B4C4"/>
                </a:solidFill>
                <a:latin typeface="Calibri"/>
              </a:rPr>
              <a:t>CSCE 611 — Operating Systems</a:t>
            </a:r>
          </a:p>
        </p:txBody>
      </p:sp>
      <p:sp>
        <p:nvSpPr>
          <p:cNvPr id="6" name="TextBox 5"/>
          <p:cNvSpPr txBox="1"/>
          <p:nvPr/>
        </p:nvSpPr>
        <p:spPr>
          <a:xfrm>
            <a:off x="1005840" y="2148840"/>
            <a:ext cx="10058400" cy="411480"/>
          </a:xfrm>
          <a:prstGeom prst="rect">
            <a:avLst/>
          </a:prstGeom>
          <a:noFill/>
        </p:spPr>
        <p:txBody>
          <a:bodyPr wrap="square" anchor="t" lIns="0" rIns="0" tIns="0" bIns="0">
            <a:spAutoFit/>
          </a:bodyPr>
          <a:lstStyle/>
          <a:p>
            <a:pPr algn="l">
              <a:lnSpc>
                <a:spcPct val="100000"/>
              </a:lnSpc>
            </a:pPr>
            <a:r>
              <a:rPr sz="1300" b="1" i="0">
                <a:solidFill>
                  <a:srgbClr val="1F6B68"/>
                </a:solidFill>
                <a:latin typeface="Calibri"/>
              </a:rPr>
              <a:t>MODULE 01</a:t>
            </a:r>
          </a:p>
        </p:txBody>
      </p:sp>
      <p:sp>
        <p:nvSpPr>
          <p:cNvPr id="7" name="TextBox 6"/>
          <p:cNvSpPr txBox="1"/>
          <p:nvPr/>
        </p:nvSpPr>
        <p:spPr>
          <a:xfrm>
            <a:off x="1005840" y="2606040"/>
            <a:ext cx="10241280" cy="1737360"/>
          </a:xfrm>
          <a:prstGeom prst="rect">
            <a:avLst/>
          </a:prstGeom>
          <a:noFill/>
        </p:spPr>
        <p:txBody>
          <a:bodyPr wrap="square" anchor="t" lIns="0" rIns="0" tIns="0" bIns="0">
            <a:spAutoFit/>
          </a:bodyPr>
          <a:lstStyle/>
          <a:p>
            <a:pPr algn="l">
              <a:lnSpc>
                <a:spcPct val="105000"/>
              </a:lnSpc>
            </a:pPr>
            <a:r>
              <a:rPr sz="4400" b="1" i="0">
                <a:solidFill>
                  <a:srgbClr val="FFFFFF"/>
                </a:solidFill>
                <a:latin typeface="Georgia"/>
              </a:rPr>
              <a:t>What an Operating System Is For</a:t>
            </a:r>
          </a:p>
        </p:txBody>
      </p:sp>
      <p:sp>
        <p:nvSpPr>
          <p:cNvPr id="8" name="Rectangle 7"/>
          <p:cNvSpPr/>
          <p:nvPr/>
        </p:nvSpPr>
        <p:spPr>
          <a:xfrm>
            <a:off x="1005840" y="4526280"/>
            <a:ext cx="2377440" cy="41148"/>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9509760" cy="1005840"/>
          </a:xfrm>
          <a:prstGeom prst="rect">
            <a:avLst/>
          </a:prstGeom>
          <a:noFill/>
        </p:spPr>
        <p:txBody>
          <a:bodyPr wrap="square" anchor="t" lIns="0" rIns="0" tIns="0" bIns="0">
            <a:spAutoFit/>
          </a:bodyPr>
          <a:lstStyle/>
          <a:p>
            <a:pPr algn="l">
              <a:lnSpc>
                <a:spcPct val="125000"/>
              </a:lnSpc>
            </a:pPr>
            <a:r>
              <a:rPr sz="1600" b="0" i="1">
                <a:solidFill>
                  <a:srgbClr val="9AA5B5"/>
                </a:solidFill>
                <a:latin typeface="Calibri"/>
              </a:rPr>
              <a:t>Abstraction, arbitration, and the illusions in between.</a:t>
            </a:r>
          </a:p>
        </p:txBody>
      </p:sp>
      <p:sp>
        <p:nvSpPr>
          <p:cNvPr id="10" name="TextBox 9"/>
          <p:cNvSpPr txBox="1"/>
          <p:nvPr/>
        </p:nvSpPr>
        <p:spPr>
          <a:xfrm>
            <a:off x="1005840" y="6080760"/>
            <a:ext cx="10058400" cy="320040"/>
          </a:xfrm>
          <a:prstGeom prst="rect">
            <a:avLst/>
          </a:prstGeom>
          <a:noFill/>
        </p:spPr>
        <p:txBody>
          <a:bodyPr wrap="square" anchor="t" lIns="0" rIns="0" tIns="0" bIns="0">
            <a:spAutoFit/>
          </a:bodyPr>
          <a:lstStyle/>
          <a:p>
            <a:pPr algn="l">
              <a:lnSpc>
                <a:spcPct val="100000"/>
              </a:lnSpc>
            </a:pPr>
            <a:r>
              <a:rPr sz="1000" b="0" i="0">
                <a:solidFill>
                  <a:srgbClr val="5E697A"/>
                </a:solidFill>
                <a:latin typeface="Calibri"/>
              </a:rPr>
              <a:t>CSCE 611 · Module 01 of 13 · original material, share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MODULE OUTCOMES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What you will be able to do</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State the two jobs of an operating system and give examples of each.</a:t>
            </a:r>
          </a:p>
          <a:p>
            <a:pPr algn="l">
              <a:lnSpc>
                <a:spcPct val="122000"/>
              </a:lnSpc>
              <a:spcAft>
                <a:spcPts val="900"/>
              </a:spcAft>
            </a:pPr>
            <a:r>
              <a:rPr sz="1800" b="0" i="0">
                <a:solidFill>
                  <a:srgbClr val="3C4555"/>
                </a:solidFill>
                <a:latin typeface="Calibri"/>
              </a:rPr>
              <a:t>▪  Explain the kernel/user boundary and what enforces it.</a:t>
            </a:r>
          </a:p>
          <a:p>
            <a:pPr algn="l">
              <a:lnSpc>
                <a:spcPct val="122000"/>
              </a:lnSpc>
              <a:spcAft>
                <a:spcPts val="900"/>
              </a:spcAft>
            </a:pPr>
            <a:r>
              <a:rPr sz="1800" b="0" i="0">
                <a:solidFill>
                  <a:srgbClr val="3C4555"/>
                </a:solidFill>
                <a:latin typeface="Calibri"/>
              </a:rPr>
              <a:t>▪  Trace a system call from the user instruction to the kernel and back.</a:t>
            </a:r>
          </a:p>
          <a:p>
            <a:pPr algn="l">
              <a:lnSpc>
                <a:spcPct val="122000"/>
              </a:lnSpc>
              <a:spcAft>
                <a:spcPts val="900"/>
              </a:spcAft>
            </a:pPr>
            <a:r>
              <a:rPr sz="1800" b="0" i="0">
                <a:solidFill>
                  <a:srgbClr val="3C4555"/>
                </a:solidFill>
                <a:latin typeface="Calibri"/>
              </a:rPr>
              <a:t>▪  Explain why hardware support is required for isolation.</a:t>
            </a:r>
          </a:p>
          <a:p>
            <a:pPr algn="l">
              <a:lnSpc>
                <a:spcPct val="122000"/>
              </a:lnSpc>
              <a:spcAft>
                <a:spcPts val="900"/>
              </a:spcAft>
            </a:pPr>
            <a:r>
              <a:rPr sz="1800" b="0" i="0">
                <a:solidFill>
                  <a:srgbClr val="3C4555"/>
                </a:solidFill>
                <a:latin typeface="Calibri"/>
              </a:rPr>
              <a:t>▪  Describe the illusions an OS maintains and where each leaks.</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1</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Two jobs</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Everything a kernel does is one of these.</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THE JOB</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Abstraction and arbitration</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5266944" cy="404164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01952"/>
            <a:ext cx="5266944" cy="45720"/>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57984"/>
            <a:ext cx="4754880" cy="411480"/>
          </a:xfrm>
          <a:prstGeom prst="rect">
            <a:avLst/>
          </a:prstGeom>
          <a:noFill/>
        </p:spPr>
        <p:txBody>
          <a:bodyPr wrap="square" anchor="t" lIns="0" rIns="0" tIns="0" bIns="0">
            <a:spAutoFit/>
          </a:bodyPr>
          <a:lstStyle/>
          <a:p>
            <a:pPr algn="l">
              <a:lnSpc>
                <a:spcPct val="100000"/>
              </a:lnSpc>
            </a:pPr>
            <a:r>
              <a:rPr sz="1500" b="1" i="0">
                <a:solidFill>
                  <a:srgbClr val="141924"/>
                </a:solidFill>
                <a:latin typeface="Calibri"/>
              </a:rPr>
              <a:t>Abstraction — make hardware usable</a:t>
            </a:r>
          </a:p>
        </p:txBody>
      </p:sp>
      <p:sp>
        <p:nvSpPr>
          <p:cNvPr id="9" name="TextBox 8"/>
          <p:cNvSpPr txBox="1"/>
          <p:nvPr/>
        </p:nvSpPr>
        <p:spPr>
          <a:xfrm>
            <a:off x="841247" y="2679192"/>
            <a:ext cx="4754880" cy="3035808"/>
          </a:xfrm>
          <a:prstGeom prst="rect">
            <a:avLst/>
          </a:prstGeom>
          <a:noFill/>
        </p:spPr>
        <p:txBody>
          <a:bodyPr wrap="square" anchor="t" lIns="0" rIns="0" tIns="0" bIns="0">
            <a:spAutoFit/>
          </a:bodyPr>
          <a:lstStyle/>
          <a:p>
            <a:pPr algn="l">
              <a:lnSpc>
                <a:spcPct val="120000"/>
              </a:lnSpc>
              <a:spcAft>
                <a:spcPts val="700"/>
              </a:spcAft>
            </a:pPr>
            <a:r>
              <a:rPr sz="1400" b="0" i="0">
                <a:solidFill>
                  <a:srgbClr val="3C4555"/>
                </a:solidFill>
                <a:latin typeface="Calibri"/>
              </a:rPr>
              <a:t>▪  A disk becomes a </a:t>
            </a:r>
            <a:r>
              <a:rPr sz="1400" b="1" i="0">
                <a:solidFill>
                  <a:srgbClr val="3C4555"/>
                </a:solidFill>
                <a:latin typeface="Calibri"/>
              </a:rPr>
              <a:t>file</a:t>
            </a:r>
            <a:r>
              <a:rPr sz="1400" b="0" i="0">
                <a:solidFill>
                  <a:srgbClr val="3C4555"/>
                </a:solidFill>
                <a:latin typeface="Calibri"/>
              </a:rPr>
              <a:t>.</a:t>
            </a:r>
          </a:p>
          <a:p>
            <a:pPr algn="l">
              <a:lnSpc>
                <a:spcPct val="120000"/>
              </a:lnSpc>
              <a:spcAft>
                <a:spcPts val="700"/>
              </a:spcAft>
            </a:pPr>
            <a:r>
              <a:rPr sz="1400" b="0" i="0">
                <a:solidFill>
                  <a:srgbClr val="3C4555"/>
                </a:solidFill>
                <a:latin typeface="Calibri"/>
              </a:rPr>
              <a:t>▪  Physical memory becomes an </a:t>
            </a:r>
            <a:r>
              <a:rPr sz="1400" b="1" i="0">
                <a:solidFill>
                  <a:srgbClr val="3C4555"/>
                </a:solidFill>
                <a:latin typeface="Calibri"/>
              </a:rPr>
              <a:t>address space</a:t>
            </a:r>
            <a:r>
              <a:rPr sz="1400" b="0" i="0">
                <a:solidFill>
                  <a:srgbClr val="3C4555"/>
                </a:solidFill>
                <a:latin typeface="Calibri"/>
              </a:rPr>
              <a:t>.</a:t>
            </a:r>
          </a:p>
          <a:p>
            <a:pPr algn="l">
              <a:lnSpc>
                <a:spcPct val="120000"/>
              </a:lnSpc>
              <a:spcAft>
                <a:spcPts val="700"/>
              </a:spcAft>
            </a:pPr>
            <a:r>
              <a:rPr sz="1400" b="0" i="0">
                <a:solidFill>
                  <a:srgbClr val="3C4555"/>
                </a:solidFill>
                <a:latin typeface="Calibri"/>
              </a:rPr>
              <a:t>▪  A CPU becomes a </a:t>
            </a:r>
            <a:r>
              <a:rPr sz="1400" b="1" i="0">
                <a:solidFill>
                  <a:srgbClr val="3C4555"/>
                </a:solidFill>
                <a:latin typeface="Calibri"/>
              </a:rPr>
              <a:t>process</a:t>
            </a:r>
            <a:r>
              <a:rPr sz="1400" b="0" i="0">
                <a:solidFill>
                  <a:srgbClr val="3C4555"/>
                </a:solidFill>
                <a:latin typeface="Calibri"/>
              </a:rPr>
              <a:t>.</a:t>
            </a:r>
          </a:p>
          <a:p>
            <a:pPr algn="l">
              <a:lnSpc>
                <a:spcPct val="120000"/>
              </a:lnSpc>
              <a:spcAft>
                <a:spcPts val="700"/>
              </a:spcAft>
            </a:pPr>
            <a:r>
              <a:rPr sz="1400" b="0" i="0">
                <a:solidFill>
                  <a:srgbClr val="3C4555"/>
                </a:solidFill>
                <a:latin typeface="Calibri"/>
              </a:rPr>
              <a:t>▪  A network card becomes a </a:t>
            </a:r>
            <a:r>
              <a:rPr sz="1400" b="1" i="0">
                <a:solidFill>
                  <a:srgbClr val="3C4555"/>
                </a:solidFill>
                <a:latin typeface="Calibri"/>
              </a:rPr>
              <a:t>socket</a:t>
            </a:r>
            <a:r>
              <a:rPr sz="1400" b="0" i="0">
                <a:solidFill>
                  <a:srgbClr val="3C4555"/>
                </a:solidFill>
                <a:latin typeface="Calibri"/>
              </a:rPr>
              <a:t>.</a:t>
            </a:r>
          </a:p>
          <a:p>
            <a:pPr algn="l" lvl="1">
              <a:lnSpc>
                <a:spcPct val="120000"/>
              </a:lnSpc>
              <a:spcAft>
                <a:spcPts val="700"/>
              </a:spcAft>
            </a:pPr>
            <a:r>
              <a:rPr sz="1250" b="0" i="0">
                <a:solidFill>
                  <a:srgbClr val="798290"/>
                </a:solidFill>
                <a:latin typeface="Calibri"/>
              </a:rPr>
              <a:t>–  Each hides a device behind an interface you can program against.</a:t>
            </a:r>
          </a:p>
        </p:txBody>
      </p:sp>
      <p:sp>
        <p:nvSpPr>
          <p:cNvPr id="10" name="Rectangle 9"/>
          <p:cNvSpPr/>
          <p:nvPr/>
        </p:nvSpPr>
        <p:spPr>
          <a:xfrm>
            <a:off x="6355080" y="1901952"/>
            <a:ext cx="5266944" cy="404164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901952"/>
            <a:ext cx="5266944" cy="45720"/>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157984"/>
            <a:ext cx="4754880" cy="411480"/>
          </a:xfrm>
          <a:prstGeom prst="rect">
            <a:avLst/>
          </a:prstGeom>
          <a:noFill/>
        </p:spPr>
        <p:txBody>
          <a:bodyPr wrap="square" anchor="t" lIns="0" rIns="0" tIns="0" bIns="0">
            <a:spAutoFit/>
          </a:bodyPr>
          <a:lstStyle/>
          <a:p>
            <a:pPr algn="l">
              <a:lnSpc>
                <a:spcPct val="100000"/>
              </a:lnSpc>
            </a:pPr>
            <a:r>
              <a:rPr sz="1500" b="1" i="0">
                <a:solidFill>
                  <a:srgbClr val="141924"/>
                </a:solidFill>
                <a:latin typeface="Calibri"/>
              </a:rPr>
              <a:t>Arbitration — share it safely</a:t>
            </a:r>
          </a:p>
        </p:txBody>
      </p:sp>
      <p:sp>
        <p:nvSpPr>
          <p:cNvPr id="13" name="TextBox 12"/>
          <p:cNvSpPr txBox="1"/>
          <p:nvPr/>
        </p:nvSpPr>
        <p:spPr>
          <a:xfrm>
            <a:off x="6629400" y="2679192"/>
            <a:ext cx="4754880" cy="3035808"/>
          </a:xfrm>
          <a:prstGeom prst="rect">
            <a:avLst/>
          </a:prstGeom>
          <a:noFill/>
        </p:spPr>
        <p:txBody>
          <a:bodyPr wrap="square" anchor="t" lIns="0" rIns="0" tIns="0" bIns="0">
            <a:spAutoFit/>
          </a:bodyPr>
          <a:lstStyle/>
          <a:p>
            <a:pPr algn="l">
              <a:lnSpc>
                <a:spcPct val="120000"/>
              </a:lnSpc>
              <a:spcAft>
                <a:spcPts val="700"/>
              </a:spcAft>
            </a:pPr>
            <a:r>
              <a:rPr sz="1400" b="0" i="0">
                <a:solidFill>
                  <a:srgbClr val="3C4555"/>
                </a:solidFill>
                <a:latin typeface="Calibri"/>
              </a:rPr>
              <a:t>▪  Who runs next? (scheduling)</a:t>
            </a:r>
          </a:p>
          <a:p>
            <a:pPr algn="l">
              <a:lnSpc>
                <a:spcPct val="120000"/>
              </a:lnSpc>
              <a:spcAft>
                <a:spcPts val="700"/>
              </a:spcAft>
            </a:pPr>
            <a:r>
              <a:rPr sz="1400" b="0" i="0">
                <a:solidFill>
                  <a:srgbClr val="3C4555"/>
                </a:solidFill>
                <a:latin typeface="Calibri"/>
              </a:rPr>
              <a:t>▪  Who gets this memory? (allocation)</a:t>
            </a:r>
          </a:p>
          <a:p>
            <a:pPr algn="l">
              <a:lnSpc>
                <a:spcPct val="120000"/>
              </a:lnSpc>
              <a:spcAft>
                <a:spcPts val="700"/>
              </a:spcAft>
            </a:pPr>
            <a:r>
              <a:rPr sz="1400" b="0" i="0">
                <a:solidFill>
                  <a:srgbClr val="3C4555"/>
                </a:solidFill>
                <a:latin typeface="Calibri"/>
              </a:rPr>
              <a:t>▪  Who may read this file? (protection)</a:t>
            </a:r>
          </a:p>
          <a:p>
            <a:pPr algn="l">
              <a:lnSpc>
                <a:spcPct val="120000"/>
              </a:lnSpc>
              <a:spcAft>
                <a:spcPts val="700"/>
              </a:spcAft>
            </a:pPr>
            <a:r>
              <a:rPr sz="1400" b="0" i="0">
                <a:solidFill>
                  <a:srgbClr val="3C4555"/>
                </a:solidFill>
                <a:latin typeface="Calibri"/>
              </a:rPr>
              <a:t>▪  What happens when two programs want the same thing?</a:t>
            </a:r>
          </a:p>
          <a:p>
            <a:pPr algn="l" lvl="1">
              <a:lnSpc>
                <a:spcPct val="120000"/>
              </a:lnSpc>
              <a:spcAft>
                <a:spcPts val="700"/>
              </a:spcAft>
            </a:pPr>
            <a:r>
              <a:rPr sz="1250" b="0" i="0">
                <a:solidFill>
                  <a:srgbClr val="798290"/>
                </a:solidFill>
                <a:latin typeface="Calibri"/>
              </a:rPr>
              <a:t>–  Each prevents one program from ruining another.</a:t>
            </a:r>
          </a:p>
        </p:txBody>
      </p:sp>
      <p:sp>
        <p:nvSpPr>
          <p:cNvPr id="14" name="TextBox 13"/>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15" name="TextBox 14"/>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Both jobs are the same job</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FRAMING</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600" b="0" i="0">
                <a:solidFill>
                  <a:srgbClr val="141924"/>
                </a:solidFill>
                <a:latin typeface="Georgia"/>
              </a:rPr>
              <a:t>Abstraction without arbitration is a library. Arbitration without abstraction is a traffic cop with nothing to direct.</a:t>
            </a:r>
          </a:p>
          <a:p>
            <a:pPr algn="l">
              <a:lnSpc>
                <a:spcPct val="135000"/>
              </a:lnSpc>
              <a:spcAft>
                <a:spcPts val="1200"/>
              </a:spcAft>
            </a:pPr>
            <a:r>
              <a:rPr sz="1600" b="0" i="0">
                <a:solidFill>
                  <a:srgbClr val="141924"/>
                </a:solidFill>
                <a:latin typeface="Georgia"/>
              </a:rPr>
              <a:t>The kernel's real work is maintaining a set of </a:t>
            </a:r>
            <a:r>
              <a:rPr sz="1600" b="1" i="0">
                <a:solidFill>
                  <a:srgbClr val="141924"/>
                </a:solidFill>
                <a:latin typeface="Georgia"/>
              </a:rPr>
              <a:t>illusions</a:t>
            </a:r>
            <a:r>
              <a:rPr sz="1600" b="0" i="0">
                <a:solidFill>
                  <a:srgbClr val="141924"/>
                </a:solidFill>
                <a:latin typeface="Georgia"/>
              </a:rPr>
              <a:t>: each program believes it has the whole machine, a contiguous address space, and exclusive access to its files.</a:t>
            </a:r>
          </a:p>
          <a:p>
            <a:pPr algn="l">
              <a:lnSpc>
                <a:spcPct val="135000"/>
              </a:lnSpc>
              <a:spcAft>
                <a:spcPts val="1200"/>
              </a:spcAft>
            </a:pPr>
            <a:r>
              <a:rPr sz="1600" b="0" i="0">
                <a:solidFill>
                  <a:srgbClr val="141924"/>
                </a:solidFill>
                <a:latin typeface="Georgia"/>
              </a:rPr>
              <a:t>Those illusions are what makes programs writable. Without them every application would have to cooperate explicitly with every other, which is how computers worked before 1965 and why they were unusable.</a:t>
            </a:r>
          </a:p>
          <a:p>
            <a:pPr algn="l">
              <a:lnSpc>
                <a:spcPct val="135000"/>
              </a:lnSpc>
              <a:spcAft>
                <a:spcPts val="1200"/>
              </a:spcAft>
            </a:pPr>
            <a:r>
              <a:rPr sz="1600" b="0" i="0">
                <a:solidFill>
                  <a:srgbClr val="141924"/>
                </a:solidFill>
                <a:latin typeface="Georgia"/>
              </a:rPr>
              <a:t>Every illusion leaks somewhere. The rest of this course is largely about where.</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ILLUSIONS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What a process believes, and the truth</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310896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56816"/>
            <a:ext cx="288950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The illusion</a:t>
            </a:r>
          </a:p>
        </p:txBody>
      </p:sp>
      <p:sp>
        <p:nvSpPr>
          <p:cNvPr id="8" name="Rectangle 7"/>
          <p:cNvSpPr/>
          <p:nvPr/>
        </p:nvSpPr>
        <p:spPr>
          <a:xfrm>
            <a:off x="3675887" y="1901952"/>
            <a:ext cx="402336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85615" y="1956816"/>
            <a:ext cx="380390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The reality</a:t>
            </a:r>
          </a:p>
        </p:txBody>
      </p:sp>
      <p:sp>
        <p:nvSpPr>
          <p:cNvPr id="10" name="Rectangle 9"/>
          <p:cNvSpPr/>
          <p:nvPr/>
        </p:nvSpPr>
        <p:spPr>
          <a:xfrm>
            <a:off x="7699248" y="1901952"/>
            <a:ext cx="393192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08975" y="1956816"/>
            <a:ext cx="3712463"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Where it leaks</a:t>
            </a:r>
          </a:p>
        </p:txBody>
      </p:sp>
      <p:sp>
        <p:nvSpPr>
          <p:cNvPr id="12" name="Rectangle 11"/>
          <p:cNvSpPr/>
          <p:nvPr/>
        </p:nvSpPr>
        <p:spPr>
          <a:xfrm>
            <a:off x="566928" y="2377440"/>
            <a:ext cx="31089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414016"/>
            <a:ext cx="2889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I have the whole CPU</a:t>
            </a:r>
          </a:p>
        </p:txBody>
      </p:sp>
      <p:sp>
        <p:nvSpPr>
          <p:cNvPr id="14" name="Rectangle 13"/>
          <p:cNvSpPr/>
          <p:nvPr/>
        </p:nvSpPr>
        <p:spPr>
          <a:xfrm>
            <a:off x="3675887" y="2377440"/>
            <a:ext cx="40233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85615" y="2414016"/>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A few ms at a time</a:t>
            </a:r>
          </a:p>
        </p:txBody>
      </p:sp>
      <p:sp>
        <p:nvSpPr>
          <p:cNvPr id="16" name="Rectangle 15"/>
          <p:cNvSpPr/>
          <p:nvPr/>
        </p:nvSpPr>
        <p:spPr>
          <a:xfrm>
            <a:off x="7699248" y="2377440"/>
            <a:ext cx="39319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08975" y="2414016"/>
            <a:ext cx="37124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Timing jitter; cache cold after a switch</a:t>
            </a:r>
          </a:p>
        </p:txBody>
      </p:sp>
      <p:sp>
        <p:nvSpPr>
          <p:cNvPr id="18" name="Rectangle 17"/>
          <p:cNvSpPr/>
          <p:nvPr/>
        </p:nvSpPr>
        <p:spPr>
          <a:xfrm>
            <a:off x="566928" y="2852928"/>
            <a:ext cx="31089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889504"/>
            <a:ext cx="2889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I have contiguous memory</a:t>
            </a:r>
          </a:p>
        </p:txBody>
      </p:sp>
      <p:sp>
        <p:nvSpPr>
          <p:cNvPr id="20" name="Rectangle 19"/>
          <p:cNvSpPr/>
          <p:nvPr/>
        </p:nvSpPr>
        <p:spPr>
          <a:xfrm>
            <a:off x="3675887" y="2852928"/>
            <a:ext cx="40233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85615" y="2889504"/>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Scattered physical pages</a:t>
            </a:r>
          </a:p>
        </p:txBody>
      </p:sp>
      <p:sp>
        <p:nvSpPr>
          <p:cNvPr id="22" name="Rectangle 21"/>
          <p:cNvSpPr/>
          <p:nvPr/>
        </p:nvSpPr>
        <p:spPr>
          <a:xfrm>
            <a:off x="7699248" y="2852928"/>
            <a:ext cx="393192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08975" y="2889504"/>
            <a:ext cx="37124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TLB misses (CSCE 614 Mod 07); page faults</a:t>
            </a:r>
          </a:p>
        </p:txBody>
      </p:sp>
      <p:sp>
        <p:nvSpPr>
          <p:cNvPr id="24" name="Rectangle 23"/>
          <p:cNvSpPr/>
          <p:nvPr/>
        </p:nvSpPr>
        <p:spPr>
          <a:xfrm>
            <a:off x="566928" y="3328416"/>
            <a:ext cx="31089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3364992"/>
            <a:ext cx="2889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My memory is private</a:t>
            </a:r>
          </a:p>
        </p:txBody>
      </p:sp>
      <p:sp>
        <p:nvSpPr>
          <p:cNvPr id="26" name="Rectangle 25"/>
          <p:cNvSpPr/>
          <p:nvPr/>
        </p:nvSpPr>
        <p:spPr>
          <a:xfrm>
            <a:off x="3675887" y="3328416"/>
            <a:ext cx="40233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85615" y="3364992"/>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Shared hardware</a:t>
            </a:r>
          </a:p>
        </p:txBody>
      </p:sp>
      <p:sp>
        <p:nvSpPr>
          <p:cNvPr id="28" name="Rectangle 27"/>
          <p:cNvSpPr/>
          <p:nvPr/>
        </p:nvSpPr>
        <p:spPr>
          <a:xfrm>
            <a:off x="7699248" y="3328416"/>
            <a:ext cx="39319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08975" y="3364992"/>
            <a:ext cx="37124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Spectre; cache side channels</a:t>
            </a:r>
          </a:p>
        </p:txBody>
      </p:sp>
      <p:sp>
        <p:nvSpPr>
          <p:cNvPr id="30" name="Rectangle 29"/>
          <p:cNvSpPr/>
          <p:nvPr/>
        </p:nvSpPr>
        <p:spPr>
          <a:xfrm>
            <a:off x="566928" y="3803904"/>
            <a:ext cx="31089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840480"/>
            <a:ext cx="2889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My write reached disk</a:t>
            </a:r>
          </a:p>
        </p:txBody>
      </p:sp>
      <p:sp>
        <p:nvSpPr>
          <p:cNvPr id="32" name="Rectangle 31"/>
          <p:cNvSpPr/>
          <p:nvPr/>
        </p:nvSpPr>
        <p:spPr>
          <a:xfrm>
            <a:off x="3675887" y="3803904"/>
            <a:ext cx="40233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85615" y="3840480"/>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It is in a buffer</a:t>
            </a:r>
          </a:p>
        </p:txBody>
      </p:sp>
      <p:sp>
        <p:nvSpPr>
          <p:cNvPr id="34" name="Rectangle 33"/>
          <p:cNvSpPr/>
          <p:nvPr/>
        </p:nvSpPr>
        <p:spPr>
          <a:xfrm>
            <a:off x="7699248" y="3803904"/>
            <a:ext cx="393192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08975" y="3840480"/>
            <a:ext cx="3712463" cy="475488"/>
          </a:xfrm>
          <a:prstGeom prst="rect">
            <a:avLst/>
          </a:prstGeom>
          <a:noFill/>
        </p:spPr>
        <p:txBody>
          <a:bodyPr wrap="square" anchor="ctr" lIns="0" rIns="0" tIns="0" bIns="0">
            <a:spAutoFit/>
          </a:bodyPr>
          <a:lstStyle/>
          <a:p>
            <a:pPr algn="l">
              <a:lnSpc>
                <a:spcPct val="110000"/>
              </a:lnSpc>
            </a:pPr>
            <a:r>
              <a:rPr sz="1150" b="1" i="0">
                <a:solidFill>
                  <a:srgbClr val="3C4555"/>
                </a:solidFill>
                <a:latin typeface="Calibri"/>
              </a:rPr>
              <a:t>Data loss on power failure</a:t>
            </a:r>
          </a:p>
        </p:txBody>
      </p:sp>
      <p:sp>
        <p:nvSpPr>
          <p:cNvPr id="36" name="Rectangle 35"/>
          <p:cNvSpPr/>
          <p:nvPr/>
        </p:nvSpPr>
        <p:spPr>
          <a:xfrm>
            <a:off x="566928" y="4279392"/>
            <a:ext cx="31089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4315968"/>
            <a:ext cx="2889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Files are byte arrays</a:t>
            </a:r>
          </a:p>
        </p:txBody>
      </p:sp>
      <p:sp>
        <p:nvSpPr>
          <p:cNvPr id="38" name="Rectangle 37"/>
          <p:cNvSpPr/>
          <p:nvPr/>
        </p:nvSpPr>
        <p:spPr>
          <a:xfrm>
            <a:off x="3675887" y="4279392"/>
            <a:ext cx="40233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5615" y="4315968"/>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Blocks on a device</a:t>
            </a:r>
          </a:p>
        </p:txBody>
      </p:sp>
      <p:sp>
        <p:nvSpPr>
          <p:cNvPr id="40" name="Rectangle 39"/>
          <p:cNvSpPr/>
          <p:nvPr/>
        </p:nvSpPr>
        <p:spPr>
          <a:xfrm>
            <a:off x="7699248" y="4279392"/>
            <a:ext cx="39319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08975" y="4315968"/>
            <a:ext cx="37124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Alignment; fsync cost</a:t>
            </a:r>
          </a:p>
        </p:txBody>
      </p:sp>
      <p:sp>
        <p:nvSpPr>
          <p:cNvPr id="42" name="TextBox 41"/>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43" name="TextBox 42"/>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2</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The boundary</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Two modes, enforced by hardware, crossed deliberately.</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PRIVILEGE</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Why isolation needs hardware</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A kernel cannot protect itself using software alone — any check it writes, a program could skip.</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So the </a:t>
            </a:r>
            <a:r>
              <a:rPr sz="1800" b="1" i="0">
                <a:solidFill>
                  <a:srgbClr val="3C4555"/>
                </a:solidFill>
                <a:latin typeface="Calibri"/>
              </a:rPr>
              <a:t>CPU</a:t>
            </a:r>
            <a:r>
              <a:rPr sz="1800" b="0" i="0">
                <a:solidFill>
                  <a:srgbClr val="3C4555"/>
                </a:solidFill>
                <a:latin typeface="Calibri"/>
              </a:rPr>
              <a:t> provides at least two modes:</a:t>
            </a:r>
          </a:p>
          <a:p>
            <a:pPr algn="l" lvl="1">
              <a:lnSpc>
                <a:spcPct val="122000"/>
              </a:lnSpc>
              <a:spcAft>
                <a:spcPts val="500"/>
              </a:spcAft>
            </a:pPr>
            <a:r>
              <a:rPr sz="1600" b="0" i="0">
                <a:solidFill>
                  <a:srgbClr val="798290"/>
                </a:solidFill>
                <a:latin typeface="Calibri"/>
              </a:rPr>
              <a:t>–  </a:t>
            </a:r>
            <a:r>
              <a:rPr sz="1600" b="1" i="0">
                <a:solidFill>
                  <a:srgbClr val="798290"/>
                </a:solidFill>
                <a:latin typeface="Calibri"/>
              </a:rPr>
              <a:t>User mode:</a:t>
            </a:r>
            <a:r>
              <a:rPr sz="1600" b="0" i="0">
                <a:solidFill>
                  <a:srgbClr val="798290"/>
                </a:solidFill>
                <a:latin typeface="Calibri"/>
              </a:rPr>
              <a:t> ordinary instructions only. No device access, no page table changes.</a:t>
            </a:r>
          </a:p>
          <a:p>
            <a:pPr algn="l" lvl="1">
              <a:lnSpc>
                <a:spcPct val="122000"/>
              </a:lnSpc>
              <a:spcAft>
                <a:spcPts val="500"/>
              </a:spcAft>
            </a:pPr>
            <a:r>
              <a:rPr sz="1600" b="0" i="0">
                <a:solidFill>
                  <a:srgbClr val="798290"/>
                </a:solidFill>
                <a:latin typeface="Calibri"/>
              </a:rPr>
              <a:t>–  </a:t>
            </a:r>
            <a:r>
              <a:rPr sz="1600" b="1" i="0">
                <a:solidFill>
                  <a:srgbClr val="798290"/>
                </a:solidFill>
                <a:latin typeface="Calibri"/>
              </a:rPr>
              <a:t>Supervisor/kernel mode:</a:t>
            </a:r>
            <a:r>
              <a:rPr sz="1600" b="0" i="0">
                <a:solidFill>
                  <a:srgbClr val="798290"/>
                </a:solidFill>
                <a:latin typeface="Calibri"/>
              </a:rPr>
              <a:t> everything.</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Privileged instructions attempted in user mode </a:t>
            </a:r>
            <a:r>
              <a:rPr sz="1800" b="1" i="0">
                <a:solidFill>
                  <a:srgbClr val="3C4555"/>
                </a:solidFill>
                <a:latin typeface="Calibri"/>
              </a:rPr>
              <a:t>trap</a:t>
            </a:r>
            <a:r>
              <a:rPr sz="1800" b="0" i="0">
                <a:solidFill>
                  <a:srgbClr val="3C4555"/>
                </a:solidFill>
                <a:latin typeface="Calibri"/>
              </a:rPr>
              <a:t> — control transfers to the kernel.</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The one-way door: user code can enter the kernel only at addresses the </a:t>
            </a:r>
            <a:r>
              <a:rPr sz="1800" b="0" i="1">
                <a:solidFill>
                  <a:srgbClr val="3C4555"/>
                </a:solidFill>
                <a:latin typeface="Calibri"/>
              </a:rPr>
              <a:t>kernel</a:t>
            </a:r>
            <a:r>
              <a:rPr sz="1800" b="0" i="0">
                <a:solidFill>
                  <a:srgbClr val="3C4555"/>
                </a:solidFill>
                <a:latin typeface="Calibri"/>
              </a:rPr>
              <a:t> chose.</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SYSTEM CALL</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Crossing the boundary, step by step</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11064240" cy="3904487"/>
          </a:xfrm>
          <a:prstGeom prst="rect">
            <a:avLst/>
          </a:prstGeom>
          <a:solidFill>
            <a:srgbClr val="1B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2011680"/>
            <a:ext cx="1005840" cy="274320"/>
          </a:xfrm>
          <a:prstGeom prst="rect">
            <a:avLst/>
          </a:prstGeom>
          <a:noFill/>
        </p:spPr>
        <p:txBody>
          <a:bodyPr wrap="square" anchor="t" lIns="0" rIns="0" tIns="0" bIns="0">
            <a:spAutoFit/>
          </a:bodyPr>
          <a:lstStyle/>
          <a:p>
            <a:pPr algn="r">
              <a:lnSpc>
                <a:spcPct val="100000"/>
              </a:lnSpc>
            </a:pPr>
            <a:r>
              <a:rPr sz="1000" b="0" i="0">
                <a:solidFill>
                  <a:srgbClr val="C29B3F"/>
                </a:solidFill>
                <a:latin typeface="Consolas"/>
              </a:rPr>
              <a:t>c</a:t>
            </a:r>
          </a:p>
        </p:txBody>
      </p:sp>
      <p:sp>
        <p:nvSpPr>
          <p:cNvPr id="8" name="TextBox 7"/>
          <p:cNvSpPr txBox="1"/>
          <p:nvPr/>
        </p:nvSpPr>
        <p:spPr>
          <a:xfrm>
            <a:off x="868680" y="2084832"/>
            <a:ext cx="10515600" cy="3630168"/>
          </a:xfrm>
          <a:prstGeom prst="rect">
            <a:avLst/>
          </a:prstGeom>
          <a:noFill/>
        </p:spPr>
        <p:txBody>
          <a:bodyPr wrap="square" anchor="t" lIns="0" rIns="0" tIns="0" bIns="0">
            <a:spAutoFit/>
          </a:bodyPr>
          <a:lstStyle/>
          <a:p>
            <a:pPr algn="l">
              <a:lnSpc>
                <a:spcPct val="105000"/>
              </a:lnSpc>
            </a:pPr>
            <a:r>
              <a:rPr sz="1190" b="0" i="0">
                <a:solidFill>
                  <a:srgbClr val="E4E8EF"/>
                </a:solidFill>
                <a:latin typeface="Consolas"/>
              </a:rPr>
              <a:t>// User code</a:t>
            </a:r>
          </a:p>
          <a:p>
            <a:pPr algn="l">
              <a:lnSpc>
                <a:spcPct val="105000"/>
              </a:lnSpc>
            </a:pPr>
            <a:r>
              <a:rPr sz="1190" b="0" i="0">
                <a:solidFill>
                  <a:srgbClr val="E4E8EF"/>
                </a:solidFill>
                <a:latin typeface="Consolas"/>
              </a:rPr>
              <a:t>write(fd, buf, n);</a:t>
            </a:r>
          </a:p>
          <a:p>
            <a:pPr algn="l">
              <a:lnSpc>
                <a:spcPct val="105000"/>
              </a:lnSpc>
            </a:pPr>
            <a:r>
              <a:rPr sz="1190" b="0" i="0">
                <a:solidFill>
                  <a:srgbClr val="E4E8EF"/>
                </a:solidFill>
                <a:latin typeface="Consolas"/>
              </a:rPr>
              <a:t> </a:t>
            </a:r>
          </a:p>
          <a:p>
            <a:pPr algn="l">
              <a:lnSpc>
                <a:spcPct val="105000"/>
              </a:lnSpc>
            </a:pPr>
            <a:r>
              <a:rPr sz="1190" b="0" i="0">
                <a:solidFill>
                  <a:srgbClr val="E4E8EF"/>
                </a:solidFill>
                <a:latin typeface="Consolas"/>
              </a:rPr>
              <a:t>// 1. libc places the syscall number in a register, args in others</a:t>
            </a:r>
          </a:p>
          <a:p>
            <a:pPr algn="l">
              <a:lnSpc>
                <a:spcPct val="105000"/>
              </a:lnSpc>
            </a:pPr>
            <a:r>
              <a:rPr sz="1190" b="0" i="0">
                <a:solidFill>
                  <a:srgbClr val="E4E8EF"/>
                </a:solidFill>
                <a:latin typeface="Consolas"/>
              </a:rPr>
              <a:t>//    a7 = SYS_write;  a0 = fd;  a1 = buf;  a2 = n</a:t>
            </a:r>
          </a:p>
          <a:p>
            <a:pPr algn="l">
              <a:lnSpc>
                <a:spcPct val="105000"/>
              </a:lnSpc>
            </a:pPr>
            <a:r>
              <a:rPr sz="1190" b="0" i="0">
                <a:solidFill>
                  <a:srgbClr val="E4E8EF"/>
                </a:solidFill>
                <a:latin typeface="Consolas"/>
              </a:rPr>
              <a:t>// 2. executes ECALL  (RISC-V) / SYSCALL (x86-64) / SVC (ARM)</a:t>
            </a:r>
          </a:p>
          <a:p>
            <a:pPr algn="l">
              <a:lnSpc>
                <a:spcPct val="105000"/>
              </a:lnSpc>
            </a:pPr>
            <a:r>
              <a:rPr sz="1190" b="0" i="0">
                <a:solidFill>
                  <a:srgbClr val="E4E8EF"/>
                </a:solidFill>
                <a:latin typeface="Consolas"/>
              </a:rPr>
              <a:t>//</a:t>
            </a:r>
          </a:p>
          <a:p>
            <a:pPr algn="l">
              <a:lnSpc>
                <a:spcPct val="105000"/>
              </a:lnSpc>
            </a:pPr>
            <a:r>
              <a:rPr sz="1190" b="0" i="0">
                <a:solidFill>
                  <a:srgbClr val="E4E8EF"/>
                </a:solidFill>
                <a:latin typeface="Consolas"/>
              </a:rPr>
              <a:t>// -- HARDWARE: switch to supervisor mode, jump to the trap vector</a:t>
            </a:r>
          </a:p>
          <a:p>
            <a:pPr algn="l">
              <a:lnSpc>
                <a:spcPct val="105000"/>
              </a:lnSpc>
            </a:pPr>
            <a:r>
              <a:rPr sz="1190" b="0" i="0">
                <a:solidFill>
                  <a:srgbClr val="E4E8EF"/>
                </a:solidFill>
                <a:latin typeface="Consolas"/>
              </a:rPr>
              <a:t>//    the kernel installed at boot. User code never chose this address.</a:t>
            </a:r>
          </a:p>
          <a:p>
            <a:pPr algn="l">
              <a:lnSpc>
                <a:spcPct val="105000"/>
              </a:lnSpc>
            </a:pPr>
            <a:r>
              <a:rPr sz="1190" b="0" i="0">
                <a:solidFill>
                  <a:srgbClr val="E4E8EF"/>
                </a:solidFill>
                <a:latin typeface="Consolas"/>
              </a:rPr>
              <a:t>//</a:t>
            </a:r>
          </a:p>
          <a:p>
            <a:pPr algn="l">
              <a:lnSpc>
                <a:spcPct val="105000"/>
              </a:lnSpc>
            </a:pPr>
            <a:r>
              <a:rPr sz="1190" b="0" i="0">
                <a:solidFill>
                  <a:srgbClr val="E4E8EF"/>
                </a:solidFill>
                <a:latin typeface="Consolas"/>
              </a:rPr>
              <a:t>// 3. Kernel saves the user register set into the trapframe</a:t>
            </a:r>
          </a:p>
          <a:p>
            <a:pPr algn="l">
              <a:lnSpc>
                <a:spcPct val="105000"/>
              </a:lnSpc>
            </a:pPr>
            <a:r>
              <a:rPr sz="1190" b="0" i="0">
                <a:solidFill>
                  <a:srgbClr val="E4E8EF"/>
                </a:solidFill>
                <a:latin typeface="Consolas"/>
              </a:rPr>
              <a:t>// 4. Looks up the syscall number in a table -&gt; sys_write()</a:t>
            </a:r>
          </a:p>
          <a:p>
            <a:pPr algn="l">
              <a:lnSpc>
                <a:spcPct val="105000"/>
              </a:lnSpc>
            </a:pPr>
            <a:r>
              <a:rPr sz="1190" b="0" i="0">
                <a:solidFill>
                  <a:srgbClr val="E4E8EF"/>
                </a:solidFill>
                <a:latin typeface="Consolas"/>
              </a:rPr>
              <a:t>// 5. VALIDATES the arguments:</a:t>
            </a:r>
          </a:p>
          <a:p>
            <a:pPr algn="l">
              <a:lnSpc>
                <a:spcPct val="105000"/>
              </a:lnSpc>
            </a:pPr>
            <a:r>
              <a:rPr sz="1190" b="0" i="0">
                <a:solidFill>
                  <a:srgbClr val="E4E8EF"/>
                </a:solidFill>
                <a:latin typeface="Consolas"/>
              </a:rPr>
              <a:t>//      is fd open?  is [buf, buf+n) inside this process's address space?</a:t>
            </a:r>
          </a:p>
          <a:p>
            <a:pPr algn="l">
              <a:lnSpc>
                <a:spcPct val="105000"/>
              </a:lnSpc>
            </a:pPr>
            <a:r>
              <a:rPr sz="1190" b="0" i="0">
                <a:solidFill>
                  <a:srgbClr val="E4E8EF"/>
                </a:solidFill>
                <a:latin typeface="Consolas"/>
              </a:rPr>
              <a:t>// 6. Does the work</a:t>
            </a:r>
          </a:p>
          <a:p>
            <a:pPr algn="l">
              <a:lnSpc>
                <a:spcPct val="105000"/>
              </a:lnSpc>
            </a:pPr>
            <a:r>
              <a:rPr sz="1190" b="0" i="0">
                <a:solidFill>
                  <a:srgbClr val="E4E8EF"/>
                </a:solidFill>
                <a:latin typeface="Consolas"/>
              </a:rPr>
              <a:t>// 7. Restores registers, places the return value, executes SRET</a:t>
            </a:r>
          </a:p>
          <a:p>
            <a:pPr algn="l">
              <a:lnSpc>
                <a:spcPct val="105000"/>
              </a:lnSpc>
            </a:pPr>
            <a:r>
              <a:rPr sz="1190" b="0" i="0">
                <a:solidFill>
                  <a:srgbClr val="E4E8EF"/>
                </a:solidFill>
                <a:latin typeface="Consolas"/>
              </a:rPr>
              <a:t>//</a:t>
            </a:r>
          </a:p>
          <a:p>
            <a:pPr algn="l">
              <a:lnSpc>
                <a:spcPct val="105000"/>
              </a:lnSpc>
            </a:pPr>
            <a:r>
              <a:rPr sz="1190" b="0" i="0">
                <a:solidFill>
                  <a:srgbClr val="E4E8EF"/>
                </a:solidFill>
                <a:latin typeface="Consolas"/>
              </a:rPr>
              <a:t>// -- HARDWARE: back to user mode, resume after the ECALL</a:t>
            </a:r>
          </a:p>
        </p:txBody>
      </p:sp>
      <p:sp>
        <p:nvSpPr>
          <p:cNvPr id="9" name="TextBox 8"/>
          <p:cNvSpPr txBox="1"/>
          <p:nvPr/>
        </p:nvSpPr>
        <p:spPr>
          <a:xfrm>
            <a:off x="566928" y="5971031"/>
            <a:ext cx="10789920" cy="457200"/>
          </a:xfrm>
          <a:prstGeom prst="rect">
            <a:avLst/>
          </a:prstGeom>
          <a:noFill/>
        </p:spPr>
        <p:txBody>
          <a:bodyPr wrap="square" anchor="t" lIns="0" rIns="0" tIns="0" bIns="0">
            <a:spAutoFit/>
          </a:bodyPr>
          <a:lstStyle/>
          <a:p>
            <a:pPr algn="l">
              <a:lnSpc>
                <a:spcPct val="120000"/>
              </a:lnSpc>
            </a:pPr>
            <a:r>
              <a:rPr sz="1250" b="0" i="1">
                <a:solidFill>
                  <a:srgbClr val="798290"/>
                </a:solidFill>
                <a:latin typeface="Calibri"/>
              </a:rPr>
              <a:t>Step 5 is the security boundary. A pointer from user space is </a:t>
            </a:r>
            <a:r>
              <a:rPr sz="1250" b="1" i="1">
                <a:solidFill>
                  <a:srgbClr val="798290"/>
                </a:solidFill>
                <a:latin typeface="Calibri"/>
              </a:rPr>
              <a:t>untrusted input</a:t>
            </a:r>
            <a:r>
              <a:rPr sz="1250" b="0" i="1">
                <a:solidFill>
                  <a:srgbClr val="798290"/>
                </a:solidFill>
                <a:latin typeface="Calibri"/>
              </a:rPr>
              <a:t> and must be checked every time.</a:t>
            </a:r>
          </a:p>
        </p:txBody>
      </p:sp>
      <p:sp>
        <p:nvSpPr>
          <p:cNvPr id="10" name="TextBox 9"/>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11" name="TextBox 10"/>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Never trust a user pointer</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THE RULE THAT MATTERS</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600" b="0" i="0">
                <a:solidFill>
                  <a:srgbClr val="141924"/>
                </a:solidFill>
                <a:latin typeface="Georgia"/>
              </a:rPr>
              <a:t>A system call argument is attacker-controlled data. A pointer that happens to be valid in user space may point at kernel memory, at another process, or at nothing.</a:t>
            </a:r>
          </a:p>
          <a:p>
            <a:pPr algn="l">
              <a:lnSpc>
                <a:spcPct val="135000"/>
              </a:lnSpc>
              <a:spcAft>
                <a:spcPts val="1200"/>
              </a:spcAft>
            </a:pPr>
            <a:r>
              <a:rPr sz="1600" b="0" i="0">
                <a:solidFill>
                  <a:srgbClr val="141924"/>
                </a:solidFill>
                <a:latin typeface="Georgia"/>
              </a:rPr>
              <a:t>The kernel must validate every pointer and every length against the calling process's address space </a:t>
            </a:r>
            <a:r>
              <a:rPr sz="1600" b="0" i="1">
                <a:solidFill>
                  <a:srgbClr val="141924"/>
                </a:solidFill>
                <a:latin typeface="Georgia"/>
              </a:rPr>
              <a:t>before</a:t>
            </a:r>
            <a:r>
              <a:rPr sz="1600" b="0" i="0">
                <a:solidFill>
                  <a:srgbClr val="141924"/>
                </a:solidFill>
                <a:latin typeface="Georgia"/>
              </a:rPr>
              <a:t> dereferencing — and must not be fooled by overflow in </a:t>
            </a:r>
            <a:r>
              <a:rPr sz="1472" b="0" i="0">
                <a:solidFill>
                  <a:srgbClr val="141924"/>
                </a:solidFill>
                <a:latin typeface="Consolas"/>
              </a:rPr>
              <a:t>buf + n</a:t>
            </a:r>
            <a:r>
              <a:rPr sz="1600" b="0" i="0">
                <a:solidFill>
                  <a:srgbClr val="141924"/>
                </a:solidFill>
                <a:latin typeface="Georgia"/>
              </a:rPr>
              <a:t>.</a:t>
            </a:r>
          </a:p>
          <a:p>
            <a:pPr algn="l">
              <a:lnSpc>
                <a:spcPct val="135000"/>
              </a:lnSpc>
              <a:spcAft>
                <a:spcPts val="1200"/>
              </a:spcAft>
            </a:pPr>
            <a:r>
              <a:rPr sz="1600" b="0" i="0">
                <a:solidFill>
                  <a:srgbClr val="141924"/>
                </a:solidFill>
                <a:latin typeface="Georgia"/>
              </a:rPr>
              <a:t>It must also copy the data rather than using it in place, because another thread in the same process could change it between the check and the use. That is a </a:t>
            </a:r>
            <a:r>
              <a:rPr sz="1600" b="1" i="0">
                <a:solidFill>
                  <a:srgbClr val="141924"/>
                </a:solidFill>
                <a:latin typeface="Georgia"/>
              </a:rPr>
              <a:t>time-of-check/time-of-use</a:t>
            </a:r>
            <a:r>
              <a:rPr sz="1600" b="0" i="0">
                <a:solidFill>
                  <a:srgbClr val="141924"/>
                </a:solidFill>
                <a:latin typeface="Georgia"/>
              </a:rPr>
              <a:t> bug, and it is a standard exploitation technique.</a:t>
            </a:r>
          </a:p>
          <a:p>
            <a:pPr algn="l">
              <a:lnSpc>
                <a:spcPct val="135000"/>
              </a:lnSpc>
              <a:spcAft>
                <a:spcPts val="1200"/>
              </a:spcAft>
            </a:pPr>
            <a:r>
              <a:rPr sz="1600" b="0" i="0">
                <a:solidFill>
                  <a:srgbClr val="141924"/>
                </a:solidFill>
                <a:latin typeface="Georgia"/>
              </a:rPr>
              <a:t>A large fraction of kernel vulnerabilities are a missing or defeated check here.</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3</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Entering the kernel</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Three ways in, one way back.</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TRAPS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Three reasons control enters the kernel</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237744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56816"/>
            <a:ext cx="215798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Cause</a:t>
            </a:r>
          </a:p>
        </p:txBody>
      </p:sp>
      <p:sp>
        <p:nvSpPr>
          <p:cNvPr id="8" name="Rectangle 7"/>
          <p:cNvSpPr/>
          <p:nvPr/>
        </p:nvSpPr>
        <p:spPr>
          <a:xfrm>
            <a:off x="2944368" y="1901952"/>
            <a:ext cx="256032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54096" y="1956816"/>
            <a:ext cx="2340863"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Source</a:t>
            </a:r>
          </a:p>
        </p:txBody>
      </p:sp>
      <p:sp>
        <p:nvSpPr>
          <p:cNvPr id="10" name="Rectangle 9"/>
          <p:cNvSpPr/>
          <p:nvPr/>
        </p:nvSpPr>
        <p:spPr>
          <a:xfrm>
            <a:off x="5504688" y="1901952"/>
            <a:ext cx="329184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14416" y="1956816"/>
            <a:ext cx="307238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Example</a:t>
            </a:r>
          </a:p>
        </p:txBody>
      </p:sp>
      <p:sp>
        <p:nvSpPr>
          <p:cNvPr id="12" name="Rectangle 11"/>
          <p:cNvSpPr/>
          <p:nvPr/>
        </p:nvSpPr>
        <p:spPr>
          <a:xfrm>
            <a:off x="8796528" y="1901952"/>
            <a:ext cx="283464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06255" y="1956816"/>
            <a:ext cx="261518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Synchronous?</a:t>
            </a:r>
          </a:p>
        </p:txBody>
      </p:sp>
      <p:sp>
        <p:nvSpPr>
          <p:cNvPr id="14" name="Rectangle 13"/>
          <p:cNvSpPr/>
          <p:nvPr/>
        </p:nvSpPr>
        <p:spPr>
          <a:xfrm>
            <a:off x="566928" y="2377440"/>
            <a:ext cx="23774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414016"/>
            <a:ext cx="21579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System call</a:t>
            </a:r>
          </a:p>
        </p:txBody>
      </p:sp>
      <p:sp>
        <p:nvSpPr>
          <p:cNvPr id="16" name="Rectangle 15"/>
          <p:cNvSpPr/>
          <p:nvPr/>
        </p:nvSpPr>
        <p:spPr>
          <a:xfrm>
            <a:off x="2944368" y="2377440"/>
            <a:ext cx="25603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4096" y="2414016"/>
            <a:ext cx="23408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Deliberate, by the program</a:t>
            </a:r>
          </a:p>
        </p:txBody>
      </p:sp>
      <p:sp>
        <p:nvSpPr>
          <p:cNvPr id="18" name="Rectangle 17"/>
          <p:cNvSpPr/>
          <p:nvPr/>
        </p:nvSpPr>
        <p:spPr>
          <a:xfrm>
            <a:off x="5504688" y="2377440"/>
            <a:ext cx="32918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4416" y="2414016"/>
            <a:ext cx="30723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read, write, fork</a:t>
            </a:r>
          </a:p>
        </p:txBody>
      </p:sp>
      <p:sp>
        <p:nvSpPr>
          <p:cNvPr id="20" name="Rectangle 19"/>
          <p:cNvSpPr/>
          <p:nvPr/>
        </p:nvSpPr>
        <p:spPr>
          <a:xfrm>
            <a:off x="8796528" y="2377440"/>
            <a:ext cx="28346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6255" y="2414016"/>
            <a:ext cx="26151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Yes</a:t>
            </a:r>
          </a:p>
        </p:txBody>
      </p:sp>
      <p:sp>
        <p:nvSpPr>
          <p:cNvPr id="22" name="Rectangle 21"/>
          <p:cNvSpPr/>
          <p:nvPr/>
        </p:nvSpPr>
        <p:spPr>
          <a:xfrm>
            <a:off x="566928" y="2852928"/>
            <a:ext cx="23774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2889504"/>
            <a:ext cx="21579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Exception</a:t>
            </a:r>
          </a:p>
        </p:txBody>
      </p:sp>
      <p:sp>
        <p:nvSpPr>
          <p:cNvPr id="24" name="Rectangle 23"/>
          <p:cNvSpPr/>
          <p:nvPr/>
        </p:nvSpPr>
        <p:spPr>
          <a:xfrm>
            <a:off x="2944368" y="2852928"/>
            <a:ext cx="256032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54096" y="2889504"/>
            <a:ext cx="23408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The program did something</a:t>
            </a:r>
          </a:p>
        </p:txBody>
      </p:sp>
      <p:sp>
        <p:nvSpPr>
          <p:cNvPr id="26" name="Rectangle 25"/>
          <p:cNvSpPr/>
          <p:nvPr/>
        </p:nvSpPr>
        <p:spPr>
          <a:xfrm>
            <a:off x="5504688" y="2852928"/>
            <a:ext cx="32918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14416" y="2889504"/>
            <a:ext cx="30723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Page fault, divide by zero</a:t>
            </a:r>
          </a:p>
        </p:txBody>
      </p:sp>
      <p:sp>
        <p:nvSpPr>
          <p:cNvPr id="28" name="Rectangle 27"/>
          <p:cNvSpPr/>
          <p:nvPr/>
        </p:nvSpPr>
        <p:spPr>
          <a:xfrm>
            <a:off x="8796528" y="2852928"/>
            <a:ext cx="28346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06255" y="2889504"/>
            <a:ext cx="26151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Yes</a:t>
            </a:r>
          </a:p>
        </p:txBody>
      </p:sp>
      <p:sp>
        <p:nvSpPr>
          <p:cNvPr id="30" name="Rectangle 29"/>
          <p:cNvSpPr/>
          <p:nvPr/>
        </p:nvSpPr>
        <p:spPr>
          <a:xfrm>
            <a:off x="566928" y="3328416"/>
            <a:ext cx="23774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364992"/>
            <a:ext cx="21579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Interrupt</a:t>
            </a:r>
          </a:p>
        </p:txBody>
      </p:sp>
      <p:sp>
        <p:nvSpPr>
          <p:cNvPr id="32" name="Rectangle 31"/>
          <p:cNvSpPr/>
          <p:nvPr/>
        </p:nvSpPr>
        <p:spPr>
          <a:xfrm>
            <a:off x="2944368" y="3328416"/>
            <a:ext cx="25603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54096" y="3364992"/>
            <a:ext cx="23408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A device, externally</a:t>
            </a:r>
          </a:p>
        </p:txBody>
      </p:sp>
      <p:sp>
        <p:nvSpPr>
          <p:cNvPr id="34" name="Rectangle 33"/>
          <p:cNvSpPr/>
          <p:nvPr/>
        </p:nvSpPr>
        <p:spPr>
          <a:xfrm>
            <a:off x="5504688" y="3328416"/>
            <a:ext cx="32918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14416" y="3364992"/>
            <a:ext cx="30723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Timer, disk, keyboard</a:t>
            </a:r>
          </a:p>
        </p:txBody>
      </p:sp>
      <p:sp>
        <p:nvSpPr>
          <p:cNvPr id="36" name="Rectangle 35"/>
          <p:cNvSpPr/>
          <p:nvPr/>
        </p:nvSpPr>
        <p:spPr>
          <a:xfrm>
            <a:off x="8796528" y="3328416"/>
            <a:ext cx="28346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06255" y="3364992"/>
            <a:ext cx="2615184" cy="475488"/>
          </a:xfrm>
          <a:prstGeom prst="rect">
            <a:avLst/>
          </a:prstGeom>
          <a:noFill/>
        </p:spPr>
        <p:txBody>
          <a:bodyPr wrap="square" anchor="ctr" lIns="0" rIns="0" tIns="0" bIns="0">
            <a:spAutoFit/>
          </a:bodyPr>
          <a:lstStyle/>
          <a:p>
            <a:pPr algn="l">
              <a:lnSpc>
                <a:spcPct val="110000"/>
              </a:lnSpc>
            </a:pPr>
            <a:r>
              <a:rPr sz="1150" b="1" i="0">
                <a:solidFill>
                  <a:srgbClr val="3C4555"/>
                </a:solidFill>
                <a:latin typeface="Calibri"/>
              </a:rPr>
              <a:t>No</a:t>
            </a:r>
          </a:p>
        </p:txBody>
      </p:sp>
      <p:sp>
        <p:nvSpPr>
          <p:cNvPr id="38" name="TextBox 37"/>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39" name="TextBox 38"/>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TIMER</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Why the timer interrupt is the most important one</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Without it, a process that never makes a system call </a:t>
            </a:r>
            <a:r>
              <a:rPr sz="1800" b="1" i="0">
                <a:solidFill>
                  <a:srgbClr val="3C4555"/>
                </a:solidFill>
                <a:latin typeface="Calibri"/>
              </a:rPr>
              <a:t>never yields</a:t>
            </a:r>
            <a:r>
              <a:rPr sz="1800" b="0" i="0">
                <a:solidFill>
                  <a:srgbClr val="3C4555"/>
                </a:solidFill>
                <a:latin typeface="Calibri"/>
              </a:rPr>
              <a:t>.</a:t>
            </a:r>
          </a:p>
          <a:p>
            <a:pPr algn="l" lvl="1">
              <a:lnSpc>
                <a:spcPct val="122000"/>
              </a:lnSpc>
              <a:spcAft>
                <a:spcPts val="500"/>
              </a:spcAft>
            </a:pPr>
            <a:r>
              <a:rPr sz="1600" b="0" i="0">
                <a:solidFill>
                  <a:srgbClr val="798290"/>
                </a:solidFill>
                <a:latin typeface="Calibri"/>
              </a:rPr>
              <a:t>–  One infinite loop would hang the machine. That was cooperative multitasking, and it is why Windows 3.1 froze.</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The timer interrupt gives the kernel control back unconditionally.</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Preemptive</a:t>
            </a:r>
            <a:r>
              <a:rPr sz="1800" b="0" i="0">
                <a:solidFill>
                  <a:srgbClr val="3C4555"/>
                </a:solidFill>
                <a:latin typeface="Calibri"/>
              </a:rPr>
              <a:t> multitasking is exactly this: the kernel can take the CPU away whether the process cooperates or not.</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Everything in Module 03 depends on it.</a:t>
            </a:r>
          </a:p>
        </p:txBody>
      </p:sp>
      <p:sp>
        <p:nvSpPr>
          <p:cNvPr id="7" name="TextBox 6"/>
          <p:cNvSpPr txBox="1"/>
          <p:nvPr/>
        </p:nvSpPr>
        <p:spPr>
          <a:xfrm>
            <a:off x="566928" y="5989320"/>
            <a:ext cx="10789920" cy="365760"/>
          </a:xfrm>
          <a:prstGeom prst="rect">
            <a:avLst/>
          </a:prstGeom>
          <a:noFill/>
        </p:spPr>
        <p:txBody>
          <a:bodyPr wrap="square" anchor="t" lIns="0" rIns="0" tIns="0" bIns="0">
            <a:spAutoFit/>
          </a:bodyPr>
          <a:lstStyle/>
          <a:p>
            <a:pPr algn="l">
              <a:lnSpc>
                <a:spcPct val="100000"/>
              </a:lnSpc>
            </a:pPr>
            <a:r>
              <a:rPr sz="1050" b="0" i="1">
                <a:solidFill>
                  <a:srgbClr val="798290"/>
                </a:solidFill>
                <a:latin typeface="Calibri"/>
              </a:rPr>
              <a:t>A scheduler without a timer is a suggestion.</a:t>
            </a:r>
          </a:p>
        </p:txBody>
      </p:sp>
      <p:sp>
        <p:nvSpPr>
          <p:cNvPr id="8" name="TextBox 7"/>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9" name="TextBox 8"/>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STRUCTURE</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Where the kernel sits</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a:t>
            </a:r>
            <a:r>
              <a:rPr sz="1800" b="1" i="0">
                <a:solidFill>
                  <a:srgbClr val="3C4555"/>
                </a:solidFill>
                <a:latin typeface="Calibri"/>
              </a:rPr>
              <a:t>Monolithic</a:t>
            </a:r>
            <a:r>
              <a:rPr sz="1800" b="0" i="0">
                <a:solidFill>
                  <a:srgbClr val="3C4555"/>
                </a:solidFill>
                <a:latin typeface="Calibri"/>
              </a:rPr>
              <a:t> — drivers and file systems run in kernel mode. Fast; a driver bug takes down the machine. (Linux, Windows, xv6.)</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Microkernel</a:t>
            </a:r>
            <a:r>
              <a:rPr sz="1800" b="0" i="0">
                <a:solidFill>
                  <a:srgbClr val="3C4555"/>
                </a:solidFill>
                <a:latin typeface="Calibri"/>
              </a:rPr>
              <a:t> — only IPC, scheduling, and memory in the kernel; everything else is a user process. Robust; IPC cost. (seL4, QNX, Minix.)</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Hybrid</a:t>
            </a:r>
            <a:r>
              <a:rPr sz="1800" b="0" i="0">
                <a:solidFill>
                  <a:srgbClr val="3C4555"/>
                </a:solidFill>
                <a:latin typeface="Calibri"/>
              </a:rPr>
              <a:t> — mostly monolithic with some services moved out. (macOS/XNU.)</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Module 13 returns to this. For now: xv6 is monolithic and small enough to read entirely.</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10515600" cy="685800"/>
          </a:xfrm>
          <a:prstGeom prst="rect">
            <a:avLst/>
          </a:prstGeom>
          <a:noFill/>
        </p:spPr>
        <p:txBody>
          <a:bodyPr wrap="square" anchor="t" lIns="0" rIns="0" tIns="0" bIns="0">
            <a:spAutoFit/>
          </a:bodyPr>
          <a:lstStyle/>
          <a:p>
            <a:pPr algn="l">
              <a:lnSpc>
                <a:spcPct val="100000"/>
              </a:lnSpc>
            </a:pPr>
            <a:r>
              <a:rPr sz="2900" b="1" i="0">
                <a:solidFill>
                  <a:srgbClr val="FFFFFF"/>
                </a:solidFill>
                <a:latin typeface="Georgia"/>
              </a:rPr>
              <a:t>What to carry forward</a:t>
            </a:r>
          </a:p>
        </p:txBody>
      </p:sp>
      <p:sp>
        <p:nvSpPr>
          <p:cNvPr id="5" name="Rectangle 4"/>
          <p:cNvSpPr/>
          <p:nvPr/>
        </p:nvSpPr>
        <p:spPr>
          <a:xfrm>
            <a:off x="822960" y="1481328"/>
            <a:ext cx="1371600" cy="320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206240"/>
          </a:xfrm>
          <a:prstGeom prst="rect">
            <a:avLst/>
          </a:prstGeom>
          <a:noFill/>
        </p:spPr>
        <p:txBody>
          <a:bodyPr wrap="square" anchor="t" lIns="0" rIns="0" tIns="0" bIns="0">
            <a:spAutoFit/>
          </a:bodyPr>
          <a:lstStyle/>
          <a:p>
            <a:pPr algn="l">
              <a:lnSpc>
                <a:spcPct val="125000"/>
              </a:lnSpc>
              <a:spcAft>
                <a:spcPts val="1300"/>
              </a:spcAft>
            </a:pPr>
            <a:r>
              <a:rPr sz="1700" b="0" i="0">
                <a:solidFill>
                  <a:srgbClr val="D6DCE6"/>
                </a:solidFill>
                <a:latin typeface="Calibri"/>
              </a:rPr>
              <a:t>1.  An OS abstracts hardware into programmable objects and arbitrates between programs that would otherwise interfere.</a:t>
            </a:r>
          </a:p>
          <a:p>
            <a:pPr algn="l">
              <a:lnSpc>
                <a:spcPct val="125000"/>
              </a:lnSpc>
              <a:spcAft>
                <a:spcPts val="1300"/>
              </a:spcAft>
            </a:pPr>
            <a:r>
              <a:rPr sz="1700" b="0" i="0">
                <a:solidFill>
                  <a:srgbClr val="D6DCE6"/>
                </a:solidFill>
                <a:latin typeface="Calibri"/>
              </a:rPr>
              <a:t>2.  The kernel maintains illusions — whole CPU, contiguous private memory, durable writes — and every one of them leaks somewhere.</a:t>
            </a:r>
          </a:p>
          <a:p>
            <a:pPr algn="l">
              <a:lnSpc>
                <a:spcPct val="125000"/>
              </a:lnSpc>
              <a:spcAft>
                <a:spcPts val="1300"/>
              </a:spcAft>
            </a:pPr>
            <a:r>
              <a:rPr sz="1700" b="0" i="0">
                <a:solidFill>
                  <a:srgbClr val="D6DCE6"/>
                </a:solidFill>
                <a:latin typeface="Calibri"/>
              </a:rPr>
              <a:t>3.  Isolation requires hardware support: user and supervisor modes, with privileged instructions trapping.</a:t>
            </a:r>
          </a:p>
          <a:p>
            <a:pPr algn="l">
              <a:lnSpc>
                <a:spcPct val="125000"/>
              </a:lnSpc>
              <a:spcAft>
                <a:spcPts val="1300"/>
              </a:spcAft>
            </a:pPr>
            <a:r>
              <a:rPr sz="1700" b="0" i="0">
                <a:solidFill>
                  <a:srgbClr val="D6DCE6"/>
                </a:solidFill>
                <a:latin typeface="Calibri"/>
              </a:rPr>
              <a:t>4.  User code can enter the kernel only at addresses the kernel chose. That one-way door is the entire security boundary.</a:t>
            </a:r>
          </a:p>
          <a:p>
            <a:pPr algn="l">
              <a:lnSpc>
                <a:spcPct val="125000"/>
              </a:lnSpc>
              <a:spcAft>
                <a:spcPts val="1300"/>
              </a:spcAft>
            </a:pPr>
            <a:r>
              <a:rPr sz="1700" b="0" i="0">
                <a:solidFill>
                  <a:srgbClr val="D6DCE6"/>
                </a:solidFill>
                <a:latin typeface="Calibri"/>
              </a:rPr>
              <a:t>5.  Every user pointer is untrusted input. Validate it, and copy rather than using it in place, or you have a TOCTOU bug.</a:t>
            </a:r>
          </a:p>
          <a:p>
            <a:pPr algn="l">
              <a:lnSpc>
                <a:spcPct val="125000"/>
              </a:lnSpc>
              <a:spcAft>
                <a:spcPts val="1300"/>
              </a:spcAft>
            </a:pPr>
            <a:r>
              <a:rPr sz="1700" b="0" i="0">
                <a:solidFill>
                  <a:srgbClr val="D6DCE6"/>
                </a:solidFill>
                <a:latin typeface="Calibri"/>
              </a:rPr>
              <a:t>6.  The timer interrupt is what makes preemption possible. Without it a single infinite loop hangs the machine.</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611 · Operating Systems  —  Module 01</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