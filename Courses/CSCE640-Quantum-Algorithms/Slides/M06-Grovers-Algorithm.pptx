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State the outcomes before the content. Every slide that follows exists to serve one of these.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Project 1 asks you to plot exactly this curve, including the decline.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868680"/>
            <a:ext cx="9601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UNIVERSITY OF CLAUDE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417320"/>
            <a:ext cx="9601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A9B4C4"/>
                </a:solidFill>
                <a:latin typeface="Calibri"/>
              </a:rPr>
              <a:t>CSCE 640 — Quantum Algorithms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148840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F6B68"/>
                </a:solidFill>
                <a:latin typeface="Calibri"/>
              </a:rPr>
              <a:t>MODULE 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606040"/>
            <a:ext cx="1024128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1" i="0">
                <a:solidFill>
                  <a:srgbClr val="FFFFFF"/>
                </a:solidFill>
                <a:latin typeface="Georgia"/>
              </a:rPr>
              <a:t>Grover's Algorithm</a:t>
            </a:r>
          </a:p>
        </p:txBody>
      </p:sp>
      <p:sp>
        <p:nvSpPr>
          <p:cNvPr id="8" name="Rectangle 7"/>
          <p:cNvSpPr/>
          <p:nvPr/>
        </p:nvSpPr>
        <p:spPr>
          <a:xfrm>
            <a:off x="1005840" y="4526280"/>
            <a:ext cx="2377440" cy="41148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4800600"/>
            <a:ext cx="95097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1">
                <a:solidFill>
                  <a:srgbClr val="9AA5B5"/>
                </a:solidFill>
                <a:latin typeface="Calibri"/>
              </a:rPr>
              <a:t>Quadratic, optimal, and frequently not enough.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608076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E697A"/>
                </a:solidFill>
                <a:latin typeface="Calibri"/>
              </a:rPr>
              <a:t>CSCE 640 · Module 06 of 13 · original material, share freely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MODULE OUTCOMES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What you will be able to do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901952"/>
            <a:ext cx="10789920" cy="404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Derive Grover's algorithm as a rotation.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Explain the iteration count and the overshoot.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Generalise to amplitude amplification.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State and explain the optimality lower bound.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Assess when a quadratic speedup is worth having.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640 · Quantum Algorithms  —  Module 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The problem and the idea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Search with no structure at all.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640 · Quantum Algorithms  —  Module 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Given an oracle marking one of N items, find it — and the quantum algorithm is a rotation in a two-dimensional plane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16736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91056"/>
            <a:ext cx="11064240" cy="42611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64008" cy="42611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11095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29B3F"/>
                </a:solidFill>
                <a:latin typeface="Calibri"/>
              </a:rPr>
              <a:t>THE SETUP AND THE KEY SIMPLIFICATION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68296"/>
            <a:ext cx="10058400" cy="3163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Classically this takes N/2 queries on average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and N in the worst case;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there is nothing to exploit, which is what 'unstructured' means.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The quantum algorithm takes about π/4 times the square root of N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a quadratic improvement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and the derivation is unusually clean.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Because the whole evolution stays in the plane spanned by two vectors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: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the marked state, and the uniform superposition over the unmarked ones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So the algorithm is a rotation in that plane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two reflections make a rotation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and each Grover iteration is exactly two reflections.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640 · Quantum Algorithms  —  Module 06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The iteration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Two reflections, and the angle.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640 · Quantum Algorithms  —  Module 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GROVER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The iteration, and the count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901952"/>
            <a:ext cx="110642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901952"/>
            <a:ext cx="45720" cy="658368"/>
          </a:xfrm>
          <a:prstGeom prst="rect">
            <a:avLst/>
          </a:prstGeom>
          <a:solidFill>
            <a:srgbClr val="1F6B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993392"/>
            <a:ext cx="10515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141924"/>
                </a:solidFill>
                <a:latin typeface="Consolas"/>
              </a:rPr>
              <a:t>G = (reflect about uniform) · (reflect about unmarked)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578608"/>
            <a:ext cx="10424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1">
                <a:solidFill>
                  <a:srgbClr val="798290"/>
                </a:solidFill>
                <a:latin typeface="Calibri"/>
              </a:rPr>
              <a:t>The phase oracle reflects about the unmarked subspace; the diffusion operator reflects about the uniform state. Two reflections compose to a rotation.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3127248"/>
            <a:ext cx="110642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3127248"/>
            <a:ext cx="45720" cy="658368"/>
          </a:xfrm>
          <a:prstGeom prst="rect">
            <a:avLst/>
          </a:prstGeom>
          <a:solidFill>
            <a:srgbClr val="1F6B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218688"/>
            <a:ext cx="10515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141924"/>
                </a:solidFill>
                <a:latin typeface="Consolas"/>
              </a:rPr>
              <a:t>rotation angle θ with sin(θ/2) = 1/√N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803904"/>
            <a:ext cx="10424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1">
                <a:solidFill>
                  <a:srgbClr val="798290"/>
                </a:solidFill>
                <a:latin typeface="Calibri"/>
              </a:rPr>
              <a:t>Each iteration rotates the state by θ toward the marked state. The start is almost perpendicular to it.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352544"/>
            <a:ext cx="110642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66928" y="4352544"/>
            <a:ext cx="45720" cy="658368"/>
          </a:xfrm>
          <a:prstGeom prst="rect">
            <a:avLst/>
          </a:prstGeom>
          <a:solidFill>
            <a:srgbClr val="1F6B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4443983"/>
            <a:ext cx="10515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141924"/>
                </a:solidFill>
                <a:latin typeface="Consolas"/>
              </a:rPr>
              <a:t>iterations ≈ (π/4)√N, and overshooting rotates past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029200"/>
            <a:ext cx="10424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1">
                <a:solidFill>
                  <a:srgbClr val="798290"/>
                </a:solidFill>
                <a:latin typeface="Calibri"/>
              </a:rPr>
              <a:t>Success probability rises to near 1 and then falls again, periodically. It is geometry, not accumulation.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5669279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 i="1">
                <a:solidFill>
                  <a:srgbClr val="798290"/>
                </a:solidFill>
                <a:latin typeface="Calibri"/>
              </a:rPr>
              <a:t>Overshooting rotates past the marked state and the success probability falls</a:t>
            </a:r>
            <a:r>
              <a:rPr sz="1250" b="0" i="1">
                <a:solidFill>
                  <a:srgbClr val="798290"/>
                </a:solidFill>
                <a:latin typeface="Calibri"/>
              </a:rPr>
              <a:t> — which is the result that proves this is a rotation.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640 · Quantum Algorithms  —  Module 06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And amplitude amplification is the same thing, generalised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16736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91056"/>
            <a:ext cx="11064240" cy="42611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64008" cy="42611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11095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29B3F"/>
                </a:solidFill>
                <a:latin typeface="Calibri"/>
              </a:rPr>
              <a:t>WHY GROVER IS A TEMPLATE RATHER THAN ONE ALGORITHM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68296"/>
            <a:ext cx="10058400" cy="3163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Replace 'uniform superposition' with any state preparation A, and 'marked' with any verifiable property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and the same two reflections apply.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Which turns any classical algorithm that succeeds with probability p into a quantum one with about 1 over the square root of p repetitions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rather than 1 over p.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So it is a generic quadratic speedup over any Monte Carlo procedure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which is the broadest applicability of anything in this course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(CSCE 658's algorithms are all candidates).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And it composes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: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amplitude estimation gives a quadratic improvement in estimating p itself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which is where several proposed applications come from, and where Part 4's caution applies hardest.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640 · Quantum Algorithms  —  Module 06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Optimality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Why quadratic is the ceiling.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640 · Quantum Algorithms  —  Module 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No quantum algorithm can search N unstructured items in fewer than order √N queries, and this is a theorem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16736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91056"/>
            <a:ext cx="11064240" cy="42611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64008" cy="42611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11095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29B3F"/>
                </a:solidFill>
                <a:latin typeface="Calibri"/>
              </a:rPr>
              <a:t>THE MOST IMPORTANT NEGATIVE RESULT IN THE SUBJECT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68296"/>
            <a:ext cx="10058400" cy="3163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The bound predates Grover's algorithm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Bennett, Bernstein, Brassard and Vazirani proved it first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so the algorithm was known to be optimal when it appeared.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The argument is a hybrid or polynomial argument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: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each query can only change the state by a bounded amount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so distinguishing N cases needs order √N of them.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Which rules out exponential speedup for NP-complete problems </a:t>
            </a:r>
            <a:r>
              <a:rPr sz="1600" b="1" i="1">
                <a:solidFill>
                  <a:srgbClr val="141924"/>
                </a:solidFill>
                <a:latin typeface="Georgia"/>
              </a:rPr>
              <a:t>by brute-force search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and brute-force search is what the tries-all-answers picture implicitly promised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(Module 01 §2).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And it does not rule out an exponential speedup via structure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it says only that search alone will not do it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which is the precise and frequently misstated content of the result.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640 · Quantum Algorithms  —  Module 06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Is quadratic worth it?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Honestly, and usually not.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640 · Quantum Algorithms  —  Module 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ASSESSMENT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What a quadratic speedup survives, and what eats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901952"/>
            <a:ext cx="10789920" cy="404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6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The error-correction overhead is large</a:t>
            </a:r>
            <a:r>
              <a:rPr sz="1600" b="0" i="0">
                <a:solidFill>
                  <a:srgbClr val="3C4555"/>
                </a:solidFill>
                <a:latin typeface="Calibri"/>
              </a:rPr>
              <a:t> (Module 10 §4) —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and a quadratic speedup with a thousandfold constant-factor penalty needs an enormous N before it wins.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6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Grover does not parallelise well</a:t>
            </a:r>
            <a:r>
              <a:rPr sz="1600" b="0" i="0">
                <a:solidFill>
                  <a:srgbClr val="3C4555"/>
                </a:solidFill>
                <a:latin typeface="Calibri"/>
              </a:rPr>
              <a:t> —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k machines give only a √k improvement</a:t>
            </a:r>
            <a:r>
              <a:rPr sz="1600" b="0" i="0">
                <a:solidFill>
                  <a:srgbClr val="3C4555"/>
                </a:solidFill>
                <a:latin typeface="Calibri"/>
              </a:rPr>
              <a:t>, while classical search parallelises linearly, which erodes the advantage further.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6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And the oracle must be built</a:t>
            </a:r>
            <a:r>
              <a:rPr sz="1600" b="0" i="0">
                <a:solidFill>
                  <a:srgbClr val="3C4555"/>
                </a:solidFill>
                <a:latin typeface="Calibri"/>
              </a:rPr>
              <a:t> (Module 03 §3) —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its circuit is evaluated coherently, which is more expensive than a classical evaluation.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6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So the published analyses are pessimistic</a:t>
            </a:r>
            <a:r>
              <a:rPr sz="1600" b="0" i="0">
                <a:solidFill>
                  <a:srgbClr val="3C4555"/>
                </a:solidFill>
                <a:latin typeface="Calibri"/>
              </a:rPr>
              <a:t> —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for many proposed applications, classical hardware wins at every feasible problem size</a:t>
            </a:r>
            <a:r>
              <a:rPr sz="1600" b="0" i="0">
                <a:solidFill>
                  <a:srgbClr val="3C4555"/>
                </a:solidFill>
                <a:latin typeface="Calibri"/>
              </a:rPr>
              <a:t>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6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Which does not make it useless</a:t>
            </a:r>
            <a:r>
              <a:rPr sz="1600" b="0" i="0">
                <a:solidFill>
                  <a:srgbClr val="3C4555"/>
                </a:solidFill>
                <a:latin typeface="Calibri"/>
              </a:rPr>
              <a:t>: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it halves symmetric key security exponents</a:t>
            </a:r>
            <a:r>
              <a:rPr sz="1600" b="0" i="0">
                <a:solidFill>
                  <a:srgbClr val="3C4555"/>
                </a:solidFill>
                <a:latin typeface="Calibri"/>
              </a:rPr>
              <a:t>, which is a real and already-accounted-for consequence.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598932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1">
                <a:solidFill>
                  <a:srgbClr val="798290"/>
                </a:solidFill>
                <a:latin typeface="Calibri"/>
              </a:rPr>
              <a:t>Grover parallelises poorly — k machines buy only √k</a:t>
            </a:r>
            <a:r>
              <a:rPr sz="1050" b="0" i="1">
                <a:solidFill>
                  <a:srgbClr val="798290"/>
                </a:solidFill>
                <a:latin typeface="Calibri"/>
              </a:rPr>
              <a:t> — which is a specific and under-reported reason the advantage erodes against classical clusters.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640 · Quantum Algorithms  —  Module 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And the honest summary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16736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91056"/>
            <a:ext cx="11064240" cy="42611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64008" cy="42611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11095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29B3F"/>
                </a:solidFill>
                <a:latin typeface="Calibri"/>
              </a:rPr>
              <a:t>CLOSING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68296"/>
            <a:ext cx="10058400" cy="3163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Grover is beautiful, general, provably optimal, and probably not where the value is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all four at once.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Its real importance is the lower bound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which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tells you where not to look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: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any claim of exponential advantage by searching is wrong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immediately and provably.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And its secondary importance is amplitude amplification as a template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(Part 2)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which is the thing to reach for when a classical randomised algorithm is the baseline.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So the lesson is Module 01 §3's, sharpened: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structure is what buys exponential advantage, and search is the absence of structure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which is why Modules 07 and 08 are the important ones.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640 · Quantum Algorithms  —  Module 06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85800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 i="0">
                <a:solidFill>
                  <a:srgbClr val="FFFFFF"/>
                </a:solidFill>
                <a:latin typeface="Georgia"/>
              </a:rPr>
              <a:t>What to carry forward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481328"/>
            <a:ext cx="1371600" cy="320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828800"/>
            <a:ext cx="1042416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1.  Grover's evolution stays in a two-dimensional plane, so the algorithm is a rotation and two reflections make each iteration.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2.  Overshooting rotates past the marked state and the success probability falls, which proves it is geometry rather than accumulation.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3.  Amplitude amplification generalises it: any classical procedure succeeding with probability p needs about 1/√p repetitions.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4.  Order √N is a proven lower bound, and it predates the algorithm.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5.  The bound rules out exponential speedup for NP-complete problems by brute-force search, and nothing more than that.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6.  Grover parallelises poorly — k machines buy only √k — which erodes the advantage against classical clusters.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640 · Quantum Algorithms  —  Module 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