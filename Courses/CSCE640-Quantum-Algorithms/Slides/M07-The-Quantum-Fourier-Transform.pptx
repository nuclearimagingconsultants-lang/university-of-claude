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State the outcomes before the content. Every slide that follows exists to serve one of these.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Period becomes peak: that is the sentence to remember.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868680"/>
            <a:ext cx="9601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UNIVERSITY OF CLAUDE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1417320"/>
            <a:ext cx="9601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A9B4C4"/>
                </a:solidFill>
                <a:latin typeface="Calibri"/>
              </a:rPr>
              <a:t>CSCE 640 — Quantum Algorithms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2148840"/>
            <a:ext cx="100584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1F6B68"/>
                </a:solidFill>
                <a:latin typeface="Calibri"/>
              </a:rPr>
              <a:t>MODULE 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606040"/>
            <a:ext cx="1024128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i="0">
                <a:solidFill>
                  <a:srgbClr val="FFFFFF"/>
                </a:solidFill>
                <a:latin typeface="Georgia"/>
              </a:rPr>
              <a:t>The Quantum Fourier Transform</a:t>
            </a:r>
          </a:p>
        </p:txBody>
      </p:sp>
      <p:sp>
        <p:nvSpPr>
          <p:cNvPr id="8" name="Rectangle 7"/>
          <p:cNvSpPr/>
          <p:nvPr/>
        </p:nvSpPr>
        <p:spPr>
          <a:xfrm>
            <a:off x="1005840" y="4526280"/>
            <a:ext cx="2377440" cy="41148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4800600"/>
            <a:ext cx="95097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1">
                <a:solidFill>
                  <a:srgbClr val="9AA5B5"/>
                </a:solidFill>
                <a:latin typeface="Calibri"/>
              </a:rPr>
              <a:t>The one piece of machinery that buys an exponential advantage.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6080760"/>
            <a:ext cx="10058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E697A"/>
                </a:solidFill>
                <a:latin typeface="Calibri"/>
              </a:rPr>
              <a:t>CSCE 640 · Module 07 of 13 · original material, share freely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MODULE OUTCOMES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What you will be able to do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Define the QFT and state what it does to a periodic state.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Derive its efficient circuit.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why the exponential-size transform is cheap.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Explain what the QFT does not give you.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800" b="0" i="0">
                <a:solidFill>
                  <a:srgbClr val="3C4555"/>
                </a:solidFill>
                <a:latin typeface="Calibri"/>
              </a:rPr>
              <a:t>▪  Implement and verify it.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transform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why it is the right tool for periodicity.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DEFINITION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QFT, and its effect on a period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901952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993392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QFT: |x&gt; → (1/√N) Σ_y ω^(xy) |y&gt;,  ω = e^(2πi/N),  N = 2ⁿ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578608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The discrete Fourier transform, applied to the amplitude vector rather than to a list of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27248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127248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8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on a periodic state with period r, amplitude concentrates at y ≈ k·N/r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803904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Because the terms at other y have phases spread uniformly around the circle and sum to nearly zero — Module 04's cancellation, in its most useful instance.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352544"/>
            <a:ext cx="11064240" cy="658368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66928" y="4352544"/>
            <a:ext cx="45720" cy="658368"/>
          </a:xfrm>
          <a:prstGeom prst="rect">
            <a:avLst/>
          </a:prstGeom>
          <a:solidFill>
            <a:srgbClr val="1F6B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68680" y="4443983"/>
            <a:ext cx="10515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0" i="0">
                <a:solidFill>
                  <a:srgbClr val="141924"/>
                </a:solidFill>
                <a:latin typeface="Consolas"/>
              </a:rPr>
              <a:t>so measuring y gives an estimate of a multiple of N/r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" y="5029200"/>
            <a:ext cx="1042416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1">
                <a:solidFill>
                  <a:srgbClr val="798290"/>
                </a:solidFill>
                <a:latin typeface="Calibri"/>
              </a:rPr>
              <a:t>One random multiple per run, from which r is recovered by continued fractions (Module 08).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669279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QFT converts a period in the amplitudes into a peak in the outcome distribution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the whole reason it matters.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And the classical comparison is the thing to be careful about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WHAT THE QFT IS AND IS NOT FASTER THAN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QFT acts on a vector of 2 to the n amplitudes using O(n²) gates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which looks like an exponential speedup over the classical FFT's O(N log N).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not one, in the usable sense: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cannot read out the transformed vector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one measurement gives one sample from it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(Module 02 §2).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QFT is not a faster Fourier transform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it is a device for making a period detectable in a single sample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a narrower and genuinely useful thing.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most important caveat in the course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because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'quantum computers do Fourier transforms exponentially faster' is a claim people build application proposals 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and it does not mean what it appears 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The circuit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Which is short, and derivable.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CIRCUIT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Why O(n²) gates suffice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901952"/>
            <a:ext cx="11064240" cy="3904487"/>
          </a:xfrm>
          <a:prstGeom prst="rect">
            <a:avLst/>
          </a:prstGeom>
          <a:solidFill>
            <a:srgbClr val="1B21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515600" y="2011680"/>
            <a:ext cx="1005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b="0" i="0">
                <a:solidFill>
                  <a:srgbClr val="C29B3F"/>
                </a:solidFill>
                <a:latin typeface="Consolas"/>
              </a:rPr>
              <a:t>text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084832"/>
            <a:ext cx="10515600" cy="3630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KEY FACTORISATION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the QFT's output amplitude factorises across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output qubits -- each output bit's state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depends on the input through a product of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phases. So the transform is a PRODUCT of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single-qubit operations with phase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corrections, not a general 2^n matrix.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THE CIRCUIT, for qubit j from most significant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1  H on qubit j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2  controlled-R_k from each less significant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   qubit, k = 2, 3, ..., with phase 2 pi / 2^k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3  move to the next qubit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4  reverse the qubit order at the end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GATE COUNT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n Hadamards + n(n-1)/2 controlled rotations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= O(n^2)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AND THE SMALL ROTATIONS CAN BE DROPPED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phases below the accuracy you need contribute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negligibly: the approximate QFT uses</a:t>
            </a:r>
          </a:p>
          <a:p>
            <a:pPr algn="l">
              <a:lnSpc>
                <a:spcPct val="105000"/>
              </a:lnSpc>
            </a:pPr>
            <a:r>
              <a:rPr sz="932" b="0" i="0">
                <a:solidFill>
                  <a:srgbClr val="E4E8EF"/>
                </a:solidFill>
                <a:latin typeface="Consolas"/>
              </a:rPr>
              <a:t>      O(n log n) gates, which matters a lot (M10)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5971031"/>
            <a:ext cx="107899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1">
                <a:solidFill>
                  <a:srgbClr val="798290"/>
                </a:solidFill>
                <a:latin typeface="Calibri"/>
              </a:rPr>
              <a:t>The approximate QFT drops the tiny rotations and uses O(n log n) gates</a:t>
            </a:r>
            <a:r>
              <a:rPr sz="1250" b="0" i="1">
                <a:solidFill>
                  <a:srgbClr val="798290"/>
                </a:solidFill>
                <a:latin typeface="Calibri"/>
              </a:rPr>
              <a:t> — which is what makes Shor's circuit depth tolerable.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Because the transform factorises, which is also why the classical FFT is fast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THE SHARED STRUCTURE WORTH NOTICING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 classical FFT is fast for the same structural reason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the DFT matrix factors into sparse pieces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the quantum circuit is that same factorisation realised as gates.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reassuring: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no new mathematical magic is involved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only the fact that a unitary with this structure has a short circuit.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it is a general lesson: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 unitary has an efficient circuit when it factorises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is rare (Module 03 §1's counting argument) and is why algorithms are scarce.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So the QFT is precious precisely because it is both cheap and useful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most unitaries are neither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and this one underwrites the subject's one dramatic result.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What it gives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what it does not.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0789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0">
                <a:solidFill>
                  <a:srgbClr val="B03F2B"/>
                </a:solidFill>
                <a:latin typeface="Calibri"/>
              </a:rPr>
              <a:t>SCOPE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786384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The QFT's actual uses, and the non-uses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566928" y="1627632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13232" y="1901952"/>
            <a:ext cx="10789920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Period finding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which is phase estimation, which is Shor —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one chain in this subject that leads to a superpolynomial advantage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08).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The hidden subgroup problem over abelian groups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generalises it, and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whose non-abelian cases are open and would matter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(graph isomorphism, lattice problems).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that is approximately the list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— which is worth stating plainly, because the QFT's prominence suggests a wider applicability than it has.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It does not give you signal processing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because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you cannot read out the spectrum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(Part 1).</a:t>
            </a:r>
          </a:p>
          <a:p>
            <a:pPr algn="l">
              <a:lnSpc>
                <a:spcPct val="100000"/>
              </a:lnSpc>
            </a:pPr>
            <a:r>
              <a:rPr sz="600" b="0" i="0">
                <a:solidFill>
                  <a:srgbClr val="3C4555"/>
                </a:solidFill>
                <a:latin typeface="Calibri"/>
              </a:rPr>
              <a:t> </a:t>
            </a:r>
          </a:p>
          <a:p>
            <a:pPr algn="l">
              <a:lnSpc>
                <a:spcPct val="122000"/>
              </a:lnSpc>
              <a:spcAft>
                <a:spcPts val="900"/>
              </a:spcAft>
            </a:pPr>
            <a:r>
              <a:rPr sz="1750" b="0" i="0">
                <a:solidFill>
                  <a:srgbClr val="3C4555"/>
                </a:solidFill>
                <a:latin typeface="Calibri"/>
              </a:rPr>
              <a:t>▪ 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And it does not give you data analysis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, for the same reason plus the input problem: </a:t>
            </a:r>
            <a:r>
              <a:rPr sz="1750" b="1" i="0">
                <a:solidFill>
                  <a:srgbClr val="3C4555"/>
                </a:solidFill>
                <a:latin typeface="Calibri"/>
              </a:rPr>
              <a:t>loading classical data into amplitudes is itself expensive</a:t>
            </a:r>
            <a:r>
              <a:rPr sz="1750" b="0" i="0">
                <a:solidFill>
                  <a:srgbClr val="3C4555"/>
                </a:solidFill>
                <a:latin typeface="Calibri"/>
              </a:rPr>
              <a:t> (Module 11 §4).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5989320"/>
            <a:ext cx="10789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 i="1">
                <a:solidFill>
                  <a:srgbClr val="798290"/>
                </a:solidFill>
                <a:latin typeface="Calibri"/>
              </a:rPr>
              <a:t>Loading classical data into amplitudes is itself expensive</a:t>
            </a:r>
            <a:r>
              <a:rPr sz="1050" b="0" i="1">
                <a:solidFill>
                  <a:srgbClr val="798290"/>
                </a:solidFill>
                <a:latin typeface="Calibri"/>
              </a:rPr>
              <a:t> — which is the input problem, and it undermines most proposed data-analysis applications.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2C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05840" y="22402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C29B3F"/>
                </a:solidFill>
                <a:latin typeface="Calibri"/>
              </a:rPr>
              <a:t>PART 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697480"/>
            <a:ext cx="100584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3600" b="1" i="0">
                <a:solidFill>
                  <a:srgbClr val="FFFFFF"/>
                </a:solidFill>
                <a:latin typeface="Georgia"/>
              </a:rPr>
              <a:t>Implementing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977639"/>
            <a:ext cx="93268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500" b="0" i="0">
                <a:solidFill>
                  <a:srgbClr val="9AA5B5"/>
                </a:solidFill>
                <a:latin typeface="Calibri"/>
              </a:rPr>
              <a:t>And how to know it is right.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8F6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475488"/>
            <a:ext cx="1106424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2700" b="1" i="0">
                <a:solidFill>
                  <a:srgbClr val="141924"/>
                </a:solidFill>
                <a:latin typeface="Georgia"/>
              </a:rPr>
              <a:t>Verify the QFT on a known period before building anything on it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316736"/>
            <a:ext cx="1371600" cy="320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591056"/>
            <a:ext cx="11064240" cy="4261104"/>
          </a:xfrm>
          <a:prstGeom prst="rect">
            <a:avLst/>
          </a:prstGeom>
          <a:solidFill>
            <a:srgbClr val="FFFFFF"/>
          </a:solidFill>
          <a:ln w="12700">
            <a:solidFill>
              <a:srgbClr val="E2DED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591056"/>
            <a:ext cx="64008" cy="42611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11095"/>
            <a:ext cx="102412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C29B3F"/>
                </a:solidFill>
                <a:latin typeface="Calibri"/>
              </a:rPr>
              <a:t>CLOSING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368296"/>
            <a:ext cx="10058400" cy="316382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Prepare a state periodic with a known 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apply your QFT, and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check that the outcome distribution peaks at multiples of N/r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which is a complete functional test.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And check the inverse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: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QFT followed by inverse QFT must be the identity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catches qubit ordering errors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and the final bit-reversal is where they live.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Then compare against the classical FFT of your amplitude vector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your simulator has the whole vector, so you can check it exactly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, which real hardware cannot.</a:t>
            </a:r>
          </a:p>
          <a:p>
            <a:pPr algn="l">
              <a:lnSpc>
                <a:spcPct val="135000"/>
              </a:lnSpc>
              <a:spcAft>
                <a:spcPts val="1200"/>
              </a:spcAft>
            </a:pPr>
            <a:r>
              <a:rPr sz="1600" b="1" i="0">
                <a:solidFill>
                  <a:srgbClr val="141924"/>
                </a:solidFill>
                <a:latin typeface="Georgia"/>
              </a:rPr>
              <a:t>Which is the practical value of having written Module 02 §4's simulator: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</a:t>
            </a:r>
            <a:r>
              <a:rPr sz="1600" b="1" i="0">
                <a:solidFill>
                  <a:srgbClr val="141924"/>
                </a:solidFill>
                <a:latin typeface="Georgia"/>
              </a:rPr>
              <a:t>you can see the amplitudes that the model says are unobservable</a:t>
            </a:r>
            <a:r>
              <a:rPr sz="1600" b="0" i="0">
                <a:solidFill>
                  <a:srgbClr val="141924"/>
                </a:solidFill>
                <a:latin typeface="Georgia"/>
              </a:rPr>
              <a:t> — and that is how to debug an algorithm before trusting it.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798290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19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B03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85800"/>
            <a:ext cx="105156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900" b="1" i="0">
                <a:solidFill>
                  <a:srgbClr val="FFFFFF"/>
                </a:solidFill>
                <a:latin typeface="Georgia"/>
              </a:rPr>
              <a:t>What to carry forward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481328"/>
            <a:ext cx="1371600" cy="32004"/>
          </a:xfrm>
          <a:prstGeom prst="rect">
            <a:avLst/>
          </a:prstGeom>
          <a:solidFill>
            <a:srgbClr val="C29B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828800"/>
            <a:ext cx="10424160" cy="4206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1.  The QFT converts a period in the amplitudes into a peak in the outcome distribution — period becomes peak.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2.  It is not a faster Fourier transform: you cannot read out the transformed vector, only sample from it.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3.  Its circuit is O(n²) because the transform factorises, which is the same reason the classical FFT is fast.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4.  The approximate QFT drops the tiny rotations and uses O(n log n) gates, which is what makes Shor's depth tolerable.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5.  A unitary has an efficient circuit when it factorises, which is rare — and is why useful algorithms are scarce.</a:t>
            </a:r>
          </a:p>
          <a:p>
            <a:pPr algn="l">
              <a:lnSpc>
                <a:spcPct val="125000"/>
              </a:lnSpc>
              <a:spcAft>
                <a:spcPts val="1300"/>
              </a:spcAft>
            </a:pPr>
            <a:r>
              <a:rPr sz="1700" b="0" i="0">
                <a:solidFill>
                  <a:srgbClr val="D6DCE6"/>
                </a:solidFill>
                <a:latin typeface="Calibri"/>
              </a:rPr>
              <a:t>6.  Loading classical data into amplitudes is itself expensive, which undermines most proposed data-analysis applications.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419088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CSCE 640 · Quantum Algorithms  —  Module 07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28655" y="6419088"/>
            <a:ext cx="914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900" b="0" i="0">
                <a:solidFill>
                  <a:srgbClr val="6E788A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