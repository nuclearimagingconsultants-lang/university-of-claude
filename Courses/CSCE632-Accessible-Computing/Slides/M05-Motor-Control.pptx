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five properties are reachable, visible, operable, escapable, skippable.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632 — Accessible Computing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Motor Control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Keyboard, targets, and time.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632 · Module 05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the range of motor requirements.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keyboard operability and focus management.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State the target size and pointer requirements.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timing requirements exclude people.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Test an interface with the mouse unplugged.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632 · Accessible Computing  —  Module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range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Which is wider than wheelchairs.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632 · Accessible Computing  —  Module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varies, and what each implies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50" b="1" i="0">
                <a:solidFill>
                  <a:srgbClr val="3C4555"/>
                </a:solidFill>
                <a:latin typeface="Calibri"/>
              </a:rPr>
              <a:t>Precision</a:t>
            </a:r>
            <a:r>
              <a:rPr sz="1650" b="0" i="0">
                <a:solidFill>
                  <a:srgbClr val="3C4555"/>
                </a:solidFill>
                <a:latin typeface="Calibri"/>
              </a:rPr>
              <a:t> — tremor, spasticity, or an unsteady pointer mean </a:t>
            </a:r>
            <a:r>
              <a:rPr sz="1650" b="1" i="0">
                <a:solidFill>
                  <a:srgbClr val="3C4555"/>
                </a:solidFill>
                <a:latin typeface="Calibri"/>
              </a:rPr>
              <a:t>a small target is unhittable</a:t>
            </a:r>
            <a:r>
              <a:rPr sz="1650" b="0" i="0">
                <a:solidFill>
                  <a:srgbClr val="3C4555"/>
                </a:solidFill>
                <a:latin typeface="Calibri"/>
              </a:rPr>
              <a:t>, which is Part 3's subject.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50" b="1" i="0">
                <a:solidFill>
                  <a:srgbClr val="3C4555"/>
                </a:solidFill>
                <a:latin typeface="Calibri"/>
              </a:rPr>
              <a:t>Range of motion</a:t>
            </a:r>
            <a:r>
              <a:rPr sz="1650" b="0" i="0">
                <a:solidFill>
                  <a:srgbClr val="3C4555"/>
                </a:solidFill>
                <a:latin typeface="Calibri"/>
              </a:rPr>
              <a:t> — a head pointer or a limited reach means </a:t>
            </a:r>
            <a:r>
              <a:rPr sz="1650" b="1" i="0">
                <a:solidFill>
                  <a:srgbClr val="3C4555"/>
                </a:solidFill>
                <a:latin typeface="Calibri"/>
              </a:rPr>
              <a:t>a target far from the current position is expensive</a:t>
            </a:r>
            <a:r>
              <a:rPr sz="1650" b="0" i="0">
                <a:solidFill>
                  <a:srgbClr val="3C4555"/>
                </a:solidFill>
                <a:latin typeface="Calibri"/>
              </a:rPr>
              <a:t> (CSCE 671 §05's Fitts's law).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50" b="1" i="0">
                <a:solidFill>
                  <a:srgbClr val="3C4555"/>
                </a:solidFill>
                <a:latin typeface="Calibri"/>
              </a:rPr>
              <a:t>Number of available inputs</a:t>
            </a:r>
            <a:r>
              <a:rPr sz="1650" b="0" i="0">
                <a:solidFill>
                  <a:srgbClr val="3C4555"/>
                </a:solidFill>
                <a:latin typeface="Calibri"/>
              </a:rPr>
              <a:t> — </a:t>
            </a:r>
            <a:r>
              <a:rPr sz="1650" b="1" i="0">
                <a:solidFill>
                  <a:srgbClr val="3C4555"/>
                </a:solidFill>
                <a:latin typeface="Calibri"/>
              </a:rPr>
              <a:t>switch access may have one</a:t>
            </a:r>
            <a:r>
              <a:rPr sz="1650" b="0" i="0">
                <a:solidFill>
                  <a:srgbClr val="3C4555"/>
                </a:solidFill>
                <a:latin typeface="Calibri"/>
              </a:rPr>
              <a:t>, so </a:t>
            </a:r>
            <a:r>
              <a:rPr sz="1650" b="1" i="0">
                <a:solidFill>
                  <a:srgbClr val="3C4555"/>
                </a:solidFill>
                <a:latin typeface="Calibri"/>
              </a:rPr>
              <a:t>every step costs</a:t>
            </a:r>
            <a:r>
              <a:rPr sz="1650" b="0" i="0">
                <a:solidFill>
                  <a:srgbClr val="3C4555"/>
                </a:solidFill>
                <a:latin typeface="Calibri"/>
              </a:rPr>
              <a:t>, and a twelve-step flow is not usable.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50" b="1" i="0">
                <a:solidFill>
                  <a:srgbClr val="3C4555"/>
                </a:solidFill>
                <a:latin typeface="Calibri"/>
              </a:rPr>
              <a:t>Speed and endurance</a:t>
            </a:r>
            <a:r>
              <a:rPr sz="1650" b="0" i="0">
                <a:solidFill>
                  <a:srgbClr val="3C4555"/>
                </a:solidFill>
                <a:latin typeface="Calibri"/>
              </a:rPr>
              <a:t> — </a:t>
            </a:r>
            <a:r>
              <a:rPr sz="1650" b="1" i="0">
                <a:solidFill>
                  <a:srgbClr val="3C4555"/>
                </a:solidFill>
                <a:latin typeface="Calibri"/>
              </a:rPr>
              <a:t>any timeout, any double-click interval, any drag is a barrier</a:t>
            </a:r>
            <a:r>
              <a:rPr sz="1650" b="0" i="0">
                <a:solidFill>
                  <a:srgbClr val="3C4555"/>
                </a:solidFill>
                <a:latin typeface="Calibri"/>
              </a:rPr>
              <a:t>, which is Part 4.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50" b="1" i="0">
                <a:solidFill>
                  <a:srgbClr val="3C4555"/>
                </a:solidFill>
                <a:latin typeface="Calibri"/>
              </a:rPr>
              <a:t>And whether a second simultaneous input is possible</a:t>
            </a:r>
            <a:r>
              <a:rPr sz="1650" b="0" i="0">
                <a:solidFill>
                  <a:srgbClr val="3C4555"/>
                </a:solidFill>
                <a:latin typeface="Calibri"/>
              </a:rPr>
              <a:t> — which rules out modifier chords and multi-point gestures as sole mechanisms.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With switch access, every step has a cost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which turns step count from a convenience metric into an accessibility one.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632 · Accessible Computing  —  Module 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Keyboard operability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single highest-value requirement in this course.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632 · Accessible Computing  —  Module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KEYBOARD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keyboard operability actually requires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REACHABLE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every interactive element receives focus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in an order that matches the visual order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with no element reachable only by mouse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VISIBLE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focus is always visible, with 3:1 contrast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and never removed without a replacement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(outline: none with nothing else is the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 single commonest defect in this module)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OPERABLE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every action available from the keyboard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including drag, hover, and right-click paths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ESCAPABLE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no keyboard trap: you can always get out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modals return focus where it came from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SKIPPABLE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a skip link, or landmarks, so repeated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navigation can be bypassed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 i="1">
                <a:solidFill>
                  <a:srgbClr val="798290"/>
                </a:solidFill>
                <a:latin typeface="Consolas"/>
              </a:rPr>
              <a:t>outline: none</a:t>
            </a:r>
            <a:r>
              <a:rPr sz="1250" b="1" i="1">
                <a:solidFill>
                  <a:srgbClr val="798290"/>
                </a:solidFill>
                <a:latin typeface="Calibri"/>
              </a:rPr>
              <a:t> with nothing to replace it is the single commonest defect in this module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and it makes the interface unusable while looking tidier.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632 · Accessible Computing  —  Module 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Because the keyboard is the substrate every other input sits 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WHY THIS ONE REQUIREMENT CARRIES SO MUCH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Switch access, voice control, head pointers, and alternative keyboards all ultimately drive the keyboard interface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so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keyboard operability is a precondition for all of them.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screen reader navigation depends on focus order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means a broken focus order breaks the no-vision case too (Module 03 §2).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makes 'unplug the mouse' the highest-yield test in the course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it finds motor, vision, and switch-access defects simultaneously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costs ten seconds to start.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power users want it anyway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curb cut here is that keyboard shortcuts are a requested feature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makes this the easiest requirement to fund (Module 01 §2).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632 · Accessible Computing  —  Module 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Targets and pointers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Size, spacing, and what must not be required.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632 · Accessible Computing  —  Module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POINTER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requirements, which are concrete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Targets at least 24 by 24 CSS pixels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or spaced so that a 24-pixel circle around each does not overlap — and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44 is the usual platform guidance for touch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which is better.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No path-dependent gesture as the only mechanism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 swipe, a drag, or a traced path needs a single-pointer alternative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because tracing a path requires sustained control.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No multi-point gesture as the only mechanism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pinch-to-zoom needs buttons too.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No hover-only content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because hover cannot be produced by touch, by keyboard, or reliably by a head pointer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and hover content must be dismissible and hoverable.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And actions on down-event are a trap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commit on up, so a mistaken press can be aborted by moving away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which is a specific and useful criterion.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Commit on the up-event, not the down-event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which lets a user who pressed the wrong thing abort by moving off it, and is free to implement.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632 · Accessible Computing  —  Module 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Which is the quietest exclusion in the course.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632 · Accessible Computing  —  Module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Any time limit excludes anybody who needs longer, and most time limits are arbitrary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REQUIREMENT, AND THE COMMON FAILURES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session timeout, a carousel that advances, a message that disappears, a double-click interval, a drag-and-hold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each assumes a speed, and the assumption is usually unexamined.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rule is: adjustable, extendable, or absent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twenty seconds' warning and a way to extend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except where the limit is essential (a live auction) or very long.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data-loss case is the serious one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form that times out and discards what was typed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punishes slow entry specifically, which is exactly the wrong group.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Plus anything that moves, scrolls, or auto-updates needs a pause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which is also CSCE 671 §06's attention argument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and Module 06's cognitive one.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632 · Accessible Computing  —  Module 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And the test is the cheapest one that exists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CLOSING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Unplug the mouse.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Then complete the three most important tasks in your interface using only the keyboard.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Watching for the five properties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reachable, visible, operable, escapable, skippable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(Part 2) — and recording every place you got stuck.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Then check the targets, the gestures, and the timeouts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(Parts 3 and 4), which is a read-through rather than a test.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finds more real defects per minute than anything else in this course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and is the first thing Project 1 asks for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because it reframes how you think about every control you build afterwards.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632 · Accessible Computing  —  Module 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Precision, range, input count, speed, and simultaneity all vary, and each implies a different requirement.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With switch access every step has a cost, which turns step count into an accessibility metric.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Keyboard operability requires five properties: reachable, visible, operable, escapable, skippable.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`outline: none` with nothing to replace it is the commonest defect in this module, and it makes the interface unusable while looking tidier.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The keyboard is the substrate every other input sits on, which makes 'unplug the mouse' the highest-yield test in the course.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Commit on the up-event rather than the down-event, so a mistaken press can be aborted.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632 · Accessible Computing  —  Module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