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State the outcomes before the content. Every slide that follows exists to serve one of these.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inverse mass trick pays off repeatedly — in constraints, in collision response, in rigid bodies.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Students reach for global damping to fix instability. It works and it is usually the wrong fix.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axial projection is the detail people omit. Show the difference in a swinging chain — it is unmistakable.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Have them disable each type and watch what fails. It is the fastest way to understand what each one does.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 honest that mass-spring is a practical model with no theoretical standing, and that it remains widely used anyway.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Resolution dependence is the bug that appears when the artist subdivides the mesh and the cloth changes behaviour.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86868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UNIVERSITY OF CLAUDE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417320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A9B4C4"/>
                </a:solidFill>
                <a:latin typeface="Calibri"/>
              </a:rPr>
              <a:t>CSCE 649 — Physically-Based Modeling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4884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6B68"/>
                </a:solidFill>
                <a:latin typeface="Calibri"/>
              </a:rPr>
              <a:t>MODULE 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606040"/>
            <a:ext cx="102412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FFFFFF"/>
                </a:solidFill>
                <a:latin typeface="Georgia"/>
              </a:rPr>
              <a:t>Particle Systems and Springs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4526280"/>
            <a:ext cx="2377440" cy="41148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800600"/>
            <a:ext cx="95097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1">
                <a:solidFill>
                  <a:srgbClr val="9AA5B5"/>
                </a:solidFill>
                <a:latin typeface="Calibri"/>
              </a:rPr>
              <a:t>The simplest system, and most of cloth already.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608076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E697A"/>
                </a:solidFill>
                <a:latin typeface="Calibri"/>
              </a:rPr>
              <a:t>CSCE 649 · Module 03 of 13 · original material, share freely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MODULE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you will be able to do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Implement a particle system with forces, emitters, and lifetimes.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Derive the damped spring force and explain why damping must be relative.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Build a mass-spring cloth with structural, shear, and bending springs.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why mass-spring models are fundamentally limited.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Choose spring constants from material behaviour rather than by guessing.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649 · Physically-Based Modeling  —  Module 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Particles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Position, velocity, mass, and whatever else the effect needs.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649 · Physically-Based Modeling  —  Module 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FORCE ACCUMULATION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derivative function, in full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1064240" cy="3904487"/>
          </a:xfrm>
          <a:prstGeom prst="rect">
            <a:avLst/>
          </a:prstGeom>
          <a:solidFill>
            <a:srgbClr val="1B21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0" y="2011680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C29B3F"/>
                </a:solidFill>
                <a:latin typeface="Consolas"/>
              </a:rPr>
              <a:t>cpp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084832"/>
            <a:ext cx="10515600" cy="3630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60" b="0" i="0">
                <a:solidFill>
                  <a:srgbClr val="E4E8EF"/>
                </a:solidFill>
                <a:latin typeface="Consolas"/>
              </a:rPr>
              <a:t>void ParticleSystem::derivative(const double* x, double t, double* dx) {</a:t>
            </a:r>
          </a:p>
          <a:p>
            <a:pPr algn="l">
              <a:lnSpc>
                <a:spcPct val="105000"/>
              </a:lnSpc>
            </a:pPr>
            <a:r>
              <a:rPr sz="1260" b="0" i="0">
                <a:solidFill>
                  <a:srgbClr val="E4E8EF"/>
                </a:solidFill>
                <a:latin typeface="Consolas"/>
              </a:rPr>
              <a:t>    unpack(x);                       // positions and velocities from state</a:t>
            </a:r>
          </a:p>
          <a:p>
            <a:pPr algn="l">
              <a:lnSpc>
                <a:spcPct val="105000"/>
              </a:lnSpc>
            </a:pPr>
            <a:r>
              <a:rPr sz="1260" b="0" i="0">
                <a:solidFill>
                  <a:srgbClr val="E4E8EF"/>
                </a:solidFill>
                <a:latin typeface="Consolas"/>
              </a:rPr>
              <a:t>    std::fill(force.begin(), force.end(), vec3(0));</a:t>
            </a:r>
          </a:p>
          <a:p>
            <a:pPr algn="l">
              <a:lnSpc>
                <a:spcPct val="105000"/>
              </a:lnSpc>
            </a:pPr>
            <a:r>
              <a:rPr sz="1260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260" b="0" i="0">
                <a:solidFill>
                  <a:srgbClr val="E4E8EF"/>
                </a:solidFill>
                <a:latin typeface="Consolas"/>
              </a:rPr>
              <a:t>    // 1. ACCUMULATE forces. Every force adds; none assigns.</a:t>
            </a:r>
          </a:p>
          <a:p>
            <a:pPr algn="l">
              <a:lnSpc>
                <a:spcPct val="105000"/>
              </a:lnSpc>
            </a:pPr>
            <a:r>
              <a:rPr sz="1260" b="0" i="0">
                <a:solidFill>
                  <a:srgbClr val="E4E8EF"/>
                </a:solidFill>
                <a:latin typeface="Consolas"/>
              </a:rPr>
              <a:t>    for (auto&amp; f : force_generators) f-&gt;apply(pos, vel, force);</a:t>
            </a:r>
          </a:p>
          <a:p>
            <a:pPr algn="l">
              <a:lnSpc>
                <a:spcPct val="105000"/>
              </a:lnSpc>
            </a:pPr>
            <a:r>
              <a:rPr sz="1260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260" b="0" i="0">
                <a:solidFill>
                  <a:srgbClr val="E4E8EF"/>
                </a:solidFill>
                <a:latin typeface="Consolas"/>
              </a:rPr>
              <a:t>    // 2. Write the derivative: dp/dt = v,  dv/dt = F/m.</a:t>
            </a:r>
          </a:p>
          <a:p>
            <a:pPr algn="l">
              <a:lnSpc>
                <a:spcPct val="105000"/>
              </a:lnSpc>
            </a:pPr>
            <a:r>
              <a:rPr sz="1260" b="0" i="0">
                <a:solidFill>
                  <a:srgbClr val="E4E8EF"/>
                </a:solidFill>
                <a:latin typeface="Consolas"/>
              </a:rPr>
              <a:t>    for (int i = 0; i &lt; n; i++) {</a:t>
            </a:r>
          </a:p>
          <a:p>
            <a:pPr algn="l">
              <a:lnSpc>
                <a:spcPct val="105000"/>
              </a:lnSpc>
            </a:pPr>
            <a:r>
              <a:rPr sz="1260" b="0" i="0">
                <a:solidFill>
                  <a:srgbClr val="E4E8EF"/>
                </a:solidFill>
                <a:latin typeface="Consolas"/>
              </a:rPr>
              <a:t>        dx_pos[i] = vel[i];</a:t>
            </a:r>
          </a:p>
          <a:p>
            <a:pPr algn="l">
              <a:lnSpc>
                <a:spcPct val="105000"/>
              </a:lnSpc>
            </a:pPr>
            <a:r>
              <a:rPr sz="1260" b="0" i="0">
                <a:solidFill>
                  <a:srgbClr val="E4E8EF"/>
                </a:solidFill>
                <a:latin typeface="Consolas"/>
              </a:rPr>
              <a:t>        dx_vel[i] = force[i] * inv_mass[i];     // inv_mass = 0 pins it</a:t>
            </a:r>
          </a:p>
          <a:p>
            <a:pPr algn="l">
              <a:lnSpc>
                <a:spcPct val="105000"/>
              </a:lnSpc>
            </a:pPr>
            <a:r>
              <a:rPr sz="1260" b="0" i="0">
                <a:solidFill>
                  <a:srgbClr val="E4E8EF"/>
                </a:solidFill>
                <a:latin typeface="Consolas"/>
              </a:rPr>
              <a:t>    }</a:t>
            </a:r>
          </a:p>
          <a:p>
            <a:pPr algn="l">
              <a:lnSpc>
                <a:spcPct val="105000"/>
              </a:lnSpc>
            </a:pPr>
            <a:r>
              <a:rPr sz="1260" b="0" i="0">
                <a:solidFill>
                  <a:srgbClr val="E4E8EF"/>
                </a:solidFill>
                <a:latin typeface="Consolas"/>
              </a:rPr>
              <a:t>}</a:t>
            </a:r>
          </a:p>
          <a:p>
            <a:pPr algn="l">
              <a:lnSpc>
                <a:spcPct val="105000"/>
              </a:lnSpc>
            </a:pPr>
            <a:r>
              <a:rPr sz="1260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260" b="0" i="0">
                <a:solidFill>
                  <a:srgbClr val="E4E8EF"/>
                </a:solidFill>
                <a:latin typeface="Consolas"/>
              </a:rPr>
              <a:t>// inv_mass rather than mass is deliberate: a pinned particle is</a:t>
            </a:r>
          </a:p>
          <a:p>
            <a:pPr algn="l">
              <a:lnSpc>
                <a:spcPct val="105000"/>
              </a:lnSpc>
            </a:pPr>
            <a:r>
              <a:rPr sz="1260" b="0" i="0">
                <a:solidFill>
                  <a:srgbClr val="E4E8EF"/>
                </a:solidFill>
                <a:latin typeface="Consolas"/>
              </a:rPr>
              <a:t>// inv_mass == 0, which needs no branch and no special case anywhere.</a:t>
            </a:r>
          </a:p>
          <a:p>
            <a:pPr algn="l">
              <a:lnSpc>
                <a:spcPct val="105000"/>
              </a:lnSpc>
            </a:pPr>
            <a:r>
              <a:rPr sz="1260" b="0" i="0">
                <a:solidFill>
                  <a:srgbClr val="E4E8EF"/>
                </a:solidFill>
                <a:latin typeface="Consolas"/>
              </a:rPr>
              <a:t>// This one choice removes a surprising amount of code later.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5971031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Storing inverse mass rather than mass makes infinite mass free: a pinned particle is simply 1/m = 0.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649 · Physically-Based Modeling  —  Module 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FORCES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standard force generators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237744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956816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Force</a:t>
            </a:r>
          </a:p>
        </p:txBody>
      </p:sp>
      <p:sp>
        <p:nvSpPr>
          <p:cNvPr id="8" name="Rectangle 7"/>
          <p:cNvSpPr/>
          <p:nvPr/>
        </p:nvSpPr>
        <p:spPr>
          <a:xfrm>
            <a:off x="2944368" y="1901952"/>
            <a:ext cx="420624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54096" y="1956816"/>
            <a:ext cx="39867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Form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50608" y="1901952"/>
            <a:ext cx="448056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260336" y="1956816"/>
            <a:ext cx="42611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Note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377440"/>
            <a:ext cx="23774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" y="2414016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Gravity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944368" y="2377440"/>
            <a:ext cx="42062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54096" y="2414016"/>
            <a:ext cx="39867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F = m 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150608" y="2377440"/>
            <a:ext cx="44805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260336" y="2414016"/>
            <a:ext cx="42611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Scales with mass, so all fall equally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2852928"/>
            <a:ext cx="23774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" y="2889504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Drag (linear)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944368" y="2852928"/>
            <a:ext cx="42062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54096" y="2889504"/>
            <a:ext cx="39867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F = −k v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150608" y="2852928"/>
            <a:ext cx="44805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260336" y="2889504"/>
            <a:ext cx="42611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Cheap; correct at low speed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3328416"/>
            <a:ext cx="23774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656" y="3364992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Drag (quadratic)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944368" y="3328416"/>
            <a:ext cx="42062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54096" y="3364992"/>
            <a:ext cx="39867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F = −k |v| v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150608" y="3328416"/>
            <a:ext cx="44805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260336" y="3364992"/>
            <a:ext cx="42611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Correct for air at speed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3803904"/>
            <a:ext cx="23774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6656" y="3840480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Spring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944368" y="3803904"/>
            <a:ext cx="42062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054096" y="3840480"/>
            <a:ext cx="39867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See Part 2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150608" y="3803904"/>
            <a:ext cx="44805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260336" y="3840480"/>
            <a:ext cx="42611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The one that needs care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66928" y="4279392"/>
            <a:ext cx="23774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76656" y="4315968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Viscous damping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944368" y="4279392"/>
            <a:ext cx="42062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054096" y="4315968"/>
            <a:ext cx="39867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F = −k v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150608" y="4279392"/>
            <a:ext cx="44805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260336" y="4315968"/>
            <a:ext cx="42611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Removes energy globally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66928" y="4754879"/>
            <a:ext cx="23774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76656" y="4791455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Vortex, wind, turbulence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944368" y="4754879"/>
            <a:ext cx="42062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054096" y="4791455"/>
            <a:ext cx="39867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Procedural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150608" y="4754879"/>
            <a:ext cx="44805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260336" y="4791455"/>
            <a:ext cx="42611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Art direction, not physics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649 · Physically-Based Modeling  —  Module 03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Springs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Where the subtlety is.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649 · Physically-Based Modeling  —  Module 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HOOKE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damped spring force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1064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1901952"/>
            <a:ext cx="45720" cy="658368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993392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41924"/>
                </a:solidFill>
                <a:latin typeface="Consolas"/>
              </a:rPr>
              <a:t>F = −k (|d| − L) · d̂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578608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The spring term. d is the vector between endpoints, L the rest length, d̂ the unit direction.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3127248"/>
            <a:ext cx="11064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3127248"/>
            <a:ext cx="45720" cy="658368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218688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41924"/>
                </a:solidFill>
                <a:latin typeface="Consolas"/>
              </a:rPr>
              <a:t>F = −k (|d| − L) · d̂  −  kd (v_rel · d̂) d̂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803904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With damping. Note: only the component of relative velocity ALONG the spring is damped.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4352544"/>
            <a:ext cx="11064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66928" y="4352544"/>
            <a:ext cx="45720" cy="658368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4443983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41924"/>
                </a:solidFill>
                <a:latin typeface="Consolas"/>
              </a:rPr>
              <a:t>F_a = +F,   F_b = −F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029200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Apply equal and opposite. Omitting this breaks momentum conservation immediately.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5669279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Damping the full relative velocity rather than its axial component damps rotation too, and the cloth stops swinging.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649 · Physically-Based Modeling  —  Module 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Three ways to get the damping wrong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ALL OF THEM COMMON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Damping absolute velocity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instead of relative. The spring now resists motion through space, so a freely falling chain slows down. Momentum is not conserved.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Damping the full relative velocity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instead of its component along the spring. This resists rotation about the spring, so a pendulum stops swinging for no physical reason.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Applying force to only one endpoint.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Momentum is created from nothing, and the whole system drifts.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All three produce plausible-looking motion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and show up immediately in a momentum plot. This is what Module 01's harness is for.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649 · Physically-Based Modeling  —  Module 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Mass-spring cloth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A grid of particles and three kinds of connection.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649 · Physically-Based Modeling  —  Module 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CLOTH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Three spring types, three jobs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237744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956816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Type</a:t>
            </a:r>
          </a:p>
        </p:txBody>
      </p:sp>
      <p:sp>
        <p:nvSpPr>
          <p:cNvPr id="8" name="Rectangle 7"/>
          <p:cNvSpPr/>
          <p:nvPr/>
        </p:nvSpPr>
        <p:spPr>
          <a:xfrm>
            <a:off x="2944368" y="1901952"/>
            <a:ext cx="402336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54096" y="1956816"/>
            <a:ext cx="38039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Connects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67728" y="1901952"/>
            <a:ext cx="466344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77456" y="1956816"/>
            <a:ext cx="44439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Resists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377440"/>
            <a:ext cx="23774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" y="2414016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Structural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944368" y="2377440"/>
            <a:ext cx="40233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54096" y="2414016"/>
            <a:ext cx="38039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Immediate neighbours (4-connected)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967728" y="2377440"/>
            <a:ext cx="46634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77456" y="2414016"/>
            <a:ext cx="44439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Stretching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2852928"/>
            <a:ext cx="23774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" y="2889504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Shear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944368" y="2852928"/>
            <a:ext cx="40233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54096" y="2889504"/>
            <a:ext cx="38039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Diagonal neighbours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967728" y="2852928"/>
            <a:ext cx="46634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077456" y="2889504"/>
            <a:ext cx="44439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In-plane shearing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3328416"/>
            <a:ext cx="23774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656" y="3364992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Bending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944368" y="3328416"/>
            <a:ext cx="40233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54096" y="3364992"/>
            <a:ext cx="38039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Neighbours two apart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967728" y="3328416"/>
            <a:ext cx="46634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077456" y="3364992"/>
            <a:ext cx="44439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Folding out of plane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649 · Physically-Based Modeling  —  Module 03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Cloth should barely stretch, and that is the whole problem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WHY CLOTH IS HARD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141924"/>
                </a:solidFill>
                <a:latin typeface="Georgia"/>
              </a:rPr>
              <a:t>Real fabric stretches by a few percent at most. To get that from springs, the structural stiffness must be very high.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High stiffness means a tiny time step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(Module 02): Δt &lt; 2√(m/k).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Low stiffness means visible stretching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and cloth that looks like rubber. The 'super-elastic' look is the classic mass-spring failure.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There is no stiffness that is both affordable and correct.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The way out is implicit integration (Module 02), strain limiting (Module 10), or constraints (Module 04) — all three are responses to this slide.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649 · Physically-Based Modeling  —  Module 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LIMITS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Why mass-spring models are fundamentally limited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The behaviour depends on the mesh.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Rotate the triangulation and the material changes. Real cloth does not work that way.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No concept of volume.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A mass-spring cube can be inverted inside-out and the springs are perfectly happy.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Spring constants are not material parameters.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You cannot look up the k for silk; you tune until it looks right, then it breaks at a different resolution.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Anisotropy is accidental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rather than specified — it comes from the grid, not the material.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Module 09 fixes all of this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with continuum mechanics. Mass-spring is still everywhere because it is simple and fast.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649 · Physically-Based Modeling  —  Module 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Choosing parameters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Deriving constants instead of guessing them.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649 · Physically-Based Modeling  —  Module 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SCALING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Make the material resolution-independent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1064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1901952"/>
            <a:ext cx="45720" cy="658368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993392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41924"/>
                </a:solidFill>
                <a:latin typeface="Consolas"/>
              </a:rPr>
              <a:t>k ∝ 1/L   for structural springs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578608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Halving the edge length should double the spring constant, or a finer mesh is a softer material.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3127248"/>
            <a:ext cx="11064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3127248"/>
            <a:ext cx="45720" cy="658368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218688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41924"/>
                </a:solidFill>
                <a:latin typeface="Consolas"/>
              </a:rPr>
              <a:t>m = ρ · A / 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803904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Distribute the real total mass over the particles by area, rather than assigning each particle a mass of 1.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4352544"/>
            <a:ext cx="11064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66928" y="4352544"/>
            <a:ext cx="45720" cy="658368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4443983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41924"/>
                </a:solidFill>
                <a:latin typeface="Consolas"/>
              </a:rPr>
              <a:t>ζ = kd / (2√(k m))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029200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Damping ratio. Target ζ ≈ 0.05–0.3; ζ = 1 is critically damped and looks dead.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5669279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Parameterise by damping ratio rather than by raw damping constant, and the value stays meaningful across resolutions.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649 · Physically-Based Modeling  —  Module 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Test at three resolutions, always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DISCIPLINE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141924"/>
                </a:solidFill>
                <a:latin typeface="Georgia"/>
              </a:rPr>
              <a:t>Simulate the same scenario at coarse, medium, and fine resolution.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The gross behaviour should be similar.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If the fine mesh drapes completely differently, your parameters are resolution-dependent and the simulation is not a model of anything.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This will happen the first time.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It is the single most common defect in a hand-tuned mass-spring system.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It is also how an artist will find the bug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by subdividing the mesh for a close-up and watching the cloth change character.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649 · Physically-Based Modeling  —  Module 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EFFECTS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Particle systems as an effects tool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Emitters: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rate, initial velocity distribution, spawn region. Most of the look is here.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Lifetimes and fading: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particles age and are recycled. Use a free list, not allocation.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Forces that are not physical: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vortices, attractors, curl noise for turbulence. This is where art direction lives.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Sorting for rendering: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transparent particles need back-to-front ordering, which is a per-frame sort.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Scale: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millions of particles is routine. Structure of arrays, not array of structures.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598932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1">
                <a:solidFill>
                  <a:srgbClr val="798290"/>
                </a:solidFill>
                <a:latin typeface="Calibri"/>
              </a:rPr>
              <a:t>Curl noise is the standard trick for divergence-free turbulence without simulating a fluid.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649 · Physically-Based Modeling  —  Module 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85800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FFFFFF"/>
                </a:solidFill>
                <a:latin typeface="Georgia"/>
              </a:rPr>
              <a:t>What to carry forward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481328"/>
            <a:ext cx="1371600" cy="320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1042416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1.  Store inverse mass rather than mass: a pinned particle is 1/m = 0, with no branch and no special case anywhere downstream.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2.  Forces accumulate; the derivative writes velocity and force over mass. Every force generator adds, never assigns.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3.  Damp only the component of </a:t>
            </a:r>
            <a:r>
              <a:rPr sz="1700" b="0" i="1">
                <a:solidFill>
                  <a:srgbClr val="D6DCE6"/>
                </a:solidFill>
                <a:latin typeface="Calibri"/>
              </a:rPr>
              <a:t>relative</a:t>
            </a:r>
            <a:r>
              <a:rPr sz="1700" b="0" i="0">
                <a:solidFill>
                  <a:srgbClr val="D6DCE6"/>
                </a:solidFill>
                <a:latin typeface="Calibri"/>
              </a:rPr>
              <a:t> velocity </a:t>
            </a:r>
            <a:r>
              <a:rPr sz="1700" b="0" i="1">
                <a:solidFill>
                  <a:srgbClr val="D6DCE6"/>
                </a:solidFill>
                <a:latin typeface="Calibri"/>
              </a:rPr>
              <a:t>along</a:t>
            </a:r>
            <a:r>
              <a:rPr sz="1700" b="0" i="0">
                <a:solidFill>
                  <a:srgbClr val="D6DCE6"/>
                </a:solidFill>
                <a:latin typeface="Calibri"/>
              </a:rPr>
              <a:t> the spring, and apply the force equally and oppositely.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4.  Cloth needs structural, shear, and bending springs — disable each and a different failure appears.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5.  Cloth must barely stretch, which needs high stiffness, which needs tiny steps. That tension drives Modules 04, 09, and 10.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6.  Spring constants are not material parameters. Scale k with edge length and parameterise damping by ratio, then test at three resolutions.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649 · Physically-Based Modeling  —  Module 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