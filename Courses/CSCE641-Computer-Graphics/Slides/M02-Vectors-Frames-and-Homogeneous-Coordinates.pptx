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outcomes before the content. Every slide that follows exists to serve one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practical payoff is immediate: if you translate a normal vector you have made an error, and the type system of homogeneous coordinates will catch it for you if you let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Stress that for unit vectors the dot product IS the cosine. Nearly every lighting equation in Module 06 is a clamped dot 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often memorise 'the view matrix is the inverse of the camera transform' without knowing why it is cheap. Orthonormality is the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exact bug produces a handful of black or white pixels that move with the camera. It is worth showing once so they recognise it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Derivation in the notes: it follows from requiring n·t = 0 to be preserved for every tangent 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Worth having students copy this into their renderer as a comment block. It prevents a whole family of bugs.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86868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UNIVERSITY OF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A9B4C4"/>
                </a:solidFill>
                <a:latin typeface="Calibri"/>
              </a:rPr>
              <a:t>CSCE 641 — Computer Graphics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6B68"/>
                </a:solidFill>
                <a:latin typeface="Calibri"/>
              </a:rPr>
              <a:t>MODULE 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Vectors, Frames, and Homogeneous Coordinates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4526280"/>
            <a:ext cx="2377440" cy="41148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00600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9AA5B5"/>
                </a:solidFill>
                <a:latin typeface="Calibri"/>
              </a:rPr>
              <a:t>The algebra the whole pipeline is written 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6080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E697A"/>
                </a:solidFill>
                <a:latin typeface="Calibri"/>
              </a:rPr>
              <a:t>CSCE 641 · Module 02 of 13 · original material, share freely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MODULE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Distinguish points from vectors, and explain why the distinction is not pedantry.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Build an orthonormal frame from an arbitrary direction.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what the fourth coordinate means and why translation requires it.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Use dot and cross products fluently for projection, area, and orientation.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Transform normals correctly, and say why the obvious method is wrong.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Points are not vectors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A distinction that costs nothing to maintain and a great deal to ignore.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641 · Computer Graphics  —  Module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THE DISTINCTION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Two different things with the same notation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5266944" cy="40416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901952"/>
            <a:ext cx="5266944" cy="4572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2157984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41924"/>
                </a:solidFill>
                <a:latin typeface="Calibri"/>
              </a:rPr>
              <a:t>Point — a location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2679192"/>
            <a:ext cx="4754880" cy="3035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400" b="0" i="0">
                <a:solidFill>
                  <a:srgbClr val="3C4555"/>
                </a:solidFill>
                <a:latin typeface="Calibri"/>
              </a:rPr>
              <a:t>▪  Answers: </a:t>
            </a:r>
            <a:r>
              <a:rPr sz="1400" b="0" i="1">
                <a:solidFill>
                  <a:srgbClr val="3C4555"/>
                </a:solidFill>
                <a:latin typeface="Calibri"/>
              </a:rPr>
              <a:t>where</a:t>
            </a:r>
            <a:r>
              <a:rPr sz="1400" b="0" i="0">
                <a:solidFill>
                  <a:srgbClr val="3C4555"/>
                </a:solidFill>
                <a:latin typeface="Calibri"/>
              </a:rPr>
              <a:t>?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400" b="0" i="0">
                <a:solidFill>
                  <a:srgbClr val="3C4555"/>
                </a:solidFill>
                <a:latin typeface="Calibri"/>
              </a:rPr>
              <a:t>▪  Has no direction or length.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400" b="0" i="0">
                <a:solidFill>
                  <a:srgbClr val="3C4555"/>
                </a:solidFill>
                <a:latin typeface="Calibri"/>
              </a:rPr>
              <a:t>▪  Point − point = vector.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400" b="0" i="0">
                <a:solidFill>
                  <a:srgbClr val="3C4555"/>
                </a:solidFill>
                <a:latin typeface="Calibri"/>
              </a:rPr>
              <a:t>▪  Point + vector = point.</a:t>
            </a:r>
          </a:p>
          <a:p>
            <a:pPr algn="l" lvl="1">
              <a:lnSpc>
                <a:spcPct val="120000"/>
              </a:lnSpc>
              <a:spcAft>
                <a:spcPts val="700"/>
              </a:spcAft>
            </a:pPr>
            <a:r>
              <a:rPr sz="1250" b="0" i="0">
                <a:solidFill>
                  <a:srgbClr val="798290"/>
                </a:solidFill>
                <a:latin typeface="Calibri"/>
              </a:rPr>
              <a:t>–  Point + point is </a:t>
            </a:r>
            <a:r>
              <a:rPr sz="1250" b="1" i="0">
                <a:solidFill>
                  <a:srgbClr val="798290"/>
                </a:solidFill>
                <a:latin typeface="Calibri"/>
              </a:rPr>
              <a:t>meaningless</a:t>
            </a:r>
            <a:r>
              <a:rPr sz="1250" b="0" i="0">
                <a:solidFill>
                  <a:srgbClr val="798290"/>
                </a:solidFill>
                <a:latin typeface="Calibri"/>
              </a:rPr>
              <a:t>.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400" b="0" i="0">
                <a:solidFill>
                  <a:srgbClr val="3C4555"/>
                </a:solidFill>
                <a:latin typeface="Calibri"/>
              </a:rPr>
              <a:t>▪  Affected by translation.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5080" y="1901952"/>
            <a:ext cx="5266944" cy="40416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1901952"/>
            <a:ext cx="5266944" cy="45720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2157984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41924"/>
                </a:solidFill>
                <a:latin typeface="Calibri"/>
              </a:rPr>
              <a:t>Vector — a displacement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679192"/>
            <a:ext cx="4754880" cy="3035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400" b="0" i="0">
                <a:solidFill>
                  <a:srgbClr val="3C4555"/>
                </a:solidFill>
                <a:latin typeface="Calibri"/>
              </a:rPr>
              <a:t>▪  Answers: </a:t>
            </a:r>
            <a:r>
              <a:rPr sz="1400" b="0" i="1">
                <a:solidFill>
                  <a:srgbClr val="3C4555"/>
                </a:solidFill>
                <a:latin typeface="Calibri"/>
              </a:rPr>
              <a:t>how far, which way</a:t>
            </a:r>
            <a:r>
              <a:rPr sz="1400" b="0" i="0">
                <a:solidFill>
                  <a:srgbClr val="3C4555"/>
                </a:solidFill>
                <a:latin typeface="Calibri"/>
              </a:rPr>
              <a:t>?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400" b="0" i="0">
                <a:solidFill>
                  <a:srgbClr val="3C4555"/>
                </a:solidFill>
                <a:latin typeface="Calibri"/>
              </a:rPr>
              <a:t>▪  Has direction and length, no location.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400" b="0" i="0">
                <a:solidFill>
                  <a:srgbClr val="3C4555"/>
                </a:solidFill>
                <a:latin typeface="Calibri"/>
              </a:rPr>
              <a:t>▪  Vector + vector = vector.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400" b="0" i="0">
                <a:solidFill>
                  <a:srgbClr val="3C4555"/>
                </a:solidFill>
                <a:latin typeface="Calibri"/>
              </a:rPr>
              <a:t>▪  Scalar × vector = vector.</a:t>
            </a:r>
          </a:p>
          <a:p>
            <a:pPr algn="l" lvl="1">
              <a:lnSpc>
                <a:spcPct val="120000"/>
              </a:lnSpc>
              <a:spcAft>
                <a:spcPts val="700"/>
              </a:spcAft>
            </a:pPr>
            <a:r>
              <a:rPr sz="1250" b="0" i="0">
                <a:solidFill>
                  <a:srgbClr val="798290"/>
                </a:solidFill>
                <a:latin typeface="Calibri"/>
              </a:rPr>
              <a:t>–  All operations are well defined.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4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400" b="1" i="0">
                <a:solidFill>
                  <a:srgbClr val="3C4555"/>
                </a:solidFill>
                <a:latin typeface="Calibri"/>
              </a:rPr>
              <a:t>Unaffected</a:t>
            </a:r>
            <a:r>
              <a:rPr sz="1400" b="0" i="0">
                <a:solidFill>
                  <a:srgbClr val="3C4555"/>
                </a:solidFill>
                <a:latin typeface="Calibri"/>
              </a:rPr>
              <a:t> by translation.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Why this matters in code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CONSEQUENCE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900" b="0" i="0">
                <a:solidFill>
                  <a:srgbClr val="141924"/>
                </a:solidFill>
                <a:latin typeface="Georgia"/>
              </a:rPr>
              <a:t>Translating a direction is always a bug. A surface normal does not move when the object moves — it only rotates.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900" b="0" i="0">
                <a:solidFill>
                  <a:srgbClr val="141924"/>
                </a:solidFill>
                <a:latin typeface="Georgia"/>
              </a:rPr>
              <a:t>Homogeneous coordinates encode this distinction in the data itself: </a:t>
            </a:r>
            <a:r>
              <a:rPr sz="1900" b="0" i="1">
                <a:solidFill>
                  <a:srgbClr val="141924"/>
                </a:solidFill>
                <a:latin typeface="Georgia"/>
              </a:rPr>
              <a:t>w</a:t>
            </a:r>
            <a:r>
              <a:rPr sz="1900" b="0" i="0">
                <a:solidFill>
                  <a:srgbClr val="141924"/>
                </a:solidFill>
                <a:latin typeface="Georgia"/>
              </a:rPr>
              <a:t> = 1 for a point, </a:t>
            </a:r>
            <a:r>
              <a:rPr sz="1900" b="0" i="1">
                <a:solidFill>
                  <a:srgbClr val="141924"/>
                </a:solidFill>
                <a:latin typeface="Georgia"/>
              </a:rPr>
              <a:t>w</a:t>
            </a:r>
            <a:r>
              <a:rPr sz="1900" b="0" i="0">
                <a:solidFill>
                  <a:srgbClr val="141924"/>
                </a:solidFill>
                <a:latin typeface="Georgia"/>
              </a:rPr>
              <a:t> = 0 for a vector. Multiply both by the same translation matrix and the vector is automatically left alone.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900" b="0" i="0">
                <a:solidFill>
                  <a:srgbClr val="141924"/>
                </a:solidFill>
                <a:latin typeface="Georgia"/>
              </a:rPr>
              <a:t>The fourth coordinate is not a trick to make translation fit into a matrix. It is a type tag that happens to make translation fit into a matrix.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HOMOGENEOUS COORDINATES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fourth coordinate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901952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93392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point   =  (x, y, z, 1)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78608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Translation reaches it, because the translation column is scaled by w=1.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127248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127248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218688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vector  =  (x, y, z, 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03904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Translation cannot reach it. Rotation and scale still apply normally.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52544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4352544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443983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(x, y, z, w)  ≡  (x/w, y/w, z/w, 1)   for w ≠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29200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Scaling all four coordinates names the same point — this is what makes perspective possible.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669279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The third line is the one that earns the fourth coordinate. Module 03 uses it to make perspective a linear operation.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Products that do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Two products, and almost everything geometric you will need.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641 · Computer Graphics  —  Module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DOT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dot product measures alignment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901952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93392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a · b  =  aₓbₓ + a_yb_y + a_zb_z  =  |a||b| cos 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78608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Two definitions, one for computing and one for understanding.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127248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127248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218688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a · b = 0   ⟺   perpendicular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03904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The visibility and backface tests reduce to this sign.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52544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4352544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443983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proj_b(a)  =  (a · b̂) b̂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29200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Projection onto a direction. Used in every lighting model and in Gram–Schmidt.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DOT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Where you will actually use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Lambert's cosine law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— diffuse shading is max(0, n · l).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Backface culling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— sign of n · v tells you which way a face points.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Specular highlights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— (n · h) raised to a power.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Frustum culling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— signed distance from a plane is a dot product with the plane normal.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Decomposing a vector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— splitting a velocity into components along and across a surface, which is the whole of collision response.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CROSS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cross product makes perpendiculars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901952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93392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a × b  =  (a_yb_z − a_zb_y,  a_zbₓ − aₓb_z,  aₓb_y − a_ybₓ)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78608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Perpendicular to both inputs, by the right-hand rule.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127248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127248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218688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|a × b|  =  |a||b| sin θ  =  area of the parallelogram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03904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Half of this is the triangle area — which Module 04 turns into barycentric coordinates.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52544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4352544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443983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n  =  normalize((p₁ − p₀) × (p₂ − p₀))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29200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The face normal of a triangle. Winding order decides its sign.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Frames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A coordinate system is three vectors and a point. Nothing more.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641 · Computer Graphics  —  Module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FRAMES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a coordinate frame is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An origin (a point) plus three basis vectors (directions).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Coordinates are </a:t>
            </a:r>
            <a:r>
              <a:rPr sz="1800" b="0" i="1">
                <a:solidFill>
                  <a:srgbClr val="3C4555"/>
                </a:solidFill>
                <a:latin typeface="Calibri"/>
              </a:rPr>
              <a:t>the amounts of each basis vector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you need.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An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orthonormal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frame has basis vectors that are mutually perpendicular and unit length.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Its matrix inverse is its transpose — which is why view matrices are cheap to invert.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Its determinant is +1 (right-handed) or −1 (left-handed, i.e. mirrored).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Every space in the pipeline — object, world, camera, tangent — is just a different frame.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FRAMES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Building a frame from one direction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3127248"/>
          </a:xfrm>
          <a:prstGeom prst="rect">
            <a:avLst/>
          </a:prstGeom>
          <a:solidFill>
            <a:srgbClr val="1B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0" y="201168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C29B3F"/>
                </a:solidFill>
                <a:latin typeface="Consolas"/>
              </a:rPr>
              <a:t>cpp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84832"/>
            <a:ext cx="10515600" cy="2852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// Given a normal n, produce an orthonormal basis (t, b, n).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// Needed for tangent space (Module 08) and for sampling (Module 11).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void make_frame(const vec3&amp; n, vec3&amp; t, vec3&amp; b) {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    // Pick any axis not nearly parallel to n, or the cross product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    // degenerates and you get NaNs in a few pixels only -- the worst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    // kind of bug, because it looks like noise.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    vec3 up = (fabs(n.z) &lt; 0.999f) ? vec3(0,0,1) : vec3(1,0,0);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    t = normalize(cross(up, n));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    b = cross(n, t);            // already unit: n and t are orthonormal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193792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The guard on the `up` vector is not optional. Without it the cross product returns zero wherever n happens to align with the axis, and normalize() produces NaN.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Transforming normals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The one place where the obvious answer is wrong.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641 · Computer Graphics  —  Module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Normals do not transform like positions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THE CLASSIC ERROR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900" b="0" i="0">
                <a:solidFill>
                  <a:srgbClr val="141924"/>
                </a:solidFill>
                <a:latin typeface="Georgia"/>
              </a:rPr>
              <a:t>Apply a non-uniform scale to a surface and to its normal with the same matrix, and the normal stops being perpendicular to the surface.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900" b="0" i="0">
                <a:solidFill>
                  <a:srgbClr val="141924"/>
                </a:solidFill>
                <a:latin typeface="Georgia"/>
              </a:rPr>
              <a:t>Stretch a sphere into an ellipsoid along X: the surface flattens, so its normals should tilt </a:t>
            </a:r>
            <a:r>
              <a:rPr sz="1900" b="0" i="1">
                <a:solidFill>
                  <a:srgbClr val="141924"/>
                </a:solidFill>
                <a:latin typeface="Georgia"/>
              </a:rPr>
              <a:t>toward</a:t>
            </a:r>
            <a:r>
              <a:rPr sz="1900" b="0" i="0">
                <a:solidFill>
                  <a:srgbClr val="141924"/>
                </a:solidFill>
                <a:latin typeface="Georgia"/>
              </a:rPr>
              <a:t> the Y axis. Scaling the normals by the same matrix tilts them the other way.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900" b="0" i="0">
                <a:solidFill>
                  <a:srgbClr val="141924"/>
                </a:solidFill>
                <a:latin typeface="Georgia"/>
              </a:rPr>
              <a:t>The result is lighting that is subtly, confusingly wrong on every non-uniformly scaled object in your scene.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THE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normal matrix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901952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93392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n'  =  (M⁻¹)ᵀ 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78608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Transform normals by the inverse transpose of the model matrix.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127248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127248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218688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for rotation only:  (M⁻¹)ᵀ = 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03904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Orthonormal matrices are their own normal matrix — no extra work.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52544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4352544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443983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for uniform scale:  (M⁻¹)ᵀ ∝ 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29200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Direction is unchanged; only length, which normalize() removes anyway.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669279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So the inverse transpose only matters under non-uniform scale or shear — but that is common enough that you should simply always use it.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IN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Where the normal matrix goes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3361943"/>
          </a:xfrm>
          <a:prstGeom prst="rect">
            <a:avLst/>
          </a:prstGeom>
          <a:solidFill>
            <a:srgbClr val="1B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0" y="201168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C29B3F"/>
                </a:solidFill>
                <a:latin typeface="Consolas"/>
              </a:rPr>
              <a:t>glsl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84832"/>
            <a:ext cx="10515600" cy="3087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// CPU side, once per object -- not per vertex, and never per fragment.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mat3 normalMatrix = transpose(inverse(mat3(model)));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// Vertex shader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void main() {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    vWorldPos    = (model * vec4(aPos, 1.0)).xyz;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    vWorldNormal = normalMatrix * aNormal;   // NOT model * aNormal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    gl_Position  = proj * view * vec4(vWorldPos, 1.0);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}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// Fragment shader: renormalize. Interpolating unit vectors across a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// triangle does not preserve unit length.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vec3 N = normalize(vWorldNormal);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428487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Two separate requirements: the right matrix on the CPU, and renormalization after interpolation. Missing either one dims your lighting in a way that is easy to mistake for an art problem.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transforms how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329184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956816"/>
            <a:ext cx="30723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Quantity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3858768" y="1901952"/>
            <a:ext cx="91440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68496" y="1956816"/>
            <a:ext cx="6949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w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73168" y="1901952"/>
            <a:ext cx="356616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82896" y="1956816"/>
            <a:ext cx="33467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Transform by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39327" y="1901952"/>
            <a:ext cx="329184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49055" y="1956816"/>
            <a:ext cx="30723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Then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377440"/>
            <a:ext cx="32918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" y="2414016"/>
            <a:ext cx="30723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Position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58768" y="2377440"/>
            <a:ext cx="9144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68496" y="2414016"/>
            <a:ext cx="6949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73168" y="2377440"/>
            <a:ext cx="35661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82896" y="2414016"/>
            <a:ext cx="33467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339327" y="2377440"/>
            <a:ext cx="32918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49055" y="2414016"/>
            <a:ext cx="30723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divide by w after projection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2852928"/>
            <a:ext cx="329184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6656" y="2889504"/>
            <a:ext cx="30723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Direction / tangent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58768" y="2852928"/>
            <a:ext cx="91440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68496" y="2889504"/>
            <a:ext cx="6949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73168" y="2852928"/>
            <a:ext cx="356616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82896" y="2889504"/>
            <a:ext cx="33467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39327" y="2852928"/>
            <a:ext cx="329184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49055" y="2889504"/>
            <a:ext cx="30723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normalize if needed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3328416"/>
            <a:ext cx="32918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3364992"/>
            <a:ext cx="30723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Normal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58768" y="3328416"/>
            <a:ext cx="9144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68496" y="3364992"/>
            <a:ext cx="6949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773168" y="3328416"/>
            <a:ext cx="35661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82896" y="3364992"/>
            <a:ext cx="33467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(M⁻¹)ᵀ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339327" y="3328416"/>
            <a:ext cx="32918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49055" y="3364992"/>
            <a:ext cx="30723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always renormalize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3803904"/>
            <a:ext cx="329184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6656" y="3840480"/>
            <a:ext cx="30723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Plane (n, d)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858768" y="3803904"/>
            <a:ext cx="91440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68496" y="3840480"/>
            <a:ext cx="6949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773168" y="3803904"/>
            <a:ext cx="356616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882896" y="3840480"/>
            <a:ext cx="33467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(M⁻¹)ᵀ on the 4-vector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339327" y="3803904"/>
            <a:ext cx="329184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49055" y="3840480"/>
            <a:ext cx="30723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renormalize n, rescale 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eorgia"/>
              </a:rPr>
              <a:t>What to carry forward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81328"/>
            <a:ext cx="1371600" cy="320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424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1.  Points and vectors are different types. Homogeneous w = 1 and w = 0 encode the difference so the matrix does the right thing automatically.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2.  The fourth coordinate exists because scaling all four names the same point — that equivalence is what makes perspective linear.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3.  Dot product measures alignment and gives you projection; cross product makes perpendiculars and gives you area. Almost all of geometry is these two.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4.  An orthonormal frame's inverse is its transpose. This is why the view matrix is cheap.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5.  Normals transform by the inverse transpose, and must be renormalized after interpolation. Both halves are required.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6.  When building a frame from a single direction, guard the degenerate case or you will get NaN in a few pixels and never find them.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641 · Computer Graphics  —  Module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