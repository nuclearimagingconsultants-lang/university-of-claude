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map-projection analogy lands well: Mercator preserves angles and ruins areas, and UV unwrapping faces exactly that trade.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shadow-map use of clamp-to-border matters in Module 10: it decides what happens outside the light's frustum.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Press the asymmetry: magnification is a resolution problem (annoying), minification is a sampling problem (actually broken).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closes the loop with Module 07 nicely. The quad is not an implementation curiosity; mipmapping depends on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row fixes the previous row's residual. That progression is the whole story of texture filtering.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Mirrored UV islands are extremely common in game assets — character faces especially. The handedness bug shows up as one cheek lit wrong.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table is the practical form of Module 06's gamma rule. Colour is sRGB; everything else is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CSCE 641 — Computer Graphics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Texture Mapping, Filtering, and Mipmaps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Putting detail on surfaces without putting geometry there.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CSCE 641 · Module 08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UV parameterisation and the artifacts of a bad one.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Choose correctly between magnification and minification filters.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why mipmaps exist in sampling terms, and what trilinear and anisotropic filtering each fix.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Implement tangent-space normal mapping correctly.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Name the common texture types and say which are colour and which are data.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Parameterisation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Assigning a 2D coordinate to every point on a 3D surface.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641 · Computer Graphics  —  Module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UVS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a UV map is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Each vertex carries a 2D coordinate (u, v) into texture space.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The rasterizer interpolates it — perspective-correctly, per Module 04.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Making a good UV map is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flattening a 3D surface onto a plane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Only developable surfaces flatten without distortion.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A sphere does not. Neither does almost anything interesting.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So every UV map trades off three things: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stretch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,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seams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, and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wasted texture space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You cannot have none of them. Module 12 revisits this properly.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UVS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Wrap modes, and when each is right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256032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956816"/>
            <a:ext cx="23408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Mode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3127248" y="1901952"/>
            <a:ext cx="411480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36976" y="1956816"/>
            <a:ext cx="38953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Behaviour outside [0,1]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42048" y="1901952"/>
            <a:ext cx="438912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51775" y="1956816"/>
            <a:ext cx="41696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Use for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77440"/>
            <a:ext cx="25603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414016"/>
            <a:ext cx="23408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Repeat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27248" y="2377440"/>
            <a:ext cx="41148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36976" y="2414016"/>
            <a:ext cx="38953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Tiles seamlessly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42048" y="2377440"/>
            <a:ext cx="43891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51775" y="2414016"/>
            <a:ext cx="41696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Floors, walls, any tiling detail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852928"/>
            <a:ext cx="25603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2889504"/>
            <a:ext cx="23408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Mirrored repeat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27248" y="2852928"/>
            <a:ext cx="41148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36976" y="2889504"/>
            <a:ext cx="38953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Tiles, flipping alternately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42048" y="2852928"/>
            <a:ext cx="43891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51775" y="2889504"/>
            <a:ext cx="41696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Hides a seam in a tiling texture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328416"/>
            <a:ext cx="25603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" y="3364992"/>
            <a:ext cx="23408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Clamp to edge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27248" y="3328416"/>
            <a:ext cx="41148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36976" y="3364992"/>
            <a:ext cx="38953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Holds the border texel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42048" y="3328416"/>
            <a:ext cx="43891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51775" y="3364992"/>
            <a:ext cx="41696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Decals, UI, anything not meant to tile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3803904"/>
            <a:ext cx="25603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3840480"/>
            <a:ext cx="23408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Clamp to border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27248" y="3803904"/>
            <a:ext cx="41148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36976" y="3840480"/>
            <a:ext cx="38953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Returns a constant colour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42048" y="3803904"/>
            <a:ext cx="43891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51775" y="3840480"/>
            <a:ext cx="41696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Shadow maps — border = 'fully lit'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Filtering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The texture is a grid of samples. The screen is a different grid of samples. These rarely line up.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641 · Computer Graphics  —  Module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TWO FAILURE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Magnification and minification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5266944" cy="40416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01952"/>
            <a:ext cx="5266944" cy="4572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157984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41924"/>
                </a:solidFill>
                <a:latin typeface="Calibri"/>
              </a:rPr>
              <a:t>Magnification — texels larger than pixels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679192"/>
            <a:ext cx="4754880" cy="3035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One texel covers many pixels.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Problem: </a:t>
            </a:r>
            <a:r>
              <a:rPr sz="1400" b="1" i="0">
                <a:solidFill>
                  <a:srgbClr val="3C4555"/>
                </a:solidFill>
                <a:latin typeface="Calibri"/>
              </a:rPr>
              <a:t>blockiness</a:t>
            </a:r>
            <a:r>
              <a:rPr sz="1400" b="0" i="0">
                <a:solidFill>
                  <a:srgbClr val="3C4555"/>
                </a:solidFill>
                <a:latin typeface="Calibri"/>
              </a:rPr>
              <a:t>.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Nearest → hard squares.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Bilinear → smooth, slightly soft.</a:t>
            </a:r>
          </a:p>
          <a:p>
            <a:pPr algn="l" lvl="1">
              <a:lnSpc>
                <a:spcPct val="120000"/>
              </a:lnSpc>
              <a:spcAft>
                <a:spcPts val="700"/>
              </a:spcAft>
            </a:pPr>
            <a:r>
              <a:rPr sz="1250" b="0" i="0">
                <a:solidFill>
                  <a:srgbClr val="798290"/>
                </a:solidFill>
                <a:latin typeface="Calibri"/>
              </a:rPr>
              <a:t>–  Easy case. Bilinear is almost always right.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1901952"/>
            <a:ext cx="5266944" cy="40416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901952"/>
            <a:ext cx="5266944" cy="45720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157984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41924"/>
                </a:solidFill>
                <a:latin typeface="Calibri"/>
              </a:rPr>
              <a:t>Minification — texels smaller than pixels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679192"/>
            <a:ext cx="4754880" cy="3035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Many texels fall inside one pixel.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Problem: </a:t>
            </a:r>
            <a:r>
              <a:rPr sz="1400" b="1" i="0">
                <a:solidFill>
                  <a:srgbClr val="3C4555"/>
                </a:solidFill>
                <a:latin typeface="Calibri"/>
              </a:rPr>
              <a:t>aliasing</a:t>
            </a:r>
            <a:r>
              <a:rPr sz="1400" b="0" i="0">
                <a:solidFill>
                  <a:srgbClr val="3C4555"/>
                </a:solidFill>
                <a:latin typeface="Calibri"/>
              </a:rPr>
              <a:t> — shimmer and moiré.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Point sampling picks one texel arbitrarily.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The pixel moves, a different texel is picked, it flickers.</a:t>
            </a:r>
          </a:p>
          <a:p>
            <a:pPr algn="l" lvl="1">
              <a:lnSpc>
                <a:spcPct val="120000"/>
              </a:lnSpc>
              <a:spcAft>
                <a:spcPts val="700"/>
              </a:spcAft>
            </a:pPr>
            <a:r>
              <a:rPr sz="1250" b="0" i="0">
                <a:solidFill>
                  <a:srgbClr val="798290"/>
                </a:solidFill>
                <a:latin typeface="Calibri"/>
              </a:rPr>
              <a:t>–  Hard case. This is what mipmaps exist for.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Minification is undersampling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KEY IDEA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900" b="0" i="0">
                <a:solidFill>
                  <a:srgbClr val="141924"/>
                </a:solidFill>
                <a:latin typeface="Georgia"/>
              </a:rPr>
              <a:t>A pixel covers an area of the texture. Its correct value is the </a:t>
            </a:r>
            <a:r>
              <a:rPr sz="1900" b="0" i="1">
                <a:solidFill>
                  <a:srgbClr val="141924"/>
                </a:solidFill>
                <a:latin typeface="Georgia"/>
              </a:rPr>
              <a:t>average</a:t>
            </a:r>
            <a:r>
              <a:rPr sz="1900" b="0" i="0">
                <a:solidFill>
                  <a:srgbClr val="141924"/>
                </a:solidFill>
                <a:latin typeface="Georgia"/>
              </a:rPr>
              <a:t> over that area.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900" b="0" i="0">
                <a:solidFill>
                  <a:srgbClr val="141924"/>
                </a:solidFill>
                <a:latin typeface="Georgia"/>
              </a:rPr>
              <a:t>Point sampling takes one texel from that area and pretends it represents the whole. When the pixel moves slightly, a different texel is chosen, and the result flickers.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900" b="0" i="0">
                <a:solidFill>
                  <a:srgbClr val="141924"/>
                </a:solidFill>
                <a:latin typeface="Georgia"/>
              </a:rPr>
              <a:t>This is the Module 01 theme again: a continuous signal sampled too sparsely. Module 09 gives the theory; mipmapping is the practical fix.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MIPMAPS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Precompute the averages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Store the texture at every power-of-two reduction: full, 1/2, 1/4, 1/8…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Each level is a prefiltered average of the one above it.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At render time, pick the level where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one texel ≈ one pixel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The averaging you needed has already been done, offline.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Costs 33% more memory. ∑ 1/4ⁿ = 4/3.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Level chosen from the screen-space derivatives of the UV — which is why Module 07's 2×2 quads exist.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MIPMAPS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Choosing the level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01952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ρ  =  max( |∂uv/∂x| , |∂uv/∂y| 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How far the texture coordinate moves per pixel step, in texels.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127248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127248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18688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level  =  log₂(ρ)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03904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Each mip level halves resolution, so the log is the natural measure.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52544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4352544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443983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trilinear: lerp between ⌊level⌋ and ⌈level⌉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Removes the visible seam where the level changes.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69279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Derivatives come from neighbouring threads in the quad — hence undefined behaviour if you sample inside divergent control flow.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FILTERING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each filter fixes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237744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956816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Filter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2944368" y="1901952"/>
            <a:ext cx="320040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54096" y="1956816"/>
            <a:ext cx="29809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Fixes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44768" y="1901952"/>
            <a:ext cx="356616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54496" y="1956816"/>
            <a:ext cx="33467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Remaining problem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10928" y="1901952"/>
            <a:ext cx="192024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20656" y="1956816"/>
            <a:ext cx="17007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Cost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377440"/>
            <a:ext cx="23774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414016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Nearest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44368" y="2377440"/>
            <a:ext cx="32004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54096" y="2414016"/>
            <a:ext cx="29809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Nothing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44768" y="2377440"/>
            <a:ext cx="35661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54496" y="2414016"/>
            <a:ext cx="33467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Blocky and aliased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10928" y="2377440"/>
            <a:ext cx="19202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20656" y="2414016"/>
            <a:ext cx="17007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1 tap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2852928"/>
            <a:ext cx="23774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" y="2889504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Bilinear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44368" y="2852928"/>
            <a:ext cx="32004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54096" y="2889504"/>
            <a:ext cx="29809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Blockiness within a level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2852928"/>
            <a:ext cx="356616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54496" y="2889504"/>
            <a:ext cx="33467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Still aliases on minification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710928" y="2852928"/>
            <a:ext cx="19202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20656" y="2889504"/>
            <a:ext cx="17007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4 taps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3328416"/>
            <a:ext cx="23774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3364992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Bilinear + mipmap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44368" y="3328416"/>
            <a:ext cx="32004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54096" y="3364992"/>
            <a:ext cx="29809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Aliasing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44768" y="3328416"/>
            <a:ext cx="35661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54496" y="3364992"/>
            <a:ext cx="33467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Visible seams between levels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710928" y="3328416"/>
            <a:ext cx="19202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20656" y="3364992"/>
            <a:ext cx="17007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4 taps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3803904"/>
            <a:ext cx="23774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6656" y="3840480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Trilinear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944368" y="3803904"/>
            <a:ext cx="32004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054096" y="3840480"/>
            <a:ext cx="29809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Level seams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44768" y="3803904"/>
            <a:ext cx="356616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54496" y="3840480"/>
            <a:ext cx="33467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Over-blurs at oblique angles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710928" y="3803904"/>
            <a:ext cx="19202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20656" y="3840480"/>
            <a:ext cx="17007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8 taps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4279392"/>
            <a:ext cx="23774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76656" y="4315968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Anisotropic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44368" y="4279392"/>
            <a:ext cx="32004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54096" y="4315968"/>
            <a:ext cx="29809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Oblique over-blur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44768" y="4279392"/>
            <a:ext cx="35661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54496" y="4315968"/>
            <a:ext cx="33467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Cost; usually capped at 16×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710928" y="4279392"/>
            <a:ext cx="19202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20656" y="4315968"/>
            <a:ext cx="17007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up to 16×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Why trilinear blurs oblique surfaces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ANISOTROPY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900" b="0" i="0">
                <a:solidFill>
                  <a:srgbClr val="141924"/>
                </a:solidFill>
                <a:latin typeface="Georgia"/>
              </a:rPr>
              <a:t>A pixel on a floor seen at a shallow angle covers a long, thin footprint in texture space — perhaps 1 texel wide and 16 long.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900" b="0" i="0">
                <a:solidFill>
                  <a:srgbClr val="141924"/>
                </a:solidFill>
                <a:latin typeface="Georgia"/>
              </a:rPr>
              <a:t>Mip level selection takes the </a:t>
            </a:r>
            <a:r>
              <a:rPr sz="1900" b="0" i="1">
                <a:solidFill>
                  <a:srgbClr val="141924"/>
                </a:solidFill>
                <a:latin typeface="Georgia"/>
              </a:rPr>
              <a:t>maximum</a:t>
            </a:r>
            <a:r>
              <a:rPr sz="1900" b="0" i="0">
                <a:solidFill>
                  <a:srgbClr val="141924"/>
                </a:solidFill>
                <a:latin typeface="Georgia"/>
              </a:rPr>
              <a:t> derivative, so it picks a level coarse enough for the long axis. The short axis is then blurred by 16× more than it needed.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900" b="0" i="0">
                <a:solidFill>
                  <a:srgbClr val="141924"/>
                </a:solidFill>
                <a:latin typeface="Georgia"/>
              </a:rPr>
              <a:t>Result: distant floors look smeared. Anisotropic filtering takes several samples along the long axis at a finer level instead, which is why it has such a visible effect on ground textures for such a modest cost.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Normal mapping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Faking geometry that is not there, convincingly.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641 · Computer Graphics  —  Module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NORMAL MAPS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Perturb the normal, not the surface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Store a normal per texel instead of a colour.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Use it in the lighting equation in place of the interpolated normal.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Lighting responds as though the surface had that shape.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Bumps, scratches, pores — at texture resolution, for no extra geometry.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But the silhouette does not change.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Look along the surface and it is visibly flat. This is the one limitation that nothing fixes.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TANGENT 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Why normals are stored in tangent space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Object-space normal maps bake in the orientation of the mesh.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Cannot be reused on another model. Cannot tile. Breaks under deformation.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Tangent-space maps store the normal </a:t>
            </a:r>
            <a:r>
              <a:rPr sz="1800" b="0" i="1">
                <a:solidFill>
                  <a:srgbClr val="3C4555"/>
                </a:solidFill>
                <a:latin typeface="Calibri"/>
              </a:rPr>
              <a:t>relative to the surface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Reusable, tileable, and correct under skinning — which matters in Module 13.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Mostly blue, because (0,0,1) means 'unperturbed'.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Needs a per-vertex frame: tangent, bitangent, normal — the TBN matrix.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TANGENT 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Applying a normal 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2892552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glsl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2618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// Vertex shader: build the TBN basis and pass it along.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vec3 T = normalize(uNormalMatrix * aTangent);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vec3 N = normalize(uNormalMatrix * aNormal);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T = normalize(T - dot(T, N) * N);     // Gram-Schmidt: re-orthogonalise,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                                     // because interpolation drifts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vec3 B = cross(N, T) * aTangent.w;    // w stores handedness (+1 / -1)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vTBN = mat3(T, B, N);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// Fragment shader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vec3 n = texture(uNormalMap, vUV).rgb * 2.0 - 1.0;   // [0,1] -&gt; [-1,1]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vec3 N = normalize(vTBN * n);                        // -&gt; world space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959096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Two details that are routinely wrong: the handedness in tangent.w (mirrored UVs flip it, and without it mirrored parts light inside out), and the Gram–Schmidt step.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Texture types and colour space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292608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956816"/>
            <a:ext cx="27066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Map</a:t>
            </a:r>
          </a:p>
        </p:txBody>
      </p:sp>
      <p:sp>
        <p:nvSpPr>
          <p:cNvPr id="8" name="Rectangle 7"/>
          <p:cNvSpPr/>
          <p:nvPr/>
        </p:nvSpPr>
        <p:spPr>
          <a:xfrm>
            <a:off x="3493008" y="1901952"/>
            <a:ext cx="512064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2736" y="1956816"/>
            <a:ext cx="49011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Stores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13648" y="1901952"/>
            <a:ext cx="301752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23376" y="1956816"/>
            <a:ext cx="27980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Colour space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77440"/>
            <a:ext cx="29260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414016"/>
            <a:ext cx="27066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Albedo / base colour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93008" y="2377440"/>
            <a:ext cx="51206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02736" y="2414016"/>
            <a:ext cx="49011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Surface colour with no lighting baked 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13648" y="2377440"/>
            <a:ext cx="3017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23376" y="2414016"/>
            <a:ext cx="27980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sRGB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852928"/>
            <a:ext cx="29260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2889504"/>
            <a:ext cx="27066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Normal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93008" y="2852928"/>
            <a:ext cx="51206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02736" y="2889504"/>
            <a:ext cx="49011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Tangent-space normal, encoded to [0,1]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13648" y="2852928"/>
            <a:ext cx="30175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23376" y="2889504"/>
            <a:ext cx="27980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Linear — never sRGB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328416"/>
            <a:ext cx="29260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" y="3364992"/>
            <a:ext cx="27066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Roughness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93008" y="3328416"/>
            <a:ext cx="51206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02736" y="3364992"/>
            <a:ext cx="49011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Microfacet spread (Module 11)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13648" y="3328416"/>
            <a:ext cx="3017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23376" y="3364992"/>
            <a:ext cx="27980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Linear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3803904"/>
            <a:ext cx="29260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3840480"/>
            <a:ext cx="27066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Metallic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93008" y="3803904"/>
            <a:ext cx="51206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02736" y="3840480"/>
            <a:ext cx="49011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Dielectric or conductor, usually 0 or 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13648" y="3803904"/>
            <a:ext cx="30175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723376" y="3840480"/>
            <a:ext cx="27980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Linear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279392"/>
            <a:ext cx="29260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6656" y="4315968"/>
            <a:ext cx="27066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Ambient occlusion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93008" y="4279392"/>
            <a:ext cx="51206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02736" y="4315968"/>
            <a:ext cx="49011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Local self-shadowing factor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613648" y="4279392"/>
            <a:ext cx="3017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23376" y="4315968"/>
            <a:ext cx="27980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Linear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6928" y="4754879"/>
            <a:ext cx="29260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6656" y="4791455"/>
            <a:ext cx="27066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Emissive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93008" y="4754879"/>
            <a:ext cx="51206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02736" y="4791455"/>
            <a:ext cx="49011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Light emitted by the surface itself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613648" y="4754879"/>
            <a:ext cx="30175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23376" y="4791455"/>
            <a:ext cx="27980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sRGB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66928" y="5230367"/>
            <a:ext cx="29260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76656" y="5266943"/>
            <a:ext cx="27066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Height / displacement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93008" y="5230367"/>
            <a:ext cx="51206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02736" y="5266943"/>
            <a:ext cx="49011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Offset along the normal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613648" y="5230367"/>
            <a:ext cx="3017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723376" y="5266943"/>
            <a:ext cx="27980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Linear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UV mapping is flattening a surface onto a plane: stretch, seams, and wasted space are a three-way trade you cannot escape.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Magnification is a resolution problem; minification is a sampling problem. Only the second one actually breaks.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Mipmaps precompute the averages that correct minification aliasing, for 33% extra memory.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Mip level comes from screen-space UV derivatives, which is why fragments shade in 2×2 quads.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Trilinear over-blurs oblique surfaces because level selection uses the maximum derivative; anisotropic filtering is the fix.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Tangent-space normal maps are reusable and survive deformation, but need a correct TBN including handedness.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641 · Computer Graphics  —  Module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