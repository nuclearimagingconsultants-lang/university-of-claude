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outcomes before the content. Every slide that follows exists to serve one of these.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Radiance is the key one: it is constant along a ray in vacuum, which is exactly why it is the quantity a renderer transports.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think n·l is an empirical hack. Stress that it is exact geometry, unlike the specular terms that follow.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the 1/pi now; Module 11 depends on it being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Blinn-Phong is both cheaper and more accurate, which is why it won. The halfway vector reappears in Module 11 as the microfacet normal.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Gouraud's failure is instructive: a specular highlight smaller than a triangle simply disappears, because it was never sampled at a vertex.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prevents more bad-looking renders than any other in the course. Dwell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868680"/>
            <a:ext cx="96012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UNIVERSITY OF CLAUDE</a:t>
            </a:r>
          </a:p>
        </p:txBody>
      </p:sp>
      <p:sp>
        <p:nvSpPr>
          <p:cNvPr id="5" name="TextBox 4"/>
          <p:cNvSpPr txBox="1"/>
          <p:nvPr/>
        </p:nvSpPr>
        <p:spPr>
          <a:xfrm>
            <a:off x="1005840" y="1417320"/>
            <a:ext cx="9601200" cy="457200"/>
          </a:xfrm>
          <a:prstGeom prst="rect">
            <a:avLst/>
          </a:prstGeom>
          <a:noFill/>
        </p:spPr>
        <p:txBody>
          <a:bodyPr wrap="square" anchor="t" lIns="0" rIns="0" tIns="0" bIns="0">
            <a:spAutoFit/>
          </a:bodyPr>
          <a:lstStyle/>
          <a:p>
            <a:pPr algn="l">
              <a:lnSpc>
                <a:spcPct val="100000"/>
              </a:lnSpc>
            </a:pPr>
            <a:r>
              <a:rPr sz="1700" b="0" i="0">
                <a:solidFill>
                  <a:srgbClr val="A9B4C4"/>
                </a:solidFill>
                <a:latin typeface="Calibri"/>
              </a:rPr>
              <a:t>CSCE 641 — Computer Graphics</a:t>
            </a:r>
          </a:p>
        </p:txBody>
      </p:sp>
      <p:sp>
        <p:nvSpPr>
          <p:cNvPr id="6" name="TextBox 5"/>
          <p:cNvSpPr txBox="1"/>
          <p:nvPr/>
        </p:nvSpPr>
        <p:spPr>
          <a:xfrm>
            <a:off x="1005840" y="2148840"/>
            <a:ext cx="10058400" cy="411480"/>
          </a:xfrm>
          <a:prstGeom prst="rect">
            <a:avLst/>
          </a:prstGeom>
          <a:noFill/>
        </p:spPr>
        <p:txBody>
          <a:bodyPr wrap="square" anchor="t" lIns="0" rIns="0" tIns="0" bIns="0">
            <a:spAutoFit/>
          </a:bodyPr>
          <a:lstStyle/>
          <a:p>
            <a:pPr algn="l">
              <a:lnSpc>
                <a:spcPct val="100000"/>
              </a:lnSpc>
            </a:pPr>
            <a:r>
              <a:rPr sz="1300" b="1" i="0">
                <a:solidFill>
                  <a:srgbClr val="1F6B68"/>
                </a:solidFill>
                <a:latin typeface="Calibri"/>
              </a:rPr>
              <a:t>MODULE 06</a:t>
            </a:r>
          </a:p>
        </p:txBody>
      </p:sp>
      <p:sp>
        <p:nvSpPr>
          <p:cNvPr id="7" name="TextBox 6"/>
          <p:cNvSpPr txBox="1"/>
          <p:nvPr/>
        </p:nvSpPr>
        <p:spPr>
          <a:xfrm>
            <a:off x="1005840" y="2606040"/>
            <a:ext cx="10241280" cy="1737360"/>
          </a:xfrm>
          <a:prstGeom prst="rect">
            <a:avLst/>
          </a:prstGeom>
          <a:noFill/>
        </p:spPr>
        <p:txBody>
          <a:bodyPr wrap="square" anchor="t" lIns="0" rIns="0" tIns="0" bIns="0">
            <a:spAutoFit/>
          </a:bodyPr>
          <a:lstStyle/>
          <a:p>
            <a:pPr algn="l">
              <a:lnSpc>
                <a:spcPct val="105000"/>
              </a:lnSpc>
            </a:pPr>
            <a:r>
              <a:rPr sz="4400" b="1" i="0">
                <a:solidFill>
                  <a:srgbClr val="FFFFFF"/>
                </a:solidFill>
                <a:latin typeface="Georgia"/>
              </a:rPr>
              <a:t>Light, Colour, and Local Shading</a:t>
            </a:r>
          </a:p>
        </p:txBody>
      </p:sp>
      <p:sp>
        <p:nvSpPr>
          <p:cNvPr id="8" name="Rectangle 7"/>
          <p:cNvSpPr/>
          <p:nvPr/>
        </p:nvSpPr>
        <p:spPr>
          <a:xfrm>
            <a:off x="1005840" y="4526280"/>
            <a:ext cx="2377440" cy="41148"/>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9509760" cy="1005840"/>
          </a:xfrm>
          <a:prstGeom prst="rect">
            <a:avLst/>
          </a:prstGeom>
          <a:noFill/>
        </p:spPr>
        <p:txBody>
          <a:bodyPr wrap="square" anchor="t" lIns="0" rIns="0" tIns="0" bIns="0">
            <a:spAutoFit/>
          </a:bodyPr>
          <a:lstStyle/>
          <a:p>
            <a:pPr algn="l">
              <a:lnSpc>
                <a:spcPct val="125000"/>
              </a:lnSpc>
            </a:pPr>
            <a:r>
              <a:rPr sz="1600" b="0" i="1">
                <a:solidFill>
                  <a:srgbClr val="9AA5B5"/>
                </a:solidFill>
                <a:latin typeface="Calibri"/>
              </a:rPr>
              <a:t>Why surfaces look the way they do, and the models that fake it.</a:t>
            </a:r>
          </a:p>
        </p:txBody>
      </p:sp>
      <p:sp>
        <p:nvSpPr>
          <p:cNvPr id="10" name="TextBox 9"/>
          <p:cNvSpPr txBox="1"/>
          <p:nvPr/>
        </p:nvSpPr>
        <p:spPr>
          <a:xfrm>
            <a:off x="1005840" y="6080760"/>
            <a:ext cx="10058400" cy="320040"/>
          </a:xfrm>
          <a:prstGeom prst="rect">
            <a:avLst/>
          </a:prstGeom>
          <a:noFill/>
        </p:spPr>
        <p:txBody>
          <a:bodyPr wrap="square" anchor="t" lIns="0" rIns="0" tIns="0" bIns="0">
            <a:spAutoFit/>
          </a:bodyPr>
          <a:lstStyle/>
          <a:p>
            <a:pPr algn="l">
              <a:lnSpc>
                <a:spcPct val="100000"/>
              </a:lnSpc>
            </a:pPr>
            <a:r>
              <a:rPr sz="1000" b="0" i="0">
                <a:solidFill>
                  <a:srgbClr val="5E697A"/>
                </a:solidFill>
                <a:latin typeface="Calibri"/>
              </a:rPr>
              <a:t>CSCE 641 · Module 06 of 13 · original material, share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MODULE OUTCOMES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What you will be able to do</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Explain radiometric quantities and why irradiance falls off with cosine.</a:t>
            </a:r>
          </a:p>
          <a:p>
            <a:pPr algn="l">
              <a:lnSpc>
                <a:spcPct val="122000"/>
              </a:lnSpc>
              <a:spcAft>
                <a:spcPts val="900"/>
              </a:spcAft>
            </a:pPr>
            <a:r>
              <a:rPr sz="1800" b="0" i="0">
                <a:solidFill>
                  <a:srgbClr val="3C4555"/>
                </a:solidFill>
                <a:latin typeface="Calibri"/>
              </a:rPr>
              <a:t>▪  Derive Lambert's cosine law and implement diffuse shading.</a:t>
            </a:r>
          </a:p>
          <a:p>
            <a:pPr algn="l">
              <a:lnSpc>
                <a:spcPct val="122000"/>
              </a:lnSpc>
              <a:spcAft>
                <a:spcPts val="900"/>
              </a:spcAft>
            </a:pPr>
            <a:r>
              <a:rPr sz="1800" b="0" i="0">
                <a:solidFill>
                  <a:srgbClr val="3C4555"/>
                </a:solidFill>
                <a:latin typeface="Calibri"/>
              </a:rPr>
              <a:t>▪  Implement Blinn–Phong and state honestly where it is wrong.</a:t>
            </a:r>
          </a:p>
          <a:p>
            <a:pPr algn="l">
              <a:lnSpc>
                <a:spcPct val="122000"/>
              </a:lnSpc>
              <a:spcAft>
                <a:spcPts val="900"/>
              </a:spcAft>
            </a:pPr>
            <a:r>
              <a:rPr sz="1800" b="0" i="0">
                <a:solidFill>
                  <a:srgbClr val="3C4555"/>
                </a:solidFill>
                <a:latin typeface="Calibri"/>
              </a:rPr>
              <a:t>▪  Explain gamma and linear workflow, and why ignoring it looks bad.</a:t>
            </a:r>
          </a:p>
          <a:p>
            <a:pPr algn="l">
              <a:lnSpc>
                <a:spcPct val="122000"/>
              </a:lnSpc>
              <a:spcAft>
                <a:spcPts val="900"/>
              </a:spcAft>
            </a:pPr>
            <a:r>
              <a:rPr sz="1800" b="0" i="0">
                <a:solidFill>
                  <a:srgbClr val="3C4555"/>
                </a:solidFill>
                <a:latin typeface="Calibri"/>
              </a:rPr>
              <a:t>▪  Distinguish flat, Gouraud, and Phong interpolation and their artifacts.</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1</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What light is doing</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Enough radiometry to stop guessing.</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RADIOMETRY</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The quantities that matter</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292608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56816"/>
            <a:ext cx="270662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Quantity</a:t>
            </a:r>
          </a:p>
        </p:txBody>
      </p:sp>
      <p:sp>
        <p:nvSpPr>
          <p:cNvPr id="8" name="Rectangle 7"/>
          <p:cNvSpPr/>
          <p:nvPr/>
        </p:nvSpPr>
        <p:spPr>
          <a:xfrm>
            <a:off x="3493008" y="1901952"/>
            <a:ext cx="274320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1956816"/>
            <a:ext cx="252374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Units</a:t>
            </a:r>
          </a:p>
        </p:txBody>
      </p:sp>
      <p:sp>
        <p:nvSpPr>
          <p:cNvPr id="10" name="Rectangle 9"/>
          <p:cNvSpPr/>
          <p:nvPr/>
        </p:nvSpPr>
        <p:spPr>
          <a:xfrm>
            <a:off x="6236208" y="1901952"/>
            <a:ext cx="539496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5936" y="1956816"/>
            <a:ext cx="517550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Intuitively</a:t>
            </a:r>
          </a:p>
        </p:txBody>
      </p:sp>
      <p:sp>
        <p:nvSpPr>
          <p:cNvPr id="12" name="Rectangle 11"/>
          <p:cNvSpPr/>
          <p:nvPr/>
        </p:nvSpPr>
        <p:spPr>
          <a:xfrm>
            <a:off x="566928" y="2377440"/>
            <a:ext cx="292608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2414016"/>
            <a:ext cx="270662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Flux Φ</a:t>
            </a:r>
          </a:p>
        </p:txBody>
      </p:sp>
      <p:sp>
        <p:nvSpPr>
          <p:cNvPr id="14" name="Rectangle 13"/>
          <p:cNvSpPr/>
          <p:nvPr/>
        </p:nvSpPr>
        <p:spPr>
          <a:xfrm>
            <a:off x="3493008" y="2377440"/>
            <a:ext cx="27432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2414016"/>
            <a:ext cx="25237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W</a:t>
            </a:r>
          </a:p>
        </p:txBody>
      </p:sp>
      <p:sp>
        <p:nvSpPr>
          <p:cNvPr id="16" name="Rectangle 15"/>
          <p:cNvSpPr/>
          <p:nvPr/>
        </p:nvSpPr>
        <p:spPr>
          <a:xfrm>
            <a:off x="6236208" y="2377440"/>
            <a:ext cx="53949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2414016"/>
            <a:ext cx="5175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Total power carried by light</a:t>
            </a:r>
          </a:p>
        </p:txBody>
      </p:sp>
      <p:sp>
        <p:nvSpPr>
          <p:cNvPr id="18" name="Rectangle 17"/>
          <p:cNvSpPr/>
          <p:nvPr/>
        </p:nvSpPr>
        <p:spPr>
          <a:xfrm>
            <a:off x="566928" y="2852928"/>
            <a:ext cx="292608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 y="2889504"/>
            <a:ext cx="270662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Irradiance E</a:t>
            </a:r>
          </a:p>
        </p:txBody>
      </p:sp>
      <p:sp>
        <p:nvSpPr>
          <p:cNvPr id="20" name="Rectangle 19"/>
          <p:cNvSpPr/>
          <p:nvPr/>
        </p:nvSpPr>
        <p:spPr>
          <a:xfrm>
            <a:off x="3493008" y="2852928"/>
            <a:ext cx="27432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2736" y="2889504"/>
            <a:ext cx="25237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W/m²</a:t>
            </a:r>
          </a:p>
        </p:txBody>
      </p:sp>
      <p:sp>
        <p:nvSpPr>
          <p:cNvPr id="22" name="Rectangle 21"/>
          <p:cNvSpPr/>
          <p:nvPr/>
        </p:nvSpPr>
        <p:spPr>
          <a:xfrm>
            <a:off x="6236208" y="2852928"/>
            <a:ext cx="53949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45936" y="2889504"/>
            <a:ext cx="5175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Power </a:t>
            </a:r>
            <a:r>
              <a:rPr sz="1150" b="0" i="1">
                <a:solidFill>
                  <a:srgbClr val="3C4555"/>
                </a:solidFill>
                <a:latin typeface="Calibri"/>
              </a:rPr>
              <a:t>arriving</a:t>
            </a:r>
            <a:r>
              <a:rPr sz="1150" b="0" i="0">
                <a:solidFill>
                  <a:srgbClr val="3C4555"/>
                </a:solidFill>
                <a:latin typeface="Calibri"/>
              </a:rPr>
              <a:t> per unit area</a:t>
            </a:r>
          </a:p>
        </p:txBody>
      </p:sp>
      <p:sp>
        <p:nvSpPr>
          <p:cNvPr id="24" name="Rectangle 23"/>
          <p:cNvSpPr/>
          <p:nvPr/>
        </p:nvSpPr>
        <p:spPr>
          <a:xfrm>
            <a:off x="566928" y="3328416"/>
            <a:ext cx="292608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656" y="3364992"/>
            <a:ext cx="270662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Radiance L</a:t>
            </a:r>
          </a:p>
        </p:txBody>
      </p:sp>
      <p:sp>
        <p:nvSpPr>
          <p:cNvPr id="26" name="Rectangle 25"/>
          <p:cNvSpPr/>
          <p:nvPr/>
        </p:nvSpPr>
        <p:spPr>
          <a:xfrm>
            <a:off x="3493008" y="3328416"/>
            <a:ext cx="27432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02736" y="3364992"/>
            <a:ext cx="25237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W/(m²·sr)</a:t>
            </a:r>
          </a:p>
        </p:txBody>
      </p:sp>
      <p:sp>
        <p:nvSpPr>
          <p:cNvPr id="28" name="Rectangle 27"/>
          <p:cNvSpPr/>
          <p:nvPr/>
        </p:nvSpPr>
        <p:spPr>
          <a:xfrm>
            <a:off x="6236208" y="3328416"/>
            <a:ext cx="53949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3364992"/>
            <a:ext cx="5175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Power per area per solid angle — what a pixel measures</a:t>
            </a:r>
          </a:p>
        </p:txBody>
      </p:sp>
      <p:sp>
        <p:nvSpPr>
          <p:cNvPr id="30" name="Rectangle 29"/>
          <p:cNvSpPr/>
          <p:nvPr/>
        </p:nvSpPr>
        <p:spPr>
          <a:xfrm>
            <a:off x="566928" y="3803904"/>
            <a:ext cx="292608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840480"/>
            <a:ext cx="270662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BRDF fᵣ</a:t>
            </a:r>
          </a:p>
        </p:txBody>
      </p:sp>
      <p:sp>
        <p:nvSpPr>
          <p:cNvPr id="32" name="Rectangle 31"/>
          <p:cNvSpPr/>
          <p:nvPr/>
        </p:nvSpPr>
        <p:spPr>
          <a:xfrm>
            <a:off x="3493008" y="3803904"/>
            <a:ext cx="27432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02736" y="3840480"/>
            <a:ext cx="252374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1/sr</a:t>
            </a:r>
          </a:p>
        </p:txBody>
      </p:sp>
      <p:sp>
        <p:nvSpPr>
          <p:cNvPr id="34" name="Rectangle 33"/>
          <p:cNvSpPr/>
          <p:nvPr/>
        </p:nvSpPr>
        <p:spPr>
          <a:xfrm>
            <a:off x="6236208" y="3803904"/>
            <a:ext cx="53949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5936" y="3840480"/>
            <a:ext cx="51755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Fraction of incoming light reflected in a given direction</a:t>
            </a:r>
          </a:p>
        </p:txBody>
      </p:sp>
      <p:sp>
        <p:nvSpPr>
          <p:cNvPr id="36" name="TextBox 35"/>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37" name="TextBox 36"/>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Why radiance is the right quantity</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KEY IDEA</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900" b="0" i="0">
                <a:solidFill>
                  <a:srgbClr val="141924"/>
                </a:solidFill>
                <a:latin typeface="Georgia"/>
              </a:rPr>
              <a:t>Radiance is constant along a ray through empty space. Flux and irradiance are not.</a:t>
            </a:r>
          </a:p>
          <a:p>
            <a:pPr algn="l">
              <a:lnSpc>
                <a:spcPct val="135000"/>
              </a:lnSpc>
              <a:spcAft>
                <a:spcPts val="1200"/>
              </a:spcAft>
            </a:pPr>
            <a:r>
              <a:rPr sz="1900" b="0" i="0">
                <a:solidFill>
                  <a:srgbClr val="141924"/>
                </a:solidFill>
                <a:latin typeface="Georgia"/>
              </a:rPr>
              <a:t>That invariance is what makes 'what colour is this pixel?' a well-posed question with a transportable answer — you can compute it at the surface and it is still valid at the eye.</a:t>
            </a:r>
          </a:p>
          <a:p>
            <a:pPr algn="l">
              <a:lnSpc>
                <a:spcPct val="135000"/>
              </a:lnSpc>
              <a:spcAft>
                <a:spcPts val="1200"/>
              </a:spcAft>
            </a:pPr>
            <a:r>
              <a:rPr sz="1900" b="0" i="0">
                <a:solidFill>
                  <a:srgbClr val="141924"/>
                </a:solidFill>
                <a:latin typeface="Georgia"/>
              </a:rPr>
              <a:t>Every renderer, from this course's rasterizer to a production path tracer, transports radiance. Module 11 and CSCE 647 make this precise.</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LAMBERT</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The cosine law</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11064240" cy="65836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01952"/>
            <a:ext cx="45720" cy="658368"/>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93392"/>
            <a:ext cx="10515600" cy="457200"/>
          </a:xfrm>
          <a:prstGeom prst="rect">
            <a:avLst/>
          </a:prstGeom>
          <a:noFill/>
        </p:spPr>
        <p:txBody>
          <a:bodyPr wrap="square" anchor="ctr" lIns="0" rIns="0" tIns="0" bIns="0">
            <a:spAutoFit/>
          </a:bodyPr>
          <a:lstStyle/>
          <a:p>
            <a:pPr algn="l">
              <a:lnSpc>
                <a:spcPct val="100000"/>
              </a:lnSpc>
            </a:pPr>
            <a:r>
              <a:rPr sz="1700" b="0" i="0">
                <a:solidFill>
                  <a:srgbClr val="141924"/>
                </a:solidFill>
                <a:latin typeface="Consolas"/>
              </a:rPr>
              <a:t>E  =  Φ / A</a:t>
            </a:r>
          </a:p>
        </p:txBody>
      </p:sp>
      <p:sp>
        <p:nvSpPr>
          <p:cNvPr id="9" name="TextBox 8"/>
          <p:cNvSpPr txBox="1"/>
          <p:nvPr/>
        </p:nvSpPr>
        <p:spPr>
          <a:xfrm>
            <a:off x="914400" y="2578608"/>
            <a:ext cx="10424160" cy="384048"/>
          </a:xfrm>
          <a:prstGeom prst="rect">
            <a:avLst/>
          </a:prstGeom>
          <a:noFill/>
        </p:spPr>
        <p:txBody>
          <a:bodyPr wrap="square" anchor="t" lIns="0" rIns="0" tIns="0" bIns="0">
            <a:spAutoFit/>
          </a:bodyPr>
          <a:lstStyle/>
          <a:p>
            <a:pPr algn="l">
              <a:lnSpc>
                <a:spcPct val="115000"/>
              </a:lnSpc>
            </a:pPr>
            <a:r>
              <a:rPr sz="1250" b="0" i="1">
                <a:solidFill>
                  <a:srgbClr val="798290"/>
                </a:solidFill>
                <a:latin typeface="Calibri"/>
              </a:rPr>
              <a:t>Irradiance is power spread over area.</a:t>
            </a:r>
          </a:p>
        </p:txBody>
      </p:sp>
      <p:sp>
        <p:nvSpPr>
          <p:cNvPr id="10" name="Rectangle 9"/>
          <p:cNvSpPr/>
          <p:nvPr/>
        </p:nvSpPr>
        <p:spPr>
          <a:xfrm>
            <a:off x="566928" y="3127248"/>
            <a:ext cx="11064240" cy="65836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127248"/>
            <a:ext cx="45720" cy="658368"/>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18688"/>
            <a:ext cx="10515600" cy="457200"/>
          </a:xfrm>
          <a:prstGeom prst="rect">
            <a:avLst/>
          </a:prstGeom>
          <a:noFill/>
        </p:spPr>
        <p:txBody>
          <a:bodyPr wrap="square" anchor="ctr" lIns="0" rIns="0" tIns="0" bIns="0">
            <a:spAutoFit/>
          </a:bodyPr>
          <a:lstStyle/>
          <a:p>
            <a:pPr algn="l">
              <a:lnSpc>
                <a:spcPct val="100000"/>
              </a:lnSpc>
            </a:pPr>
            <a:r>
              <a:rPr sz="1700" b="0" i="0">
                <a:solidFill>
                  <a:srgbClr val="141924"/>
                </a:solidFill>
                <a:latin typeface="Consolas"/>
              </a:rPr>
              <a:t>A_effective  =  A / cosθ</a:t>
            </a:r>
          </a:p>
        </p:txBody>
      </p:sp>
      <p:sp>
        <p:nvSpPr>
          <p:cNvPr id="13" name="TextBox 12"/>
          <p:cNvSpPr txBox="1"/>
          <p:nvPr/>
        </p:nvSpPr>
        <p:spPr>
          <a:xfrm>
            <a:off x="914400" y="3803904"/>
            <a:ext cx="10424160" cy="384048"/>
          </a:xfrm>
          <a:prstGeom prst="rect">
            <a:avLst/>
          </a:prstGeom>
          <a:noFill/>
        </p:spPr>
        <p:txBody>
          <a:bodyPr wrap="square" anchor="t" lIns="0" rIns="0" tIns="0" bIns="0">
            <a:spAutoFit/>
          </a:bodyPr>
          <a:lstStyle/>
          <a:p>
            <a:pPr algn="l">
              <a:lnSpc>
                <a:spcPct val="115000"/>
              </a:lnSpc>
            </a:pPr>
            <a:r>
              <a:rPr sz="1250" b="0" i="1">
                <a:solidFill>
                  <a:srgbClr val="798290"/>
                </a:solidFill>
                <a:latin typeface="Calibri"/>
              </a:rPr>
              <a:t>Tilt a surface away from a beam and the same power covers more area.</a:t>
            </a:r>
          </a:p>
        </p:txBody>
      </p:sp>
      <p:sp>
        <p:nvSpPr>
          <p:cNvPr id="14" name="Rectangle 13"/>
          <p:cNvSpPr/>
          <p:nvPr/>
        </p:nvSpPr>
        <p:spPr>
          <a:xfrm>
            <a:off x="566928" y="4352544"/>
            <a:ext cx="11064240" cy="65836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352544"/>
            <a:ext cx="45720" cy="658368"/>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443983"/>
            <a:ext cx="10515600" cy="457200"/>
          </a:xfrm>
          <a:prstGeom prst="rect">
            <a:avLst/>
          </a:prstGeom>
          <a:noFill/>
        </p:spPr>
        <p:txBody>
          <a:bodyPr wrap="square" anchor="ctr" lIns="0" rIns="0" tIns="0" bIns="0">
            <a:spAutoFit/>
          </a:bodyPr>
          <a:lstStyle/>
          <a:p>
            <a:pPr algn="l">
              <a:lnSpc>
                <a:spcPct val="100000"/>
              </a:lnSpc>
            </a:pPr>
            <a:r>
              <a:rPr sz="1700" b="0" i="0">
                <a:solidFill>
                  <a:srgbClr val="141924"/>
                </a:solidFill>
                <a:latin typeface="Consolas"/>
              </a:rPr>
              <a:t>E  =  E₀ cosθ  =  E₀ (n · l)</a:t>
            </a:r>
          </a:p>
        </p:txBody>
      </p:sp>
      <p:sp>
        <p:nvSpPr>
          <p:cNvPr id="17" name="TextBox 16"/>
          <p:cNvSpPr txBox="1"/>
          <p:nvPr/>
        </p:nvSpPr>
        <p:spPr>
          <a:xfrm>
            <a:off x="914400" y="5029200"/>
            <a:ext cx="10424160" cy="384048"/>
          </a:xfrm>
          <a:prstGeom prst="rect">
            <a:avLst/>
          </a:prstGeom>
          <a:noFill/>
        </p:spPr>
        <p:txBody>
          <a:bodyPr wrap="square" anchor="t" lIns="0" rIns="0" tIns="0" bIns="0">
            <a:spAutoFit/>
          </a:bodyPr>
          <a:lstStyle/>
          <a:p>
            <a:pPr algn="l">
              <a:lnSpc>
                <a:spcPct val="115000"/>
              </a:lnSpc>
            </a:pPr>
            <a:r>
              <a:rPr sz="1250" b="0" i="1">
                <a:solidFill>
                  <a:srgbClr val="798290"/>
                </a:solidFill>
                <a:latin typeface="Calibri"/>
              </a:rPr>
              <a:t>Hence the cosine. This is geometry, not a material property.</a:t>
            </a:r>
          </a:p>
        </p:txBody>
      </p:sp>
      <p:sp>
        <p:nvSpPr>
          <p:cNvPr id="18" name="TextBox 17"/>
          <p:cNvSpPr txBox="1"/>
          <p:nvPr/>
        </p:nvSpPr>
        <p:spPr>
          <a:xfrm>
            <a:off x="566928" y="5669279"/>
            <a:ext cx="10789920" cy="457200"/>
          </a:xfrm>
          <a:prstGeom prst="rect">
            <a:avLst/>
          </a:prstGeom>
          <a:noFill/>
        </p:spPr>
        <p:txBody>
          <a:bodyPr wrap="square" anchor="t" lIns="0" rIns="0" tIns="0" bIns="0">
            <a:spAutoFit/>
          </a:bodyPr>
          <a:lstStyle/>
          <a:p>
            <a:pPr algn="l">
              <a:lnSpc>
                <a:spcPct val="120000"/>
              </a:lnSpc>
            </a:pPr>
            <a:r>
              <a:rPr sz="1250" b="0" i="1">
                <a:solidFill>
                  <a:srgbClr val="798290"/>
                </a:solidFill>
                <a:latin typeface="Calibri"/>
              </a:rPr>
              <a:t>The n·l in every diffuse shader is not an approximation of anything — it is exactly the geometric foreshortening of the incoming beam.</a:t>
            </a:r>
          </a:p>
        </p:txBody>
      </p:sp>
      <p:sp>
        <p:nvSpPr>
          <p:cNvPr id="19" name="TextBox 1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20" name="TextBox 1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DIFFUSE</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Lambertian shading</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11064240" cy="2188464"/>
          </a:xfrm>
          <a:prstGeom prst="rect">
            <a:avLst/>
          </a:prstGeom>
          <a:solidFill>
            <a:srgbClr val="1B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2011680"/>
            <a:ext cx="1005840" cy="274320"/>
          </a:xfrm>
          <a:prstGeom prst="rect">
            <a:avLst/>
          </a:prstGeom>
          <a:noFill/>
        </p:spPr>
        <p:txBody>
          <a:bodyPr wrap="square" anchor="t" lIns="0" rIns="0" tIns="0" bIns="0">
            <a:spAutoFit/>
          </a:bodyPr>
          <a:lstStyle/>
          <a:p>
            <a:pPr algn="r">
              <a:lnSpc>
                <a:spcPct val="100000"/>
              </a:lnSpc>
            </a:pPr>
            <a:r>
              <a:rPr sz="1000" b="0" i="0">
                <a:solidFill>
                  <a:srgbClr val="C29B3F"/>
                </a:solidFill>
                <a:latin typeface="Consolas"/>
              </a:rPr>
              <a:t>glsl</a:t>
            </a:r>
          </a:p>
        </p:txBody>
      </p:sp>
      <p:sp>
        <p:nvSpPr>
          <p:cNvPr id="8" name="TextBox 7"/>
          <p:cNvSpPr txBox="1"/>
          <p:nvPr/>
        </p:nvSpPr>
        <p:spPr>
          <a:xfrm>
            <a:off x="868680" y="2084832"/>
            <a:ext cx="10515600" cy="1914144"/>
          </a:xfrm>
          <a:prstGeom prst="rect">
            <a:avLst/>
          </a:prstGeom>
          <a:noFill/>
        </p:spPr>
        <p:txBody>
          <a:bodyPr wrap="square" anchor="t" lIns="0" rIns="0" tIns="0" bIns="0">
            <a:spAutoFit/>
          </a:bodyPr>
          <a:lstStyle/>
          <a:p>
            <a:pPr algn="l">
              <a:lnSpc>
                <a:spcPct val="105000"/>
              </a:lnSpc>
            </a:pPr>
            <a:r>
              <a:rPr sz="1400" b="0" i="0">
                <a:solidFill>
                  <a:srgbClr val="E4E8EF"/>
                </a:solidFill>
                <a:latin typeface="Consolas"/>
              </a:rPr>
              <a:t>vec3 N = normalize(vNormal);         // renormalize after interpolation</a:t>
            </a:r>
          </a:p>
          <a:p>
            <a:pPr algn="l">
              <a:lnSpc>
                <a:spcPct val="105000"/>
              </a:lnSpc>
            </a:pPr>
            <a:r>
              <a:rPr sz="1400" b="0" i="0">
                <a:solidFill>
                  <a:srgbClr val="E4E8EF"/>
                </a:solidFill>
                <a:latin typeface="Consolas"/>
              </a:rPr>
              <a:t>vec3 L = normalize(lightPos - vPos);</a:t>
            </a:r>
          </a:p>
          <a:p>
            <a:pPr algn="l">
              <a:lnSpc>
                <a:spcPct val="105000"/>
              </a:lnSpc>
            </a:pPr>
            <a:r>
              <a:rPr sz="1400" b="0" i="0">
                <a:solidFill>
                  <a:srgbClr val="E4E8EF"/>
                </a:solidFill>
                <a:latin typeface="Consolas"/>
              </a:rPr>
              <a:t> </a:t>
            </a:r>
          </a:p>
          <a:p>
            <a:pPr algn="l">
              <a:lnSpc>
                <a:spcPct val="105000"/>
              </a:lnSpc>
            </a:pPr>
            <a:r>
              <a:rPr sz="1400" b="0" i="0">
                <a:solidFill>
                  <a:srgbClr val="E4E8EF"/>
                </a:solidFill>
                <a:latin typeface="Consolas"/>
              </a:rPr>
              <a:t>float ndotl = max(dot(N, L), 0.0);   // clamp: no negative light</a:t>
            </a:r>
          </a:p>
          <a:p>
            <a:pPr algn="l">
              <a:lnSpc>
                <a:spcPct val="105000"/>
              </a:lnSpc>
            </a:pPr>
            <a:r>
              <a:rPr sz="1400" b="0" i="0">
                <a:solidFill>
                  <a:srgbClr val="E4E8EF"/>
                </a:solidFill>
                <a:latin typeface="Consolas"/>
              </a:rPr>
              <a:t> </a:t>
            </a:r>
          </a:p>
          <a:p>
            <a:pPr algn="l">
              <a:lnSpc>
                <a:spcPct val="105000"/>
              </a:lnSpc>
            </a:pPr>
            <a:r>
              <a:rPr sz="1400" b="0" i="0">
                <a:solidFill>
                  <a:srgbClr val="E4E8EF"/>
                </a:solidFill>
                <a:latin typeface="Consolas"/>
              </a:rPr>
              <a:t>// 1/pi is the normalisation that makes the BRDF energy-conserving:</a:t>
            </a:r>
          </a:p>
          <a:p>
            <a:pPr algn="l">
              <a:lnSpc>
                <a:spcPct val="105000"/>
              </a:lnSpc>
            </a:pPr>
            <a:r>
              <a:rPr sz="1400" b="0" i="0">
                <a:solidFill>
                  <a:srgbClr val="E4E8EF"/>
                </a:solidFill>
                <a:latin typeface="Consolas"/>
              </a:rPr>
              <a:t>// a perfectly white surface must not reflect more than it receives.</a:t>
            </a:r>
          </a:p>
          <a:p>
            <a:pPr algn="l">
              <a:lnSpc>
                <a:spcPct val="105000"/>
              </a:lnSpc>
            </a:pPr>
            <a:r>
              <a:rPr sz="1400" b="0" i="0">
                <a:solidFill>
                  <a:srgbClr val="E4E8EF"/>
                </a:solidFill>
                <a:latin typeface="Consolas"/>
              </a:rPr>
              <a:t>vec3 diffuse = albedo / PI * lightColor * ndotl * attenuation;</a:t>
            </a:r>
          </a:p>
        </p:txBody>
      </p:sp>
      <p:sp>
        <p:nvSpPr>
          <p:cNvPr id="9" name="TextBox 8"/>
          <p:cNvSpPr txBox="1"/>
          <p:nvPr/>
        </p:nvSpPr>
        <p:spPr>
          <a:xfrm>
            <a:off x="566928" y="4255007"/>
            <a:ext cx="10789920" cy="457200"/>
          </a:xfrm>
          <a:prstGeom prst="rect">
            <a:avLst/>
          </a:prstGeom>
          <a:noFill/>
        </p:spPr>
        <p:txBody>
          <a:bodyPr wrap="square" anchor="t" lIns="0" rIns="0" tIns="0" bIns="0">
            <a:spAutoFit/>
          </a:bodyPr>
          <a:lstStyle/>
          <a:p>
            <a:pPr algn="l">
              <a:lnSpc>
                <a:spcPct val="120000"/>
              </a:lnSpc>
            </a:pPr>
            <a:r>
              <a:rPr sz="1250" b="0" i="1">
                <a:solidFill>
                  <a:srgbClr val="798290"/>
                </a:solidFill>
                <a:latin typeface="Calibri"/>
              </a:rPr>
              <a:t>The 1/π is routinely omitted in older code, and then compensated for by tuning light intensities. That works until you want physically meaningful units — see Module 11.</a:t>
            </a:r>
          </a:p>
        </p:txBody>
      </p:sp>
      <p:sp>
        <p:nvSpPr>
          <p:cNvPr id="10" name="TextBox 9"/>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11" name="TextBox 10"/>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2</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Specular</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Where the physics stops and the curve-fitting begins.</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SPECULAR MODELS</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Phong and Blinn–Phong</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5266944" cy="404164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01952"/>
            <a:ext cx="5266944" cy="45720"/>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57984"/>
            <a:ext cx="4754880" cy="411480"/>
          </a:xfrm>
          <a:prstGeom prst="rect">
            <a:avLst/>
          </a:prstGeom>
          <a:noFill/>
        </p:spPr>
        <p:txBody>
          <a:bodyPr wrap="square" anchor="t" lIns="0" rIns="0" tIns="0" bIns="0">
            <a:spAutoFit/>
          </a:bodyPr>
          <a:lstStyle/>
          <a:p>
            <a:pPr algn="l">
              <a:lnSpc>
                <a:spcPct val="100000"/>
              </a:lnSpc>
            </a:pPr>
            <a:r>
              <a:rPr sz="1500" b="1" i="0">
                <a:solidFill>
                  <a:srgbClr val="141924"/>
                </a:solidFill>
                <a:latin typeface="Calibri"/>
              </a:rPr>
              <a:t>Phong (1975)</a:t>
            </a:r>
          </a:p>
        </p:txBody>
      </p:sp>
      <p:sp>
        <p:nvSpPr>
          <p:cNvPr id="9" name="TextBox 8"/>
          <p:cNvSpPr txBox="1"/>
          <p:nvPr/>
        </p:nvSpPr>
        <p:spPr>
          <a:xfrm>
            <a:off x="841247" y="2679192"/>
            <a:ext cx="4754880" cy="3035808"/>
          </a:xfrm>
          <a:prstGeom prst="rect">
            <a:avLst/>
          </a:prstGeom>
          <a:noFill/>
        </p:spPr>
        <p:txBody>
          <a:bodyPr wrap="square" anchor="t" lIns="0" rIns="0" tIns="0" bIns="0">
            <a:spAutoFit/>
          </a:bodyPr>
          <a:lstStyle/>
          <a:p>
            <a:pPr algn="l">
              <a:lnSpc>
                <a:spcPct val="120000"/>
              </a:lnSpc>
              <a:spcAft>
                <a:spcPts val="700"/>
              </a:spcAft>
            </a:pPr>
            <a:r>
              <a:rPr sz="1400" b="0" i="0">
                <a:solidFill>
                  <a:srgbClr val="3C4555"/>
                </a:solidFill>
                <a:latin typeface="Calibri"/>
              </a:rPr>
              <a:t>▪  Reflect L about N, compare to view.</a:t>
            </a:r>
          </a:p>
          <a:p>
            <a:pPr algn="l">
              <a:lnSpc>
                <a:spcPct val="120000"/>
              </a:lnSpc>
              <a:spcAft>
                <a:spcPts val="700"/>
              </a:spcAft>
            </a:pPr>
            <a:r>
              <a:rPr sz="1400" b="0" i="0">
                <a:solidFill>
                  <a:srgbClr val="3C4555"/>
                </a:solidFill>
                <a:latin typeface="Calibri"/>
              </a:rPr>
              <a:t>▪  </a:t>
            </a:r>
            <a:r>
              <a:rPr sz="1288" b="0" i="0">
                <a:solidFill>
                  <a:srgbClr val="3C4555"/>
                </a:solidFill>
                <a:latin typeface="Consolas"/>
              </a:rPr>
              <a:t>R = reflect(-L, N)</a:t>
            </a:r>
          </a:p>
          <a:p>
            <a:pPr algn="l">
              <a:lnSpc>
                <a:spcPct val="120000"/>
              </a:lnSpc>
              <a:spcAft>
                <a:spcPts val="700"/>
              </a:spcAft>
            </a:pPr>
            <a:r>
              <a:rPr sz="1400" b="0" i="0">
                <a:solidFill>
                  <a:srgbClr val="3C4555"/>
                </a:solidFill>
                <a:latin typeface="Calibri"/>
              </a:rPr>
              <a:t>▪  </a:t>
            </a:r>
            <a:r>
              <a:rPr sz="1288" b="0" i="0">
                <a:solidFill>
                  <a:srgbClr val="3C4555"/>
                </a:solidFill>
                <a:latin typeface="Consolas"/>
              </a:rPr>
              <a:t>spec = pow(max(dot(R,V),0), s)</a:t>
            </a:r>
          </a:p>
          <a:p>
            <a:pPr algn="l" lvl="1">
              <a:lnSpc>
                <a:spcPct val="120000"/>
              </a:lnSpc>
              <a:spcAft>
                <a:spcPts val="700"/>
              </a:spcAft>
            </a:pPr>
            <a:r>
              <a:rPr sz="1250" b="0" i="0">
                <a:solidFill>
                  <a:srgbClr val="798290"/>
                </a:solidFill>
                <a:latin typeface="Calibri"/>
              </a:rPr>
              <a:t>–  Highlight cuts off abruptly at grazing angles.</a:t>
            </a:r>
          </a:p>
          <a:p>
            <a:pPr algn="l" lvl="1">
              <a:lnSpc>
                <a:spcPct val="120000"/>
              </a:lnSpc>
              <a:spcAft>
                <a:spcPts val="700"/>
              </a:spcAft>
            </a:pPr>
            <a:r>
              <a:rPr sz="1250" b="0" i="0">
                <a:solidFill>
                  <a:srgbClr val="798290"/>
                </a:solidFill>
                <a:latin typeface="Calibri"/>
              </a:rPr>
              <a:t>–  One extra reflect() per fragment.</a:t>
            </a:r>
          </a:p>
        </p:txBody>
      </p:sp>
      <p:sp>
        <p:nvSpPr>
          <p:cNvPr id="10" name="Rectangle 9"/>
          <p:cNvSpPr/>
          <p:nvPr/>
        </p:nvSpPr>
        <p:spPr>
          <a:xfrm>
            <a:off x="6355080" y="1901952"/>
            <a:ext cx="5266944" cy="404164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5080" y="1901952"/>
            <a:ext cx="5266944" cy="45720"/>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2157984"/>
            <a:ext cx="4754880" cy="411480"/>
          </a:xfrm>
          <a:prstGeom prst="rect">
            <a:avLst/>
          </a:prstGeom>
          <a:noFill/>
        </p:spPr>
        <p:txBody>
          <a:bodyPr wrap="square" anchor="t" lIns="0" rIns="0" tIns="0" bIns="0">
            <a:spAutoFit/>
          </a:bodyPr>
          <a:lstStyle/>
          <a:p>
            <a:pPr algn="l">
              <a:lnSpc>
                <a:spcPct val="100000"/>
              </a:lnSpc>
            </a:pPr>
            <a:r>
              <a:rPr sz="1500" b="1" i="0">
                <a:solidFill>
                  <a:srgbClr val="141924"/>
                </a:solidFill>
                <a:latin typeface="Calibri"/>
              </a:rPr>
              <a:t>Blinn–Phong (1977)</a:t>
            </a:r>
          </a:p>
        </p:txBody>
      </p:sp>
      <p:sp>
        <p:nvSpPr>
          <p:cNvPr id="13" name="TextBox 12"/>
          <p:cNvSpPr txBox="1"/>
          <p:nvPr/>
        </p:nvSpPr>
        <p:spPr>
          <a:xfrm>
            <a:off x="6629400" y="2679192"/>
            <a:ext cx="4754880" cy="3035808"/>
          </a:xfrm>
          <a:prstGeom prst="rect">
            <a:avLst/>
          </a:prstGeom>
          <a:noFill/>
        </p:spPr>
        <p:txBody>
          <a:bodyPr wrap="square" anchor="t" lIns="0" rIns="0" tIns="0" bIns="0">
            <a:spAutoFit/>
          </a:bodyPr>
          <a:lstStyle/>
          <a:p>
            <a:pPr algn="l">
              <a:lnSpc>
                <a:spcPct val="120000"/>
              </a:lnSpc>
              <a:spcAft>
                <a:spcPts val="700"/>
              </a:spcAft>
            </a:pPr>
            <a:r>
              <a:rPr sz="1400" b="0" i="0">
                <a:solidFill>
                  <a:srgbClr val="3C4555"/>
                </a:solidFill>
                <a:latin typeface="Calibri"/>
              </a:rPr>
              <a:t>▪  Halfway vector between L and V; compare to N.</a:t>
            </a:r>
          </a:p>
          <a:p>
            <a:pPr algn="l">
              <a:lnSpc>
                <a:spcPct val="120000"/>
              </a:lnSpc>
              <a:spcAft>
                <a:spcPts val="700"/>
              </a:spcAft>
            </a:pPr>
            <a:r>
              <a:rPr sz="1400" b="0" i="0">
                <a:solidFill>
                  <a:srgbClr val="3C4555"/>
                </a:solidFill>
                <a:latin typeface="Calibri"/>
              </a:rPr>
              <a:t>▪  </a:t>
            </a:r>
            <a:r>
              <a:rPr sz="1288" b="0" i="0">
                <a:solidFill>
                  <a:srgbClr val="3C4555"/>
                </a:solidFill>
                <a:latin typeface="Consolas"/>
              </a:rPr>
              <a:t>H = normalize(L + V)</a:t>
            </a:r>
          </a:p>
          <a:p>
            <a:pPr algn="l">
              <a:lnSpc>
                <a:spcPct val="120000"/>
              </a:lnSpc>
              <a:spcAft>
                <a:spcPts val="700"/>
              </a:spcAft>
            </a:pPr>
            <a:r>
              <a:rPr sz="1400" b="0" i="0">
                <a:solidFill>
                  <a:srgbClr val="3C4555"/>
                </a:solidFill>
                <a:latin typeface="Calibri"/>
              </a:rPr>
              <a:t>▪  </a:t>
            </a:r>
            <a:r>
              <a:rPr sz="1288" b="0" i="0">
                <a:solidFill>
                  <a:srgbClr val="3C4555"/>
                </a:solidFill>
                <a:latin typeface="Consolas"/>
              </a:rPr>
              <a:t>spec = pow(max(dot(N,H),0), s)</a:t>
            </a:r>
          </a:p>
          <a:p>
            <a:pPr algn="l" lvl="1">
              <a:lnSpc>
                <a:spcPct val="120000"/>
              </a:lnSpc>
              <a:spcAft>
                <a:spcPts val="700"/>
              </a:spcAft>
            </a:pPr>
            <a:r>
              <a:rPr sz="1250" b="0" i="0">
                <a:solidFill>
                  <a:srgbClr val="798290"/>
                </a:solidFill>
                <a:latin typeface="Calibri"/>
              </a:rPr>
              <a:t>–  Highlight elongates at grazing angles — which is what real surfaces do.</a:t>
            </a:r>
          </a:p>
          <a:p>
            <a:pPr algn="l" lvl="1">
              <a:lnSpc>
                <a:spcPct val="120000"/>
              </a:lnSpc>
              <a:spcAft>
                <a:spcPts val="700"/>
              </a:spcAft>
            </a:pPr>
            <a:r>
              <a:rPr sz="1250" b="0" i="0">
                <a:solidFill>
                  <a:srgbClr val="798290"/>
                </a:solidFill>
                <a:latin typeface="Calibri"/>
              </a:rPr>
              <a:t>–  Cheaper, and closer to measured data.</a:t>
            </a:r>
          </a:p>
        </p:txBody>
      </p:sp>
      <p:sp>
        <p:nvSpPr>
          <p:cNvPr id="14" name="TextBox 13"/>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15" name="TextBox 14"/>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Be honest about what this is</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CAVEAT</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900" b="0" i="0">
                <a:solidFill>
                  <a:srgbClr val="141924"/>
                </a:solidFill>
                <a:latin typeface="Georgia"/>
              </a:rPr>
              <a:t>Blinn–Phong is a curve that happens to resemble a specular highlight. It is not derived from anything.</a:t>
            </a:r>
          </a:p>
          <a:p>
            <a:pPr algn="l">
              <a:lnSpc>
                <a:spcPct val="135000"/>
              </a:lnSpc>
              <a:spcAft>
                <a:spcPts val="1200"/>
              </a:spcAft>
            </a:pPr>
            <a:r>
              <a:rPr sz="1900" b="0" i="0">
                <a:solidFill>
                  <a:srgbClr val="141924"/>
                </a:solidFill>
                <a:latin typeface="Georgia"/>
              </a:rPr>
              <a:t>It does not conserve energy: raise the shininess and the surface can reflect more light than it received. It has no notion of Fresnel, so it misses the bright rims on every real surface at grazing angles. Its parameters have no physical meaning, so materials must be retuned under every new lighting setup.</a:t>
            </a:r>
          </a:p>
          <a:p>
            <a:pPr algn="l">
              <a:lnSpc>
                <a:spcPct val="135000"/>
              </a:lnSpc>
              <a:spcAft>
                <a:spcPts val="1200"/>
              </a:spcAft>
            </a:pPr>
            <a:r>
              <a:rPr sz="1900" b="0" i="0">
                <a:solidFill>
                  <a:srgbClr val="141924"/>
                </a:solidFill>
                <a:latin typeface="Georgia"/>
              </a:rPr>
              <a:t>It is still worth learning: it is cheap, it is everywhere in existing code, and Module 11's microfacet model is most easily understood as the principled replacement for exactly these defects.</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3</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Where you evaluate it</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Per face, per vertex, or per fragment — three different pictures.</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INTERPOLATION</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Three shading frequencies</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219456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 y="1956816"/>
            <a:ext cx="197510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Model</a:t>
            </a:r>
          </a:p>
        </p:txBody>
      </p:sp>
      <p:sp>
        <p:nvSpPr>
          <p:cNvPr id="8" name="Rectangle 7"/>
          <p:cNvSpPr/>
          <p:nvPr/>
        </p:nvSpPr>
        <p:spPr>
          <a:xfrm>
            <a:off x="2761488" y="1901952"/>
            <a:ext cx="228600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71216" y="1956816"/>
            <a:ext cx="2066543"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Evaluate at</a:t>
            </a:r>
          </a:p>
        </p:txBody>
      </p:sp>
      <p:sp>
        <p:nvSpPr>
          <p:cNvPr id="10" name="Rectangle 9"/>
          <p:cNvSpPr/>
          <p:nvPr/>
        </p:nvSpPr>
        <p:spPr>
          <a:xfrm>
            <a:off x="5047488" y="1901952"/>
            <a:ext cx="256032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57216" y="1956816"/>
            <a:ext cx="2340863"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Interpolate</a:t>
            </a:r>
          </a:p>
        </p:txBody>
      </p:sp>
      <p:sp>
        <p:nvSpPr>
          <p:cNvPr id="12" name="Rectangle 11"/>
          <p:cNvSpPr/>
          <p:nvPr/>
        </p:nvSpPr>
        <p:spPr>
          <a:xfrm>
            <a:off x="7607808" y="1901952"/>
            <a:ext cx="4023360" cy="475488"/>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17536" y="1956816"/>
            <a:ext cx="3803904" cy="475488"/>
          </a:xfrm>
          <a:prstGeom prst="rect">
            <a:avLst/>
          </a:prstGeom>
          <a:noFill/>
        </p:spPr>
        <p:txBody>
          <a:bodyPr wrap="square" anchor="ctr" lIns="0" rIns="0" tIns="0" bIns="0">
            <a:spAutoFit/>
          </a:bodyPr>
          <a:lstStyle/>
          <a:p>
            <a:pPr algn="l">
              <a:lnSpc>
                <a:spcPct val="100000"/>
              </a:lnSpc>
            </a:pPr>
            <a:r>
              <a:rPr sz="1250" b="1" i="0">
                <a:solidFill>
                  <a:srgbClr val="FFFFFF"/>
                </a:solidFill>
                <a:latin typeface="Calibri"/>
              </a:rPr>
              <a:t>Characteristic artifact</a:t>
            </a:r>
          </a:p>
        </p:txBody>
      </p:sp>
      <p:sp>
        <p:nvSpPr>
          <p:cNvPr id="14" name="Rectangle 13"/>
          <p:cNvSpPr/>
          <p:nvPr/>
        </p:nvSpPr>
        <p:spPr>
          <a:xfrm>
            <a:off x="566928" y="2377440"/>
            <a:ext cx="21945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 y="2414016"/>
            <a:ext cx="19751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Flat</a:t>
            </a:r>
          </a:p>
        </p:txBody>
      </p:sp>
      <p:sp>
        <p:nvSpPr>
          <p:cNvPr id="16" name="Rectangle 15"/>
          <p:cNvSpPr/>
          <p:nvPr/>
        </p:nvSpPr>
        <p:spPr>
          <a:xfrm>
            <a:off x="2761488" y="2377440"/>
            <a:ext cx="22860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71216" y="2414016"/>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Per face</a:t>
            </a:r>
          </a:p>
        </p:txBody>
      </p:sp>
      <p:sp>
        <p:nvSpPr>
          <p:cNvPr id="18" name="Rectangle 17"/>
          <p:cNvSpPr/>
          <p:nvPr/>
        </p:nvSpPr>
        <p:spPr>
          <a:xfrm>
            <a:off x="5047488" y="2377440"/>
            <a:ext cx="25603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57216" y="2414016"/>
            <a:ext cx="23408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Nothing</a:t>
            </a:r>
          </a:p>
        </p:txBody>
      </p:sp>
      <p:sp>
        <p:nvSpPr>
          <p:cNvPr id="20" name="Rectangle 19"/>
          <p:cNvSpPr/>
          <p:nvPr/>
        </p:nvSpPr>
        <p:spPr>
          <a:xfrm>
            <a:off x="7607808" y="2377440"/>
            <a:ext cx="40233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17536" y="2414016"/>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Visible facets; correct for genuinely flat surfaces</a:t>
            </a:r>
          </a:p>
        </p:txBody>
      </p:sp>
      <p:sp>
        <p:nvSpPr>
          <p:cNvPr id="22" name="Rectangle 21"/>
          <p:cNvSpPr/>
          <p:nvPr/>
        </p:nvSpPr>
        <p:spPr>
          <a:xfrm>
            <a:off x="566928" y="2852928"/>
            <a:ext cx="21945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2889504"/>
            <a:ext cx="19751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Gouraud</a:t>
            </a:r>
          </a:p>
        </p:txBody>
      </p:sp>
      <p:sp>
        <p:nvSpPr>
          <p:cNvPr id="24" name="Rectangle 23"/>
          <p:cNvSpPr/>
          <p:nvPr/>
        </p:nvSpPr>
        <p:spPr>
          <a:xfrm>
            <a:off x="2761488" y="2852928"/>
            <a:ext cx="228600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71216" y="2889504"/>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Per vertex</a:t>
            </a:r>
          </a:p>
        </p:txBody>
      </p:sp>
      <p:sp>
        <p:nvSpPr>
          <p:cNvPr id="26" name="Rectangle 25"/>
          <p:cNvSpPr/>
          <p:nvPr/>
        </p:nvSpPr>
        <p:spPr>
          <a:xfrm>
            <a:off x="5047488" y="2852928"/>
            <a:ext cx="256032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57216" y="2889504"/>
            <a:ext cx="23408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Colour</a:t>
            </a:r>
          </a:p>
        </p:txBody>
      </p:sp>
      <p:sp>
        <p:nvSpPr>
          <p:cNvPr id="28" name="Rectangle 27"/>
          <p:cNvSpPr/>
          <p:nvPr/>
        </p:nvSpPr>
        <p:spPr>
          <a:xfrm>
            <a:off x="7607808" y="2852928"/>
            <a:ext cx="4023360" cy="475488"/>
          </a:xfrm>
          <a:prstGeom prst="rect">
            <a:avLst/>
          </a:prstGeom>
          <a:solidFill>
            <a:srgbClr val="F1EEE8"/>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17536" y="2889504"/>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Highlights distort or vanish between vertices</a:t>
            </a:r>
          </a:p>
        </p:txBody>
      </p:sp>
      <p:sp>
        <p:nvSpPr>
          <p:cNvPr id="30" name="Rectangle 29"/>
          <p:cNvSpPr/>
          <p:nvPr/>
        </p:nvSpPr>
        <p:spPr>
          <a:xfrm>
            <a:off x="566928" y="3328416"/>
            <a:ext cx="21945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 y="3364992"/>
            <a:ext cx="19751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Phong</a:t>
            </a:r>
          </a:p>
        </p:txBody>
      </p:sp>
      <p:sp>
        <p:nvSpPr>
          <p:cNvPr id="32" name="Rectangle 31"/>
          <p:cNvSpPr/>
          <p:nvPr/>
        </p:nvSpPr>
        <p:spPr>
          <a:xfrm>
            <a:off x="2761488" y="3328416"/>
            <a:ext cx="228600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71216" y="3364992"/>
            <a:ext cx="206654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Per fragment</a:t>
            </a:r>
          </a:p>
        </p:txBody>
      </p:sp>
      <p:sp>
        <p:nvSpPr>
          <p:cNvPr id="34" name="Rectangle 33"/>
          <p:cNvSpPr/>
          <p:nvPr/>
        </p:nvSpPr>
        <p:spPr>
          <a:xfrm>
            <a:off x="5047488" y="3328416"/>
            <a:ext cx="256032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57216" y="3364992"/>
            <a:ext cx="2340863"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Normal</a:t>
            </a:r>
          </a:p>
        </p:txBody>
      </p:sp>
      <p:sp>
        <p:nvSpPr>
          <p:cNvPr id="36" name="Rectangle 35"/>
          <p:cNvSpPr/>
          <p:nvPr/>
        </p:nvSpPr>
        <p:spPr>
          <a:xfrm>
            <a:off x="7607808" y="3328416"/>
            <a:ext cx="4023360" cy="47548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17536" y="3364992"/>
            <a:ext cx="3803904" cy="475488"/>
          </a:xfrm>
          <a:prstGeom prst="rect">
            <a:avLst/>
          </a:prstGeom>
          <a:noFill/>
        </p:spPr>
        <p:txBody>
          <a:bodyPr wrap="square" anchor="ctr" lIns="0" rIns="0" tIns="0" bIns="0">
            <a:spAutoFit/>
          </a:bodyPr>
          <a:lstStyle/>
          <a:p>
            <a:pPr algn="l">
              <a:lnSpc>
                <a:spcPct val="110000"/>
              </a:lnSpc>
            </a:pPr>
            <a:r>
              <a:rPr sz="1150" b="0" i="0">
                <a:solidFill>
                  <a:srgbClr val="3C4555"/>
                </a:solidFill>
                <a:latin typeface="Calibri"/>
              </a:rPr>
              <a:t>Correct highlights; costs a normalize per fragment</a:t>
            </a:r>
          </a:p>
        </p:txBody>
      </p:sp>
      <p:sp>
        <p:nvSpPr>
          <p:cNvPr id="38" name="TextBox 37"/>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39" name="TextBox 38"/>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GOURAUD</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Why Gouraud fails on highlights</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901952"/>
            <a:ext cx="10789920" cy="4041648"/>
          </a:xfrm>
          <a:prstGeom prst="rect">
            <a:avLst/>
          </a:prstGeom>
          <a:noFill/>
        </p:spPr>
        <p:txBody>
          <a:bodyPr wrap="square" anchor="t" lIns="0" rIns="0" tIns="0" bIns="0">
            <a:spAutoFit/>
          </a:bodyPr>
          <a:lstStyle/>
          <a:p>
            <a:pPr algn="l">
              <a:lnSpc>
                <a:spcPct val="122000"/>
              </a:lnSpc>
              <a:spcAft>
                <a:spcPts val="900"/>
              </a:spcAft>
            </a:pPr>
            <a:r>
              <a:rPr sz="1800" b="0" i="0">
                <a:solidFill>
                  <a:srgbClr val="3C4555"/>
                </a:solidFill>
                <a:latin typeface="Calibri"/>
              </a:rPr>
              <a:t>▪  A specular highlight is a narrow function — it falls off as cosⁿ with n often in the hundreds.</a:t>
            </a:r>
          </a:p>
          <a:p>
            <a:pPr algn="l">
              <a:lnSpc>
                <a:spcPct val="122000"/>
              </a:lnSpc>
              <a:spcAft>
                <a:spcPts val="900"/>
              </a:spcAft>
            </a:pPr>
            <a:r>
              <a:rPr sz="1800" b="0" i="0">
                <a:solidFill>
                  <a:srgbClr val="3C4555"/>
                </a:solidFill>
                <a:latin typeface="Calibri"/>
              </a:rPr>
              <a:t>▪  Gouraud samples that function only at the three vertices.</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If the highlight falls </a:t>
            </a:r>
            <a:r>
              <a:rPr sz="1800" b="0" i="1">
                <a:solidFill>
                  <a:srgbClr val="3C4555"/>
                </a:solidFill>
                <a:latin typeface="Calibri"/>
              </a:rPr>
              <a:t>between</a:t>
            </a:r>
            <a:r>
              <a:rPr sz="1800" b="0" i="0">
                <a:solidFill>
                  <a:srgbClr val="3C4555"/>
                </a:solidFill>
                <a:latin typeface="Calibri"/>
              </a:rPr>
              <a:t> vertices, it is never sampled.</a:t>
            </a:r>
          </a:p>
          <a:p>
            <a:pPr algn="l" lvl="1">
              <a:lnSpc>
                <a:spcPct val="122000"/>
              </a:lnSpc>
              <a:spcAft>
                <a:spcPts val="500"/>
              </a:spcAft>
            </a:pPr>
            <a:r>
              <a:rPr sz="1600" b="0" i="0">
                <a:solidFill>
                  <a:srgbClr val="798290"/>
                </a:solidFill>
                <a:latin typeface="Calibri"/>
              </a:rPr>
              <a:t>–  The highlight vanishes entirely.</a:t>
            </a:r>
          </a:p>
          <a:p>
            <a:pPr algn="l" lvl="1">
              <a:lnSpc>
                <a:spcPct val="122000"/>
              </a:lnSpc>
              <a:spcAft>
                <a:spcPts val="500"/>
              </a:spcAft>
            </a:pPr>
            <a:r>
              <a:rPr sz="1600" b="0" i="0">
                <a:solidFill>
                  <a:srgbClr val="798290"/>
                </a:solidFill>
                <a:latin typeface="Calibri"/>
              </a:rPr>
              <a:t>–  As the object moves, it pops in and out as it crosses vertices.</a:t>
            </a:r>
          </a:p>
          <a:p>
            <a:pPr algn="l">
              <a:lnSpc>
                <a:spcPct val="100000"/>
              </a:lnSpc>
            </a:pPr>
            <a:r>
              <a:rPr sz="600" b="0" i="0">
                <a:solidFill>
                  <a:srgbClr val="3C4555"/>
                </a:solidFill>
                <a:latin typeface="Calibri"/>
              </a:rPr>
              <a:t> </a:t>
            </a:r>
          </a:p>
          <a:p>
            <a:pPr algn="l">
              <a:lnSpc>
                <a:spcPct val="122000"/>
              </a:lnSpc>
              <a:spcAft>
                <a:spcPts val="900"/>
              </a:spcAft>
            </a:pPr>
            <a:r>
              <a:rPr sz="1800" b="0" i="0">
                <a:solidFill>
                  <a:srgbClr val="3C4555"/>
                </a:solidFill>
                <a:latin typeface="Calibri"/>
              </a:rPr>
              <a:t>▪  This is undersampling — the Module 01 theme, appearing again.</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2C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40280"/>
            <a:ext cx="10058400" cy="365760"/>
          </a:xfrm>
          <a:prstGeom prst="rect">
            <a:avLst/>
          </a:prstGeom>
          <a:noFill/>
        </p:spPr>
        <p:txBody>
          <a:bodyPr wrap="square" anchor="t" lIns="0" rIns="0" tIns="0" bIns="0">
            <a:spAutoFit/>
          </a:bodyPr>
          <a:lstStyle/>
          <a:p>
            <a:pPr algn="l">
              <a:lnSpc>
                <a:spcPct val="100000"/>
              </a:lnSpc>
            </a:pPr>
            <a:r>
              <a:rPr sz="1300" b="1" i="0">
                <a:solidFill>
                  <a:srgbClr val="C29B3F"/>
                </a:solidFill>
                <a:latin typeface="Calibri"/>
              </a:rPr>
              <a:t>PART 4</a:t>
            </a:r>
          </a:p>
        </p:txBody>
      </p:sp>
      <p:sp>
        <p:nvSpPr>
          <p:cNvPr id="5" name="TextBox 4"/>
          <p:cNvSpPr txBox="1"/>
          <p:nvPr/>
        </p:nvSpPr>
        <p:spPr>
          <a:xfrm>
            <a:off x="1005840" y="2697480"/>
            <a:ext cx="10058400" cy="1280160"/>
          </a:xfrm>
          <a:prstGeom prst="rect">
            <a:avLst/>
          </a:prstGeom>
          <a:noFill/>
        </p:spPr>
        <p:txBody>
          <a:bodyPr wrap="square" anchor="t" lIns="0" rIns="0" tIns="0" bIns="0">
            <a:spAutoFit/>
          </a:bodyPr>
          <a:lstStyle/>
          <a:p>
            <a:pPr algn="l">
              <a:lnSpc>
                <a:spcPct val="110000"/>
              </a:lnSpc>
            </a:pPr>
            <a:r>
              <a:rPr sz="3600" b="1" i="0">
                <a:solidFill>
                  <a:srgbClr val="FFFFFF"/>
                </a:solidFill>
                <a:latin typeface="Georgia"/>
              </a:rPr>
              <a:t>Gamma</a:t>
            </a:r>
          </a:p>
        </p:txBody>
      </p:sp>
      <p:sp>
        <p:nvSpPr>
          <p:cNvPr id="6" name="TextBox 5"/>
          <p:cNvSpPr txBox="1"/>
          <p:nvPr/>
        </p:nvSpPr>
        <p:spPr>
          <a:xfrm>
            <a:off x="1005840" y="3977639"/>
            <a:ext cx="9326880" cy="1097280"/>
          </a:xfrm>
          <a:prstGeom prst="rect">
            <a:avLst/>
          </a:prstGeom>
          <a:noFill/>
        </p:spPr>
        <p:txBody>
          <a:bodyPr wrap="square" anchor="t" lIns="0" rIns="0" tIns="0" bIns="0">
            <a:spAutoFit/>
          </a:bodyPr>
          <a:lstStyle/>
          <a:p>
            <a:pPr algn="l">
              <a:lnSpc>
                <a:spcPct val="130000"/>
              </a:lnSpc>
            </a:pPr>
            <a:r>
              <a:rPr sz="1500" b="0" i="0">
                <a:solidFill>
                  <a:srgbClr val="9AA5B5"/>
                </a:solidFill>
                <a:latin typeface="Calibri"/>
              </a:rPr>
              <a:t>The step whose absence makes everything look wrong in a way that is hard to name.</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Displays are not linear</a:t>
            </a:r>
          </a:p>
        </p:txBody>
      </p:sp>
      <p:sp>
        <p:nvSpPr>
          <p:cNvPr id="4" name="Rectangle 3"/>
          <p:cNvSpPr/>
          <p:nvPr/>
        </p:nvSpPr>
        <p:spPr>
          <a:xfrm>
            <a:off x="566928" y="1316736"/>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91056"/>
            <a:ext cx="11064240" cy="4261104"/>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1056"/>
            <a:ext cx="64008" cy="42611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11095"/>
            <a:ext cx="10241280" cy="320040"/>
          </a:xfrm>
          <a:prstGeom prst="rect">
            <a:avLst/>
          </a:prstGeom>
          <a:noFill/>
        </p:spPr>
        <p:txBody>
          <a:bodyPr wrap="square" anchor="t" lIns="0" rIns="0" tIns="0" bIns="0">
            <a:spAutoFit/>
          </a:bodyPr>
          <a:lstStyle/>
          <a:p>
            <a:pPr algn="l">
              <a:lnSpc>
                <a:spcPct val="100000"/>
              </a:lnSpc>
            </a:pPr>
            <a:r>
              <a:rPr sz="1100" b="1" i="0">
                <a:solidFill>
                  <a:srgbClr val="C29B3F"/>
                </a:solidFill>
                <a:latin typeface="Calibri"/>
              </a:rPr>
              <a:t>ESSENTIAL</a:t>
            </a:r>
          </a:p>
        </p:txBody>
      </p:sp>
      <p:sp>
        <p:nvSpPr>
          <p:cNvPr id="8" name="TextBox 7"/>
          <p:cNvSpPr txBox="1"/>
          <p:nvPr/>
        </p:nvSpPr>
        <p:spPr>
          <a:xfrm>
            <a:off x="1005840" y="2368296"/>
            <a:ext cx="10058400" cy="3163824"/>
          </a:xfrm>
          <a:prstGeom prst="rect">
            <a:avLst/>
          </a:prstGeom>
          <a:noFill/>
        </p:spPr>
        <p:txBody>
          <a:bodyPr wrap="square" anchor="t" lIns="0" rIns="0" tIns="0" bIns="0">
            <a:spAutoFit/>
          </a:bodyPr>
          <a:lstStyle/>
          <a:p>
            <a:pPr algn="l">
              <a:lnSpc>
                <a:spcPct val="135000"/>
              </a:lnSpc>
              <a:spcAft>
                <a:spcPts val="1200"/>
              </a:spcAft>
            </a:pPr>
            <a:r>
              <a:rPr sz="1900" b="0" i="0">
                <a:solidFill>
                  <a:srgbClr val="141924"/>
                </a:solidFill>
                <a:latin typeface="Georgia"/>
              </a:rPr>
              <a:t>An sRGB display emits light roughly proportional to </a:t>
            </a:r>
            <a:r>
              <a:rPr sz="1900" b="0" i="1">
                <a:solidFill>
                  <a:srgbClr val="141924"/>
                </a:solidFill>
                <a:latin typeface="Georgia"/>
              </a:rPr>
              <a:t>value</a:t>
            </a:r>
            <a:r>
              <a:rPr sz="1900" b="0" i="0">
                <a:solidFill>
                  <a:srgbClr val="141924"/>
                </a:solidFill>
                <a:latin typeface="Georgia"/>
              </a:rPr>
              <a:t>²·², not to </a:t>
            </a:r>
            <a:r>
              <a:rPr sz="1900" b="0" i="1">
                <a:solidFill>
                  <a:srgbClr val="141924"/>
                </a:solidFill>
                <a:latin typeface="Georgia"/>
              </a:rPr>
              <a:t>value</a:t>
            </a:r>
            <a:r>
              <a:rPr sz="1900" b="0" i="0">
                <a:solidFill>
                  <a:srgbClr val="141924"/>
                </a:solidFill>
                <a:latin typeface="Georgia"/>
              </a:rPr>
              <a:t>. A pixel value of 0.5 emits about 21% of maximum, not 50%.</a:t>
            </a:r>
          </a:p>
          <a:p>
            <a:pPr algn="l">
              <a:lnSpc>
                <a:spcPct val="135000"/>
              </a:lnSpc>
              <a:spcAft>
                <a:spcPts val="1200"/>
              </a:spcAft>
            </a:pPr>
            <a:r>
              <a:rPr sz="1900" b="0" i="0">
                <a:solidFill>
                  <a:srgbClr val="141924"/>
                </a:solidFill>
                <a:latin typeface="Georgia"/>
              </a:rPr>
              <a:t>So textures authored on a display are already encoded with the inverse curve. If you light them without decoding first, you are doing arithmetic on perceptual values rather than on light.</a:t>
            </a:r>
          </a:p>
          <a:p>
            <a:pPr algn="l">
              <a:lnSpc>
                <a:spcPct val="135000"/>
              </a:lnSpc>
              <a:spcAft>
                <a:spcPts val="1200"/>
              </a:spcAft>
            </a:pPr>
            <a:r>
              <a:rPr sz="1900" b="0" i="0">
                <a:solidFill>
                  <a:srgbClr val="141924"/>
                </a:solidFill>
                <a:latin typeface="Georgia"/>
              </a:rPr>
              <a:t>The result: dark midtones, muddy shadows, harsh highlights, and blends that look wrong. It is the single most common reason amateur renders look amateur.</a:t>
            </a:r>
          </a:p>
        </p:txBody>
      </p:sp>
      <p:sp>
        <p:nvSpPr>
          <p:cNvPr id="9" name="TextBox 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10" name="TextBox 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GAMMA</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The linear workflow</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11064240" cy="2892552"/>
          </a:xfrm>
          <a:prstGeom prst="rect">
            <a:avLst/>
          </a:prstGeom>
          <a:solidFill>
            <a:srgbClr val="1B21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2011680"/>
            <a:ext cx="1005840" cy="274320"/>
          </a:xfrm>
          <a:prstGeom prst="rect">
            <a:avLst/>
          </a:prstGeom>
          <a:noFill/>
        </p:spPr>
        <p:txBody>
          <a:bodyPr wrap="square" anchor="t" lIns="0" rIns="0" tIns="0" bIns="0">
            <a:spAutoFit/>
          </a:bodyPr>
          <a:lstStyle/>
          <a:p>
            <a:pPr algn="r">
              <a:lnSpc>
                <a:spcPct val="100000"/>
              </a:lnSpc>
            </a:pPr>
            <a:r>
              <a:rPr sz="1000" b="0" i="0">
                <a:solidFill>
                  <a:srgbClr val="C29B3F"/>
                </a:solidFill>
                <a:latin typeface="Consolas"/>
              </a:rPr>
              <a:t>glsl</a:t>
            </a:r>
          </a:p>
        </p:txBody>
      </p:sp>
      <p:sp>
        <p:nvSpPr>
          <p:cNvPr id="8" name="TextBox 7"/>
          <p:cNvSpPr txBox="1"/>
          <p:nvPr/>
        </p:nvSpPr>
        <p:spPr>
          <a:xfrm>
            <a:off x="868680" y="2084832"/>
            <a:ext cx="10515600" cy="2618232"/>
          </a:xfrm>
          <a:prstGeom prst="rect">
            <a:avLst/>
          </a:prstGeom>
          <a:noFill/>
        </p:spPr>
        <p:txBody>
          <a:bodyPr wrap="square" anchor="t" lIns="0" rIns="0" tIns="0" bIns="0">
            <a:spAutoFit/>
          </a:bodyPr>
          <a:lstStyle/>
          <a:p>
            <a:pPr algn="l">
              <a:lnSpc>
                <a:spcPct val="105000"/>
              </a:lnSpc>
            </a:pPr>
            <a:r>
              <a:rPr sz="1400" b="0" i="0">
                <a:solidFill>
                  <a:srgbClr val="E4E8EF"/>
                </a:solidFill>
                <a:latin typeface="Consolas"/>
              </a:rPr>
              <a:t>// 1. DECODE on input. Colour textures are sRGB-encoded; data is not.</a:t>
            </a:r>
          </a:p>
          <a:p>
            <a:pPr algn="l">
              <a:lnSpc>
                <a:spcPct val="105000"/>
              </a:lnSpc>
            </a:pPr>
            <a:r>
              <a:rPr sz="1400" b="0" i="0">
                <a:solidFill>
                  <a:srgbClr val="E4E8EF"/>
                </a:solidFill>
                <a:latin typeface="Consolas"/>
              </a:rPr>
              <a:t>//    Use an sRGB texture format and the hardware decodes for free.</a:t>
            </a:r>
          </a:p>
          <a:p>
            <a:pPr algn="l">
              <a:lnSpc>
                <a:spcPct val="105000"/>
              </a:lnSpc>
            </a:pPr>
            <a:r>
              <a:rPr sz="1400" b="0" i="0">
                <a:solidFill>
                  <a:srgbClr val="E4E8EF"/>
                </a:solidFill>
                <a:latin typeface="Consolas"/>
              </a:rPr>
              <a:t>glTexImage2D(..., GL_SRGB8_ALPHA8, ...);   // albedo, emissive</a:t>
            </a:r>
          </a:p>
          <a:p>
            <a:pPr algn="l">
              <a:lnSpc>
                <a:spcPct val="105000"/>
              </a:lnSpc>
            </a:pPr>
            <a:r>
              <a:rPr sz="1400" b="0" i="0">
                <a:solidFill>
                  <a:srgbClr val="E4E8EF"/>
                </a:solidFill>
                <a:latin typeface="Consolas"/>
              </a:rPr>
              <a:t>glTexImage2D(..., GL_RGBA8, ...);          // normal, roughness, metallic</a:t>
            </a:r>
          </a:p>
          <a:p>
            <a:pPr algn="l">
              <a:lnSpc>
                <a:spcPct val="105000"/>
              </a:lnSpc>
            </a:pPr>
            <a:r>
              <a:rPr sz="1400" b="0" i="0">
                <a:solidFill>
                  <a:srgbClr val="E4E8EF"/>
                </a:solidFill>
                <a:latin typeface="Consolas"/>
              </a:rPr>
              <a:t>                                           //   &lt;- NEVER sRGB</a:t>
            </a:r>
          </a:p>
          <a:p>
            <a:pPr algn="l">
              <a:lnSpc>
                <a:spcPct val="105000"/>
              </a:lnSpc>
            </a:pPr>
            <a:r>
              <a:rPr sz="1400" b="0" i="0">
                <a:solidFill>
                  <a:srgbClr val="E4E8EF"/>
                </a:solidFill>
                <a:latin typeface="Consolas"/>
              </a:rPr>
              <a:t> </a:t>
            </a:r>
          </a:p>
          <a:p>
            <a:pPr algn="l">
              <a:lnSpc>
                <a:spcPct val="105000"/>
              </a:lnSpc>
            </a:pPr>
            <a:r>
              <a:rPr sz="1400" b="0" i="0">
                <a:solidFill>
                  <a:srgbClr val="E4E8EF"/>
                </a:solidFill>
                <a:latin typeface="Consolas"/>
              </a:rPr>
              <a:t>// 2. Do ALL lighting arithmetic in linear space.</a:t>
            </a:r>
          </a:p>
          <a:p>
            <a:pPr algn="l">
              <a:lnSpc>
                <a:spcPct val="105000"/>
              </a:lnSpc>
            </a:pPr>
            <a:r>
              <a:rPr sz="1400" b="0" i="0">
                <a:solidFill>
                  <a:srgbClr val="E4E8EF"/>
                </a:solidFill>
                <a:latin typeface="Consolas"/>
              </a:rPr>
              <a:t>vec3 color = lighting(albedo_linear, N, L, V);</a:t>
            </a:r>
          </a:p>
          <a:p>
            <a:pPr algn="l">
              <a:lnSpc>
                <a:spcPct val="105000"/>
              </a:lnSpc>
            </a:pPr>
            <a:r>
              <a:rPr sz="1400" b="0" i="0">
                <a:solidFill>
                  <a:srgbClr val="E4E8EF"/>
                </a:solidFill>
                <a:latin typeface="Consolas"/>
              </a:rPr>
              <a:t> </a:t>
            </a:r>
          </a:p>
          <a:p>
            <a:pPr algn="l">
              <a:lnSpc>
                <a:spcPct val="105000"/>
              </a:lnSpc>
            </a:pPr>
            <a:r>
              <a:rPr sz="1400" b="0" i="0">
                <a:solidFill>
                  <a:srgbClr val="E4E8EF"/>
                </a:solidFill>
                <a:latin typeface="Consolas"/>
              </a:rPr>
              <a:t>// 3. ENCODE on output, once, at the very end.</a:t>
            </a:r>
          </a:p>
          <a:p>
            <a:pPr algn="l">
              <a:lnSpc>
                <a:spcPct val="105000"/>
              </a:lnSpc>
            </a:pPr>
            <a:r>
              <a:rPr sz="1400" b="0" i="0">
                <a:solidFill>
                  <a:srgbClr val="E4E8EF"/>
                </a:solidFill>
                <a:latin typeface="Consolas"/>
              </a:rPr>
              <a:t>glEnable(GL_FRAMEBUFFER_SRGB);             // hardware encodes for free</a:t>
            </a:r>
          </a:p>
        </p:txBody>
      </p:sp>
      <p:sp>
        <p:nvSpPr>
          <p:cNvPr id="9" name="TextBox 8"/>
          <p:cNvSpPr txBox="1"/>
          <p:nvPr/>
        </p:nvSpPr>
        <p:spPr>
          <a:xfrm>
            <a:off x="566928" y="4959096"/>
            <a:ext cx="10789920" cy="457200"/>
          </a:xfrm>
          <a:prstGeom prst="rect">
            <a:avLst/>
          </a:prstGeom>
          <a:noFill/>
        </p:spPr>
        <p:txBody>
          <a:bodyPr wrap="square" anchor="t" lIns="0" rIns="0" tIns="0" bIns="0">
            <a:spAutoFit/>
          </a:bodyPr>
          <a:lstStyle/>
          <a:p>
            <a:pPr algn="l">
              <a:lnSpc>
                <a:spcPct val="120000"/>
              </a:lnSpc>
            </a:pPr>
            <a:r>
              <a:rPr sz="1250" b="0" i="1">
                <a:solidFill>
                  <a:srgbClr val="798290"/>
                </a:solidFill>
                <a:latin typeface="Calibri"/>
              </a:rPr>
              <a:t>Normal maps, roughness, metallic, and ambient occlusion are </a:t>
            </a:r>
            <a:r>
              <a:rPr sz="1250" b="1" i="1">
                <a:solidFill>
                  <a:srgbClr val="798290"/>
                </a:solidFill>
                <a:latin typeface="Calibri"/>
              </a:rPr>
              <a:t>data</a:t>
            </a:r>
            <a:r>
              <a:rPr sz="1250" b="0" i="1">
                <a:solidFill>
                  <a:srgbClr val="798290"/>
                </a:solidFill>
                <a:latin typeface="Calibri"/>
              </a:rPr>
              <a:t>, not colour. Tagging them sRGB corrupts them, and the error is subtle enough to survive review.</a:t>
            </a:r>
          </a:p>
        </p:txBody>
      </p:sp>
      <p:sp>
        <p:nvSpPr>
          <p:cNvPr id="10" name="TextBox 9"/>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11" name="TextBox 10"/>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475488"/>
            <a:ext cx="10789920" cy="274320"/>
          </a:xfrm>
          <a:prstGeom prst="rect">
            <a:avLst/>
          </a:prstGeom>
          <a:noFill/>
        </p:spPr>
        <p:txBody>
          <a:bodyPr wrap="square" anchor="t" lIns="0" rIns="0" tIns="0" bIns="0">
            <a:spAutoFit/>
          </a:bodyPr>
          <a:lstStyle/>
          <a:p>
            <a:pPr algn="l">
              <a:lnSpc>
                <a:spcPct val="100000"/>
              </a:lnSpc>
            </a:pPr>
            <a:r>
              <a:rPr sz="1050" b="1" i="0">
                <a:solidFill>
                  <a:srgbClr val="B03F2B"/>
                </a:solidFill>
                <a:latin typeface="Calibri"/>
              </a:rPr>
              <a:t>ATTENUATION</a:t>
            </a:r>
          </a:p>
        </p:txBody>
      </p:sp>
      <p:sp>
        <p:nvSpPr>
          <p:cNvPr id="4" name="TextBox 3"/>
          <p:cNvSpPr txBox="1"/>
          <p:nvPr/>
        </p:nvSpPr>
        <p:spPr>
          <a:xfrm>
            <a:off x="566928" y="786384"/>
            <a:ext cx="11064240" cy="777240"/>
          </a:xfrm>
          <a:prstGeom prst="rect">
            <a:avLst/>
          </a:prstGeom>
          <a:noFill/>
        </p:spPr>
        <p:txBody>
          <a:bodyPr wrap="square" anchor="t" lIns="0" rIns="0" tIns="0" bIns="0">
            <a:spAutoFit/>
          </a:bodyPr>
          <a:lstStyle/>
          <a:p>
            <a:pPr algn="l">
              <a:lnSpc>
                <a:spcPct val="108000"/>
              </a:lnSpc>
            </a:pPr>
            <a:r>
              <a:rPr sz="2700" b="1" i="0">
                <a:solidFill>
                  <a:srgbClr val="141924"/>
                </a:solidFill>
                <a:latin typeface="Georgia"/>
              </a:rPr>
              <a:t>Falloff, and why it is squared</a:t>
            </a:r>
          </a:p>
        </p:txBody>
      </p:sp>
      <p:sp>
        <p:nvSpPr>
          <p:cNvPr id="5" name="Rectangle 4"/>
          <p:cNvSpPr/>
          <p:nvPr/>
        </p:nvSpPr>
        <p:spPr>
          <a:xfrm>
            <a:off x="566928" y="1627632"/>
            <a:ext cx="1371600" cy="320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01952"/>
            <a:ext cx="11064240" cy="65836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01952"/>
            <a:ext cx="45720" cy="658368"/>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93392"/>
            <a:ext cx="10515600" cy="457200"/>
          </a:xfrm>
          <a:prstGeom prst="rect">
            <a:avLst/>
          </a:prstGeom>
          <a:noFill/>
        </p:spPr>
        <p:txBody>
          <a:bodyPr wrap="square" anchor="ctr" lIns="0" rIns="0" tIns="0" bIns="0">
            <a:spAutoFit/>
          </a:bodyPr>
          <a:lstStyle/>
          <a:p>
            <a:pPr algn="l">
              <a:lnSpc>
                <a:spcPct val="100000"/>
              </a:lnSpc>
            </a:pPr>
            <a:r>
              <a:rPr sz="1700" b="0" i="0">
                <a:solidFill>
                  <a:srgbClr val="141924"/>
                </a:solidFill>
                <a:latin typeface="Consolas"/>
              </a:rPr>
              <a:t>E  ∝  1 / d²</a:t>
            </a:r>
          </a:p>
        </p:txBody>
      </p:sp>
      <p:sp>
        <p:nvSpPr>
          <p:cNvPr id="9" name="TextBox 8"/>
          <p:cNvSpPr txBox="1"/>
          <p:nvPr/>
        </p:nvSpPr>
        <p:spPr>
          <a:xfrm>
            <a:off x="914400" y="2578608"/>
            <a:ext cx="10424160" cy="384048"/>
          </a:xfrm>
          <a:prstGeom prst="rect">
            <a:avLst/>
          </a:prstGeom>
          <a:noFill/>
        </p:spPr>
        <p:txBody>
          <a:bodyPr wrap="square" anchor="t" lIns="0" rIns="0" tIns="0" bIns="0">
            <a:spAutoFit/>
          </a:bodyPr>
          <a:lstStyle/>
          <a:p>
            <a:pPr algn="l">
              <a:lnSpc>
                <a:spcPct val="115000"/>
              </a:lnSpc>
            </a:pPr>
            <a:r>
              <a:rPr sz="1250" b="0" i="1">
                <a:solidFill>
                  <a:srgbClr val="798290"/>
                </a:solidFill>
                <a:latin typeface="Calibri"/>
              </a:rPr>
              <a:t>Energy spreads over a sphere of area 4πd². This is exact, not an approximation.</a:t>
            </a:r>
          </a:p>
        </p:txBody>
      </p:sp>
      <p:sp>
        <p:nvSpPr>
          <p:cNvPr id="10" name="Rectangle 9"/>
          <p:cNvSpPr/>
          <p:nvPr/>
        </p:nvSpPr>
        <p:spPr>
          <a:xfrm>
            <a:off x="566928" y="3127248"/>
            <a:ext cx="11064240" cy="65836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127248"/>
            <a:ext cx="45720" cy="658368"/>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18688"/>
            <a:ext cx="10515600" cy="457200"/>
          </a:xfrm>
          <a:prstGeom prst="rect">
            <a:avLst/>
          </a:prstGeom>
          <a:noFill/>
        </p:spPr>
        <p:txBody>
          <a:bodyPr wrap="square" anchor="ctr" lIns="0" rIns="0" tIns="0" bIns="0">
            <a:spAutoFit/>
          </a:bodyPr>
          <a:lstStyle/>
          <a:p>
            <a:pPr algn="l">
              <a:lnSpc>
                <a:spcPct val="100000"/>
              </a:lnSpc>
            </a:pPr>
            <a:r>
              <a:rPr sz="1700" b="0" i="0">
                <a:solidFill>
                  <a:srgbClr val="141924"/>
                </a:solidFill>
                <a:latin typeface="Consolas"/>
              </a:rPr>
              <a:t>attenuation = 1 / (d² + ε)</a:t>
            </a:r>
          </a:p>
        </p:txBody>
      </p:sp>
      <p:sp>
        <p:nvSpPr>
          <p:cNvPr id="13" name="TextBox 12"/>
          <p:cNvSpPr txBox="1"/>
          <p:nvPr/>
        </p:nvSpPr>
        <p:spPr>
          <a:xfrm>
            <a:off x="914400" y="3803904"/>
            <a:ext cx="10424160" cy="384048"/>
          </a:xfrm>
          <a:prstGeom prst="rect">
            <a:avLst/>
          </a:prstGeom>
          <a:noFill/>
        </p:spPr>
        <p:txBody>
          <a:bodyPr wrap="square" anchor="t" lIns="0" rIns="0" tIns="0" bIns="0">
            <a:spAutoFit/>
          </a:bodyPr>
          <a:lstStyle/>
          <a:p>
            <a:pPr algn="l">
              <a:lnSpc>
                <a:spcPct val="115000"/>
              </a:lnSpc>
            </a:pPr>
            <a:r>
              <a:rPr sz="1250" b="0" i="1">
                <a:solidFill>
                  <a:srgbClr val="798290"/>
                </a:solidFill>
                <a:latin typeface="Calibri"/>
              </a:rPr>
              <a:t>The epsilon prevents a division by zero at the light's position.</a:t>
            </a:r>
          </a:p>
        </p:txBody>
      </p:sp>
      <p:sp>
        <p:nvSpPr>
          <p:cNvPr id="14" name="Rectangle 13"/>
          <p:cNvSpPr/>
          <p:nvPr/>
        </p:nvSpPr>
        <p:spPr>
          <a:xfrm>
            <a:off x="566928" y="4352544"/>
            <a:ext cx="11064240" cy="658368"/>
          </a:xfrm>
          <a:prstGeom prst="rect">
            <a:avLst/>
          </a:prstGeom>
          <a:solidFill>
            <a:srgbClr val="FFFFFF"/>
          </a:solidFill>
          <a:ln w="12700">
            <a:solidFill>
              <a:srgbClr val="E2D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4352544"/>
            <a:ext cx="45720" cy="658368"/>
          </a:xfrm>
          <a:prstGeom prst="rect">
            <a:avLst/>
          </a:prstGeom>
          <a:solidFill>
            <a:srgbClr val="1F6B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443983"/>
            <a:ext cx="10515600" cy="457200"/>
          </a:xfrm>
          <a:prstGeom prst="rect">
            <a:avLst/>
          </a:prstGeom>
          <a:noFill/>
        </p:spPr>
        <p:txBody>
          <a:bodyPr wrap="square" anchor="ctr" lIns="0" rIns="0" tIns="0" bIns="0">
            <a:spAutoFit/>
          </a:bodyPr>
          <a:lstStyle/>
          <a:p>
            <a:pPr algn="l">
              <a:lnSpc>
                <a:spcPct val="100000"/>
              </a:lnSpc>
            </a:pPr>
            <a:r>
              <a:rPr sz="1700" b="0" i="0">
                <a:solidFill>
                  <a:srgbClr val="141924"/>
                </a:solidFill>
                <a:latin typeface="Consolas"/>
              </a:rPr>
              <a:t>directional light: no falloff</a:t>
            </a:r>
          </a:p>
        </p:txBody>
      </p:sp>
      <p:sp>
        <p:nvSpPr>
          <p:cNvPr id="17" name="TextBox 16"/>
          <p:cNvSpPr txBox="1"/>
          <p:nvPr/>
        </p:nvSpPr>
        <p:spPr>
          <a:xfrm>
            <a:off x="914400" y="5029200"/>
            <a:ext cx="10424160" cy="384048"/>
          </a:xfrm>
          <a:prstGeom prst="rect">
            <a:avLst/>
          </a:prstGeom>
          <a:noFill/>
        </p:spPr>
        <p:txBody>
          <a:bodyPr wrap="square" anchor="t" lIns="0" rIns="0" tIns="0" bIns="0">
            <a:spAutoFit/>
          </a:bodyPr>
          <a:lstStyle/>
          <a:p>
            <a:pPr algn="l">
              <a:lnSpc>
                <a:spcPct val="115000"/>
              </a:lnSpc>
            </a:pPr>
            <a:r>
              <a:rPr sz="1250" b="0" i="1">
                <a:solidFill>
                  <a:srgbClr val="798290"/>
                </a:solidFill>
                <a:latin typeface="Calibri"/>
              </a:rPr>
              <a:t>The sun is effectively at infinity — a w = 0 light, as Module 02 noted.</a:t>
            </a:r>
          </a:p>
        </p:txBody>
      </p:sp>
      <p:sp>
        <p:nvSpPr>
          <p:cNvPr id="18" name="TextBox 17"/>
          <p:cNvSpPr txBox="1"/>
          <p:nvPr/>
        </p:nvSpPr>
        <p:spPr>
          <a:xfrm>
            <a:off x="566928" y="5669279"/>
            <a:ext cx="10789920" cy="457200"/>
          </a:xfrm>
          <a:prstGeom prst="rect">
            <a:avLst/>
          </a:prstGeom>
          <a:noFill/>
        </p:spPr>
        <p:txBody>
          <a:bodyPr wrap="square" anchor="t" lIns="0" rIns="0" tIns="0" bIns="0">
            <a:spAutoFit/>
          </a:bodyPr>
          <a:lstStyle/>
          <a:p>
            <a:pPr algn="l">
              <a:lnSpc>
                <a:spcPct val="120000"/>
              </a:lnSpc>
            </a:pPr>
            <a:r>
              <a:rPr sz="1250" b="0" i="1">
                <a:solidFill>
                  <a:srgbClr val="798290"/>
                </a:solidFill>
                <a:latin typeface="Calibri"/>
              </a:rPr>
              <a:t>Older engines used linear or tunable falloff to compensate for missing gamma correction. With a correct linear workflow, inverse-square is right and looks right.</a:t>
            </a:r>
          </a:p>
        </p:txBody>
      </p:sp>
      <p:sp>
        <p:nvSpPr>
          <p:cNvPr id="19" name="TextBox 18"/>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798290"/>
                </a:solidFill>
                <a:latin typeface="Calibri"/>
              </a:rPr>
              <a:t>CSCE 641 · Computer Graphics  —  Module 06</a:t>
            </a:r>
          </a:p>
        </p:txBody>
      </p:sp>
      <p:sp>
        <p:nvSpPr>
          <p:cNvPr id="20" name="TextBox 19"/>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798290"/>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9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B03F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85800"/>
            <a:ext cx="10515600" cy="685800"/>
          </a:xfrm>
          <a:prstGeom prst="rect">
            <a:avLst/>
          </a:prstGeom>
          <a:noFill/>
        </p:spPr>
        <p:txBody>
          <a:bodyPr wrap="square" anchor="t" lIns="0" rIns="0" tIns="0" bIns="0">
            <a:spAutoFit/>
          </a:bodyPr>
          <a:lstStyle/>
          <a:p>
            <a:pPr algn="l">
              <a:lnSpc>
                <a:spcPct val="100000"/>
              </a:lnSpc>
            </a:pPr>
            <a:r>
              <a:rPr sz="2900" b="1" i="0">
                <a:solidFill>
                  <a:srgbClr val="FFFFFF"/>
                </a:solidFill>
                <a:latin typeface="Georgia"/>
              </a:rPr>
              <a:t>What to carry forward</a:t>
            </a:r>
          </a:p>
        </p:txBody>
      </p:sp>
      <p:sp>
        <p:nvSpPr>
          <p:cNvPr id="5" name="Rectangle 4"/>
          <p:cNvSpPr/>
          <p:nvPr/>
        </p:nvSpPr>
        <p:spPr>
          <a:xfrm>
            <a:off x="822960" y="1481328"/>
            <a:ext cx="1371600" cy="32004"/>
          </a:xfrm>
          <a:prstGeom prst="rect">
            <a:avLst/>
          </a:prstGeom>
          <a:solidFill>
            <a:srgbClr val="C29B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206240"/>
          </a:xfrm>
          <a:prstGeom prst="rect">
            <a:avLst/>
          </a:prstGeom>
          <a:noFill/>
        </p:spPr>
        <p:txBody>
          <a:bodyPr wrap="square" anchor="t" lIns="0" rIns="0" tIns="0" bIns="0">
            <a:spAutoFit/>
          </a:bodyPr>
          <a:lstStyle/>
          <a:p>
            <a:pPr algn="l">
              <a:lnSpc>
                <a:spcPct val="125000"/>
              </a:lnSpc>
              <a:spcAft>
                <a:spcPts val="1300"/>
              </a:spcAft>
            </a:pPr>
            <a:r>
              <a:rPr sz="1700" b="0" i="0">
                <a:solidFill>
                  <a:srgbClr val="D6DCE6"/>
                </a:solidFill>
                <a:latin typeface="Calibri"/>
              </a:rPr>
              <a:t>1.  Radiance is the quantity renderers transport, because it is constant along a ray in vacuum.</a:t>
            </a:r>
          </a:p>
          <a:p>
            <a:pPr algn="l">
              <a:lnSpc>
                <a:spcPct val="125000"/>
              </a:lnSpc>
              <a:spcAft>
                <a:spcPts val="1300"/>
              </a:spcAft>
            </a:pPr>
            <a:r>
              <a:rPr sz="1700" b="0" i="0">
                <a:solidFill>
                  <a:srgbClr val="D6DCE6"/>
                </a:solidFill>
                <a:latin typeface="Calibri"/>
              </a:rPr>
              <a:t>2.  The n·l in diffuse shading is exact geometry — the foreshortening of the incoming beam — not an empirical fudge.</a:t>
            </a:r>
          </a:p>
          <a:p>
            <a:pPr algn="l">
              <a:lnSpc>
                <a:spcPct val="125000"/>
              </a:lnSpc>
              <a:spcAft>
                <a:spcPts val="1300"/>
              </a:spcAft>
            </a:pPr>
            <a:r>
              <a:rPr sz="1700" b="0" i="0">
                <a:solidFill>
                  <a:srgbClr val="D6DCE6"/>
                </a:solidFill>
                <a:latin typeface="Calibri"/>
              </a:rPr>
              <a:t>3.  Blinn–Phong is a curve fit: cheap, ubiquitous, energy-violating, Fresnel-free. Learn it, then replace it in Module 11.</a:t>
            </a:r>
          </a:p>
          <a:p>
            <a:pPr algn="l">
              <a:lnSpc>
                <a:spcPct val="125000"/>
              </a:lnSpc>
              <a:spcAft>
                <a:spcPts val="1300"/>
              </a:spcAft>
            </a:pPr>
            <a:r>
              <a:rPr sz="1700" b="0" i="0">
                <a:solidFill>
                  <a:srgbClr val="D6DCE6"/>
                </a:solidFill>
                <a:latin typeface="Calibri"/>
              </a:rPr>
              <a:t>4.  Shading frequency determines the artifact: flat gives facets, Gouraud loses highlights between vertices, Phong costs a normalize.</a:t>
            </a:r>
          </a:p>
          <a:p>
            <a:pPr algn="l">
              <a:lnSpc>
                <a:spcPct val="125000"/>
              </a:lnSpc>
              <a:spcAft>
                <a:spcPts val="1300"/>
              </a:spcAft>
            </a:pPr>
            <a:r>
              <a:rPr sz="1700" b="0" i="0">
                <a:solidFill>
                  <a:srgbClr val="D6DCE6"/>
                </a:solidFill>
                <a:latin typeface="Calibri"/>
              </a:rPr>
              <a:t>5.  Decode sRGB on input, light in linear space, encode once on output. Normal and roughness maps are data and must never be tagged sRGB.</a:t>
            </a:r>
          </a:p>
          <a:p>
            <a:pPr algn="l">
              <a:lnSpc>
                <a:spcPct val="125000"/>
              </a:lnSpc>
              <a:spcAft>
                <a:spcPts val="1300"/>
              </a:spcAft>
            </a:pPr>
            <a:r>
              <a:rPr sz="1700" b="0" i="0">
                <a:solidFill>
                  <a:srgbClr val="D6DCE6"/>
                </a:solidFill>
                <a:latin typeface="Calibri"/>
              </a:rPr>
              <a:t>6.  Inverse-square falloff is correct. If it looks wrong, your gamma handling is wrong.</a:t>
            </a:r>
          </a:p>
        </p:txBody>
      </p:sp>
      <p:sp>
        <p:nvSpPr>
          <p:cNvPr id="7" name="TextBox 6"/>
          <p:cNvSpPr txBox="1"/>
          <p:nvPr/>
        </p:nvSpPr>
        <p:spPr>
          <a:xfrm>
            <a:off x="566928" y="6419088"/>
            <a:ext cx="8229600" cy="274320"/>
          </a:xfrm>
          <a:prstGeom prst="rect">
            <a:avLst/>
          </a:prstGeom>
          <a:noFill/>
        </p:spPr>
        <p:txBody>
          <a:bodyPr wrap="square" anchor="t" lIns="0" rIns="0" tIns="0" bIns="0">
            <a:spAutoFit/>
          </a:bodyPr>
          <a:lstStyle/>
          <a:p>
            <a:pPr algn="l">
              <a:lnSpc>
                <a:spcPct val="100000"/>
              </a:lnSpc>
            </a:pPr>
            <a:r>
              <a:rPr sz="900" b="0" i="0">
                <a:solidFill>
                  <a:srgbClr val="6E788A"/>
                </a:solidFill>
                <a:latin typeface="Calibri"/>
              </a:rPr>
              <a:t>CSCE 641 · Computer Graphics  —  Module 06</a:t>
            </a:r>
          </a:p>
        </p:txBody>
      </p:sp>
      <p:sp>
        <p:nvSpPr>
          <p:cNvPr id="8" name="TextBox 7"/>
          <p:cNvSpPr txBox="1"/>
          <p:nvPr/>
        </p:nvSpPr>
        <p:spPr>
          <a:xfrm>
            <a:off x="10728655" y="6419088"/>
            <a:ext cx="914400" cy="274320"/>
          </a:xfrm>
          <a:prstGeom prst="rect">
            <a:avLst/>
          </a:prstGeom>
          <a:noFill/>
        </p:spPr>
        <p:txBody>
          <a:bodyPr wrap="square" anchor="t" lIns="0" rIns="0" tIns="0" bIns="0">
            <a:spAutoFit/>
          </a:bodyPr>
          <a:lstStyle/>
          <a:p>
            <a:pPr algn="r">
              <a:lnSpc>
                <a:spcPct val="100000"/>
              </a:lnSpc>
            </a:pPr>
            <a:r>
              <a:rPr sz="900" b="0" i="0">
                <a:solidFill>
                  <a:srgbClr val="6E788A"/>
                </a:solidFill>
                <a:latin typeface="Calibri"/>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