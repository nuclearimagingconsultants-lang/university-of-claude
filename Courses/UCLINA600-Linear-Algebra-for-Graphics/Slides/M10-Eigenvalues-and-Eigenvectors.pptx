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notesMasters/notesMaster1.xml" ContentType="application/vnd.openxmlformats-officedocument.presentationml.notesMaster+xml"/>
  <Override PartName="/ppt/notesSlides/notesSlide1.xml" ContentType="application/vnd.openxmlformats-officedocument.presentationml.notesSlide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theme/theme2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10"/>
    <p:sldId id="259" r:id="rId11"/>
    <p:sldId id="260" r:id="rId12"/>
    <p:sldId id="261" r:id="rId13"/>
    <p:sldId id="262" r:id="rId14"/>
    <p:sldId id="263" r:id="rId15"/>
    <p:sldId id="264" r:id="rId16"/>
    <p:sldId id="265" r:id="rId17"/>
    <p:sldId id="266" r:id="rId18"/>
    <p:sldId id="267" r:id="rId19"/>
  </p:sldIdLst>
  <p:sldSz cx="12191695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notesMaster" Target="notesMasters/notesMaster1.xml"/><Relationship Id="rId10" Type="http://schemas.openxmlformats.org/officeDocument/2006/relationships/slide" Target="slides/slide3.xml"/><Relationship Id="rId11" Type="http://schemas.openxmlformats.org/officeDocument/2006/relationships/slide" Target="slides/slide4.xml"/><Relationship Id="rId12" Type="http://schemas.openxmlformats.org/officeDocument/2006/relationships/slide" Target="slides/slide5.xml"/><Relationship Id="rId13" Type="http://schemas.openxmlformats.org/officeDocument/2006/relationships/slide" Target="slides/slide6.xml"/><Relationship Id="rId14" Type="http://schemas.openxmlformats.org/officeDocument/2006/relationships/slide" Target="slides/slide7.xml"/><Relationship Id="rId15" Type="http://schemas.openxmlformats.org/officeDocument/2006/relationships/slide" Target="slides/slide8.xml"/><Relationship Id="rId16" Type="http://schemas.openxmlformats.org/officeDocument/2006/relationships/slide" Target="slides/slide9.xml"/><Relationship Id="rId17" Type="http://schemas.openxmlformats.org/officeDocument/2006/relationships/slide" Target="slides/slide10.xml"/><Relationship Id="rId18" Type="http://schemas.openxmlformats.org/officeDocument/2006/relationships/slide" Target="slides/slide11.xml"/><Relationship Id="rId19" Type="http://schemas.openxmlformats.org/officeDocument/2006/relationships/slide" Target="slides/slide12.xml"/></Relationships>
</file>

<file path=ppt/notesMasters/_rels/notesMaster1.xml.rels><?xml version='1.0' encoding='UTF-8' standalone='yes'?>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p="http://schemas.openxmlformats.org/presentationml/2006/main" xmlns:r="http://schemas.openxmlformats.org/officeDocument/2006/relationships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0F89C1C7-3DCD-1040-A9CF-14679D8B5DDD}" type="datetimeFigureOut">
              <a:rPr lang="en-US" smtClean="0"/>
              <a:t>10/17/16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1143000" y="685800"/>
            <a:ext cx="4572000" cy="34290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BB5E49A5-4136-284D-997B-48E1D791AD67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23252185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.xml"/></Relationships>
</file>

<file path=ppt/notesSlides/notesSlide1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State the outcomes before the content. Every slide that follows exists to serve one of these.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14192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201168" cy="6858000"/>
          </a:xfrm>
          <a:prstGeom prst="rect">
            <a:avLst/>
          </a:prstGeom>
          <a:solidFill>
            <a:srgbClr val="B03F2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1005840" y="868680"/>
            <a:ext cx="9601200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1300" b="1" i="0">
                <a:solidFill>
                  <a:srgbClr val="C29B3F"/>
                </a:solidFill>
                <a:latin typeface="Calibri"/>
              </a:rPr>
              <a:t>UNIVERSITY OF CLAUDE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005840" y="1417320"/>
            <a:ext cx="9601200" cy="4572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1700" b="0" i="0">
                <a:solidFill>
                  <a:srgbClr val="A9B4C4"/>
                </a:solidFill>
                <a:latin typeface="Calibri"/>
              </a:rPr>
              <a:t>UC LINA 600 — Linear Algebra for Graphics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005840" y="2148840"/>
            <a:ext cx="10058400" cy="4114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1300" b="1" i="0">
                <a:solidFill>
                  <a:srgbClr val="1F6B68"/>
                </a:solidFill>
                <a:latin typeface="Calibri"/>
              </a:rPr>
              <a:t>MODULE 10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005840" y="2606040"/>
            <a:ext cx="10241280" cy="17373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5000"/>
              </a:lnSpc>
            </a:pPr>
            <a:r>
              <a:rPr sz="4400" b="1" i="0">
                <a:solidFill>
                  <a:srgbClr val="FFFFFF"/>
                </a:solidFill>
                <a:latin typeface="Georgia"/>
              </a:rPr>
              <a:t>Eigenvalues and Eigenvectors</a:t>
            </a:r>
          </a:p>
        </p:txBody>
      </p:sp>
      <p:sp>
        <p:nvSpPr>
          <p:cNvPr id="8" name="Rectangle 7"/>
          <p:cNvSpPr/>
          <p:nvPr/>
        </p:nvSpPr>
        <p:spPr>
          <a:xfrm>
            <a:off x="1005840" y="4526280"/>
            <a:ext cx="2377440" cy="41148"/>
          </a:xfrm>
          <a:prstGeom prst="rect">
            <a:avLst/>
          </a:prstGeom>
          <a:solidFill>
            <a:srgbClr val="B03F2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1005840" y="4800600"/>
            <a:ext cx="9509760" cy="10058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25000"/>
              </a:lnSpc>
            </a:pPr>
            <a:r>
              <a:rPr sz="1600" b="0" i="1">
                <a:solidFill>
                  <a:srgbClr val="9AA5B5"/>
                </a:solidFill>
                <a:latin typeface="Calibri"/>
              </a:rPr>
              <a:t>The directions a transform does not turn.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1005840" y="6080760"/>
            <a:ext cx="10058400" cy="3200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1000" b="0" i="0">
                <a:solidFill>
                  <a:srgbClr val="5E697A"/>
                </a:solidFill>
                <a:latin typeface="Calibri"/>
              </a:rPr>
              <a:t>UC LINA 600 · Module 10 of 13 · original material, share freely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8F6F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66928" y="475488"/>
            <a:ext cx="1078992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1050" b="1" i="0">
                <a:solidFill>
                  <a:srgbClr val="B03F2B"/>
                </a:solidFill>
                <a:latin typeface="Calibri"/>
              </a:rPr>
              <a:t>MODULE OUTCOMES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66928" y="786384"/>
            <a:ext cx="11064240" cy="7772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8000"/>
              </a:lnSpc>
            </a:pPr>
            <a:r>
              <a:rPr sz="2700" b="1" i="0">
                <a:solidFill>
                  <a:srgbClr val="141924"/>
                </a:solidFill>
                <a:latin typeface="Georgia"/>
              </a:rPr>
              <a:t>What you will be able to do</a:t>
            </a:r>
          </a:p>
        </p:txBody>
      </p:sp>
      <p:sp>
        <p:nvSpPr>
          <p:cNvPr id="5" name="Rectangle 4"/>
          <p:cNvSpPr/>
          <p:nvPr/>
        </p:nvSpPr>
        <p:spPr>
          <a:xfrm>
            <a:off x="566928" y="1627632"/>
            <a:ext cx="1371600" cy="32004"/>
          </a:xfrm>
          <a:prstGeom prst="rect">
            <a:avLst/>
          </a:prstGeom>
          <a:solidFill>
            <a:srgbClr val="B03F2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713232" y="1901952"/>
            <a:ext cx="10789920" cy="404164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22000"/>
              </a:lnSpc>
              <a:spcAft>
                <a:spcPts val="900"/>
              </a:spcAft>
            </a:pPr>
            <a:r>
              <a:rPr sz="1800" b="0" i="0">
                <a:solidFill>
                  <a:srgbClr val="3C4555"/>
                </a:solidFill>
                <a:latin typeface="Calibri"/>
              </a:rPr>
              <a:t>▪  Define eigenvectors and eigenvalues geometrically.</a:t>
            </a:r>
          </a:p>
          <a:p>
            <a:pPr algn="l">
              <a:lnSpc>
                <a:spcPct val="122000"/>
              </a:lnSpc>
              <a:spcAft>
                <a:spcPts val="900"/>
              </a:spcAft>
            </a:pPr>
            <a:r>
              <a:rPr sz="1800" b="0" i="0">
                <a:solidFill>
                  <a:srgbClr val="3C4555"/>
                </a:solidFill>
                <a:latin typeface="Calibri"/>
              </a:rPr>
              <a:t>▪  Compute them for small matrices.</a:t>
            </a:r>
          </a:p>
          <a:p>
            <a:pPr algn="l">
              <a:lnSpc>
                <a:spcPct val="122000"/>
              </a:lnSpc>
              <a:spcAft>
                <a:spcPts val="900"/>
              </a:spcAft>
            </a:pPr>
            <a:r>
              <a:rPr sz="1800" b="0" i="0">
                <a:solidFill>
                  <a:srgbClr val="3C4555"/>
                </a:solidFill>
                <a:latin typeface="Calibri"/>
              </a:rPr>
              <a:t>▪  Explain diagonalisation and what it is for.</a:t>
            </a:r>
          </a:p>
          <a:p>
            <a:pPr algn="l">
              <a:lnSpc>
                <a:spcPct val="122000"/>
              </a:lnSpc>
              <a:spcAft>
                <a:spcPts val="900"/>
              </a:spcAft>
            </a:pPr>
            <a:r>
              <a:rPr sz="1800" b="0" i="0">
                <a:solidFill>
                  <a:srgbClr val="3C4555"/>
                </a:solidFill>
                <a:latin typeface="Calibri"/>
              </a:rPr>
              <a:t>▪  Explain the symmetric case and why it is special.</a:t>
            </a:r>
          </a:p>
          <a:p>
            <a:pPr algn="l">
              <a:lnSpc>
                <a:spcPct val="122000"/>
              </a:lnSpc>
              <a:spcAft>
                <a:spcPts val="900"/>
              </a:spcAft>
            </a:pPr>
            <a:r>
              <a:rPr sz="1800" b="0" i="0">
                <a:solidFill>
                  <a:srgbClr val="3C4555"/>
                </a:solidFill>
                <a:latin typeface="Calibri"/>
              </a:rPr>
              <a:t>▪  Recognise eigen-problems in the program ahead.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566928" y="6419088"/>
            <a:ext cx="822960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900" b="0" i="0">
                <a:solidFill>
                  <a:srgbClr val="798290"/>
                </a:solidFill>
                <a:latin typeface="Calibri"/>
              </a:rPr>
              <a:t>UC LINA 600 · Linear Algebra for Graphics  —  Module 10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0728655" y="6419088"/>
            <a:ext cx="91440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>
              <a:lnSpc>
                <a:spcPct val="100000"/>
              </a:lnSpc>
            </a:pPr>
            <a:r>
              <a:rPr sz="900" b="0" i="0">
                <a:solidFill>
                  <a:srgbClr val="798290"/>
                </a:solidFill>
                <a:latin typeface="Calibri"/>
              </a:rPr>
              <a:t>1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242C3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146304"/>
          </a:xfrm>
          <a:prstGeom prst="rect">
            <a:avLst/>
          </a:prstGeom>
          <a:solidFill>
            <a:srgbClr val="C29B3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1005840" y="2240280"/>
            <a:ext cx="10058400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1300" b="1" i="0">
                <a:solidFill>
                  <a:srgbClr val="C29B3F"/>
                </a:solidFill>
                <a:latin typeface="Calibri"/>
              </a:rPr>
              <a:t>PART 1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005840" y="2697480"/>
            <a:ext cx="10058400" cy="12801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0000"/>
              </a:lnSpc>
            </a:pPr>
            <a:r>
              <a:rPr sz="3600" b="1" i="0">
                <a:solidFill>
                  <a:srgbClr val="FFFFFF"/>
                </a:solidFill>
                <a:latin typeface="Georgia"/>
              </a:rPr>
              <a:t>The definition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005840" y="3977639"/>
            <a:ext cx="9326880" cy="10972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30000"/>
              </a:lnSpc>
            </a:pPr>
            <a:r>
              <a:rPr sz="1500" b="0" i="0">
                <a:solidFill>
                  <a:srgbClr val="9AA5B5"/>
                </a:solidFill>
                <a:latin typeface="Calibri"/>
              </a:rPr>
              <a:t>Which is geometric before it is algebraic.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566928" y="6419088"/>
            <a:ext cx="822960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900" b="0" i="0">
                <a:solidFill>
                  <a:srgbClr val="6E788A"/>
                </a:solidFill>
                <a:latin typeface="Calibri"/>
              </a:rPr>
              <a:t>UC LINA 600 · Linear Algebra for Graphics  —  Module 10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0728655" y="6419088"/>
            <a:ext cx="91440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>
              <a:lnSpc>
                <a:spcPct val="100000"/>
              </a:lnSpc>
            </a:pPr>
            <a:r>
              <a:rPr sz="900" b="0" i="0">
                <a:solidFill>
                  <a:srgbClr val="6E788A"/>
                </a:solidFill>
                <a:latin typeface="Calibri"/>
              </a:rPr>
              <a:t>2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8F6F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66928" y="475488"/>
            <a:ext cx="11064240" cy="7772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8000"/>
              </a:lnSpc>
            </a:pPr>
            <a:r>
              <a:rPr sz="2700" b="1" i="0">
                <a:solidFill>
                  <a:srgbClr val="141924"/>
                </a:solidFill>
                <a:latin typeface="Georgia"/>
              </a:rPr>
              <a:t>An eigenvector is a direction the transform only stretches — it comes out along the same line</a:t>
            </a:r>
          </a:p>
        </p:txBody>
      </p:sp>
      <p:sp>
        <p:nvSpPr>
          <p:cNvPr id="4" name="Rectangle 3"/>
          <p:cNvSpPr/>
          <p:nvPr/>
        </p:nvSpPr>
        <p:spPr>
          <a:xfrm>
            <a:off x="566928" y="1316736"/>
            <a:ext cx="1371600" cy="32004"/>
          </a:xfrm>
          <a:prstGeom prst="rect">
            <a:avLst/>
          </a:prstGeom>
          <a:solidFill>
            <a:srgbClr val="B03F2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Rectangle 4"/>
          <p:cNvSpPr/>
          <p:nvPr/>
        </p:nvSpPr>
        <p:spPr>
          <a:xfrm>
            <a:off x="566928" y="1591056"/>
            <a:ext cx="11064240" cy="4261104"/>
          </a:xfrm>
          <a:prstGeom prst="rect">
            <a:avLst/>
          </a:prstGeom>
          <a:solidFill>
            <a:srgbClr val="FFFFFF"/>
          </a:solidFill>
          <a:ln w="12700">
            <a:solidFill>
              <a:srgbClr val="E2DED5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Rectangle 5"/>
          <p:cNvSpPr/>
          <p:nvPr/>
        </p:nvSpPr>
        <p:spPr>
          <a:xfrm>
            <a:off x="566928" y="1591056"/>
            <a:ext cx="64008" cy="4261104"/>
          </a:xfrm>
          <a:prstGeom prst="rect">
            <a:avLst/>
          </a:prstGeom>
          <a:solidFill>
            <a:srgbClr val="C29B3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1005840" y="1911095"/>
            <a:ext cx="10241280" cy="3200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1100" b="1" i="0">
                <a:solidFill>
                  <a:srgbClr val="C29B3F"/>
                </a:solidFill>
                <a:latin typeface="Calibri"/>
              </a:rPr>
              <a:t>THE IDEA, BEFORE THE CHARACTERISTIC POLYNOMIAL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005840" y="2368296"/>
            <a:ext cx="10058400" cy="3163824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35000"/>
              </a:lnSpc>
              <a:spcAft>
                <a:spcPts val="1200"/>
              </a:spcAft>
            </a:pPr>
            <a:r>
              <a:rPr sz="1600" b="1" i="0">
                <a:solidFill>
                  <a:srgbClr val="141924"/>
                </a:solidFill>
                <a:latin typeface="Georgia"/>
              </a:rPr>
              <a:t>Most vectors get turned by a transform</a:t>
            </a:r>
            <a:r>
              <a:rPr sz="1600" b="0" i="0">
                <a:solidFill>
                  <a:srgbClr val="141924"/>
                </a:solidFill>
                <a:latin typeface="Georgia"/>
              </a:rPr>
              <a:t>; </a:t>
            </a:r>
            <a:r>
              <a:rPr sz="1600" b="1" i="0">
                <a:solidFill>
                  <a:srgbClr val="141924"/>
                </a:solidFill>
                <a:latin typeface="Georgia"/>
              </a:rPr>
              <a:t>eigenvectors do not</a:t>
            </a:r>
            <a:r>
              <a:rPr sz="1600" b="0" i="0">
                <a:solidFill>
                  <a:srgbClr val="141924"/>
                </a:solidFill>
                <a:latin typeface="Georgia"/>
              </a:rPr>
              <a:t> — </a:t>
            </a:r>
            <a:r>
              <a:rPr sz="1600" b="1" i="0">
                <a:solidFill>
                  <a:srgbClr val="141924"/>
                </a:solidFill>
                <a:latin typeface="Georgia"/>
              </a:rPr>
              <a:t>they come out as a scalar multiple of themselves</a:t>
            </a:r>
            <a:r>
              <a:rPr sz="1600" b="0" i="0">
                <a:solidFill>
                  <a:srgbClr val="141924"/>
                </a:solidFill>
                <a:latin typeface="Georgia"/>
              </a:rPr>
              <a:t>, and that scalar is the eigenvalue.</a:t>
            </a:r>
          </a:p>
          <a:p>
            <a:pPr algn="l">
              <a:lnSpc>
                <a:spcPct val="135000"/>
              </a:lnSpc>
              <a:spcAft>
                <a:spcPts val="1200"/>
              </a:spcAft>
            </a:pPr>
            <a:r>
              <a:rPr sz="1600" b="1" i="0">
                <a:solidFill>
                  <a:srgbClr val="141924"/>
                </a:solidFill>
                <a:latin typeface="Georgia"/>
              </a:rPr>
              <a:t>Av = λv</a:t>
            </a:r>
            <a:r>
              <a:rPr sz="1600" b="0" i="0">
                <a:solidFill>
                  <a:srgbClr val="141924"/>
                </a:solidFill>
                <a:latin typeface="Georgia"/>
              </a:rPr>
              <a:t> — </a:t>
            </a:r>
            <a:r>
              <a:rPr sz="1600" b="1" i="0">
                <a:solidFill>
                  <a:srgbClr val="141924"/>
                </a:solidFill>
                <a:latin typeface="Georgia"/>
              </a:rPr>
              <a:t>which says 'the transform acts on this direction like simple scaling'</a:t>
            </a:r>
            <a:r>
              <a:rPr sz="1600" b="0" i="0">
                <a:solidFill>
                  <a:srgbClr val="141924"/>
                </a:solidFill>
                <a:latin typeface="Georgia"/>
              </a:rPr>
              <a:t>, and that is the whole content.</a:t>
            </a:r>
          </a:p>
          <a:p>
            <a:pPr algn="l">
              <a:lnSpc>
                <a:spcPct val="135000"/>
              </a:lnSpc>
              <a:spcAft>
                <a:spcPts val="1200"/>
              </a:spcAft>
            </a:pPr>
            <a:r>
              <a:rPr sz="1600" b="1" i="0">
                <a:solidFill>
                  <a:srgbClr val="141924"/>
                </a:solidFill>
                <a:latin typeface="Georgia"/>
              </a:rPr>
              <a:t>So a rotation in the plane has no real eigenvectors</a:t>
            </a:r>
            <a:r>
              <a:rPr sz="1600" b="0" i="0">
                <a:solidFill>
                  <a:srgbClr val="141924"/>
                </a:solidFill>
                <a:latin typeface="Georgia"/>
              </a:rPr>
              <a:t> — </a:t>
            </a:r>
            <a:r>
              <a:rPr sz="1600" b="1" i="0">
                <a:solidFill>
                  <a:srgbClr val="141924"/>
                </a:solidFill>
                <a:latin typeface="Georgia"/>
              </a:rPr>
              <a:t>everything turns</a:t>
            </a:r>
            <a:r>
              <a:rPr sz="1600" b="0" i="0">
                <a:solidFill>
                  <a:srgbClr val="141924"/>
                </a:solidFill>
                <a:latin typeface="Georgia"/>
              </a:rPr>
              <a:t> — while </a:t>
            </a:r>
            <a:r>
              <a:rPr sz="1600" b="1" i="0">
                <a:solidFill>
                  <a:srgbClr val="141924"/>
                </a:solidFill>
                <a:latin typeface="Georgia"/>
              </a:rPr>
              <a:t>a 3D rotation has exactly one: the axis</a:t>
            </a:r>
            <a:r>
              <a:rPr sz="1600" b="0" i="0">
                <a:solidFill>
                  <a:srgbClr val="141924"/>
                </a:solidFill>
                <a:latin typeface="Georgia"/>
              </a:rPr>
              <a:t>, with eigenvalue 1.</a:t>
            </a:r>
          </a:p>
          <a:p>
            <a:pPr algn="l">
              <a:lnSpc>
                <a:spcPct val="135000"/>
              </a:lnSpc>
              <a:spcAft>
                <a:spcPts val="1200"/>
              </a:spcAft>
            </a:pPr>
            <a:r>
              <a:rPr sz="1600" b="1" i="0">
                <a:solidFill>
                  <a:srgbClr val="141924"/>
                </a:solidFill>
                <a:latin typeface="Georgia"/>
              </a:rPr>
              <a:t>Which is a good first example</a:t>
            </a:r>
            <a:r>
              <a:rPr sz="1600" b="0" i="0">
                <a:solidFill>
                  <a:srgbClr val="141924"/>
                </a:solidFill>
                <a:latin typeface="Georgia"/>
              </a:rPr>
              <a:t>, because </a:t>
            </a:r>
            <a:r>
              <a:rPr sz="1600" b="1" i="0">
                <a:solidFill>
                  <a:srgbClr val="141924"/>
                </a:solidFill>
                <a:latin typeface="Georgia"/>
              </a:rPr>
              <a:t>'the axis of rotation is the eigenvector with eigenvalue 1' makes the definition concrete</a:t>
            </a:r>
            <a:r>
              <a:rPr sz="1600" b="0" i="0">
                <a:solidFill>
                  <a:srgbClr val="141924"/>
                </a:solidFill>
                <a:latin typeface="Georgia"/>
              </a:rPr>
              <a:t> and is directly useful (Module 11).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566928" y="6419088"/>
            <a:ext cx="822960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900" b="0" i="0">
                <a:solidFill>
                  <a:srgbClr val="798290"/>
                </a:solidFill>
                <a:latin typeface="Calibri"/>
              </a:rPr>
              <a:t>UC LINA 600 · Linear Algebra for Graphics  —  Module 10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10728655" y="6419088"/>
            <a:ext cx="91440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>
              <a:lnSpc>
                <a:spcPct val="100000"/>
              </a:lnSpc>
            </a:pPr>
            <a:r>
              <a:rPr sz="900" b="0" i="0">
                <a:solidFill>
                  <a:srgbClr val="798290"/>
                </a:solidFill>
                <a:latin typeface="Calibri"/>
              </a:rPr>
              <a:t>3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242C3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146304"/>
          </a:xfrm>
          <a:prstGeom prst="rect">
            <a:avLst/>
          </a:prstGeom>
          <a:solidFill>
            <a:srgbClr val="C29B3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1005840" y="2240280"/>
            <a:ext cx="10058400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1300" b="1" i="0">
                <a:solidFill>
                  <a:srgbClr val="C29B3F"/>
                </a:solidFill>
                <a:latin typeface="Calibri"/>
              </a:rPr>
              <a:t>PART 2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005840" y="2697480"/>
            <a:ext cx="10058400" cy="12801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0000"/>
              </a:lnSpc>
            </a:pPr>
            <a:r>
              <a:rPr sz="3600" b="1" i="0">
                <a:solidFill>
                  <a:srgbClr val="FFFFFF"/>
                </a:solidFill>
                <a:latin typeface="Georgia"/>
              </a:rPr>
              <a:t>Computing them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005840" y="3977639"/>
            <a:ext cx="9326880" cy="10972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30000"/>
              </a:lnSpc>
            </a:pPr>
            <a:r>
              <a:rPr sz="1500" b="0" i="0">
                <a:solidFill>
                  <a:srgbClr val="9AA5B5"/>
                </a:solidFill>
                <a:latin typeface="Calibri"/>
              </a:rPr>
              <a:t>And why this is the wrong method at scale.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566928" y="6419088"/>
            <a:ext cx="822960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900" b="0" i="0">
                <a:solidFill>
                  <a:srgbClr val="6E788A"/>
                </a:solidFill>
                <a:latin typeface="Calibri"/>
              </a:rPr>
              <a:t>UC LINA 600 · Linear Algebra for Graphics  —  Module 10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0728655" y="6419088"/>
            <a:ext cx="91440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>
              <a:lnSpc>
                <a:spcPct val="100000"/>
              </a:lnSpc>
            </a:pPr>
            <a:r>
              <a:rPr sz="900" b="0" i="0">
                <a:solidFill>
                  <a:srgbClr val="6E788A"/>
                </a:solidFill>
                <a:latin typeface="Calibri"/>
              </a:rPr>
              <a:t>4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8F6F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66928" y="475488"/>
            <a:ext cx="1078992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1050" b="1" i="0">
                <a:solidFill>
                  <a:srgbClr val="B03F2B"/>
                </a:solidFill>
                <a:latin typeface="Calibri"/>
              </a:rPr>
              <a:t>COMPUTATION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66928" y="786384"/>
            <a:ext cx="11064240" cy="7772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8000"/>
              </a:lnSpc>
            </a:pPr>
            <a:r>
              <a:rPr sz="2700" b="1" i="0">
                <a:solidFill>
                  <a:srgbClr val="141924"/>
                </a:solidFill>
                <a:latin typeface="Georgia"/>
              </a:rPr>
              <a:t>By hand, for a 2×2</a:t>
            </a:r>
          </a:p>
        </p:txBody>
      </p:sp>
      <p:sp>
        <p:nvSpPr>
          <p:cNvPr id="5" name="Rectangle 4"/>
          <p:cNvSpPr/>
          <p:nvPr/>
        </p:nvSpPr>
        <p:spPr>
          <a:xfrm>
            <a:off x="566928" y="1627632"/>
            <a:ext cx="1371600" cy="32004"/>
          </a:xfrm>
          <a:prstGeom prst="rect">
            <a:avLst/>
          </a:prstGeom>
          <a:solidFill>
            <a:srgbClr val="B03F2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Rectangle 5"/>
          <p:cNvSpPr/>
          <p:nvPr/>
        </p:nvSpPr>
        <p:spPr>
          <a:xfrm>
            <a:off x="566928" y="1901952"/>
            <a:ext cx="11064240" cy="3904487"/>
          </a:xfrm>
          <a:prstGeom prst="rect">
            <a:avLst/>
          </a:prstGeom>
          <a:solidFill>
            <a:srgbClr val="1B212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10515600" y="2011680"/>
            <a:ext cx="100584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>
              <a:lnSpc>
                <a:spcPct val="100000"/>
              </a:lnSpc>
            </a:pPr>
            <a:r>
              <a:rPr sz="1000" b="0" i="0">
                <a:solidFill>
                  <a:srgbClr val="C29B3F"/>
                </a:solidFill>
                <a:latin typeface="Consolas"/>
              </a:rPr>
              <a:t>text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868680" y="2084832"/>
            <a:ext cx="10515600" cy="363016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5000"/>
              </a:lnSpc>
            </a:pPr>
            <a:r>
              <a:rPr sz="974" b="0" i="0">
                <a:solidFill>
                  <a:srgbClr val="E4E8EF"/>
                </a:solidFill>
                <a:latin typeface="Consolas"/>
              </a:rPr>
              <a:t>  Av = lv  means  (A - lI)v = 0 for v nonzero,</a:t>
            </a:r>
          </a:p>
          <a:p>
            <a:pPr algn="l">
              <a:lnSpc>
                <a:spcPct val="105000"/>
              </a:lnSpc>
            </a:pPr>
            <a:r>
              <a:rPr sz="974" b="0" i="0">
                <a:solidFill>
                  <a:srgbClr val="E4E8EF"/>
                </a:solidFill>
                <a:latin typeface="Consolas"/>
              </a:rPr>
              <a:t>  which needs A - lI to be SINGULAR, so</a:t>
            </a:r>
          </a:p>
          <a:p>
            <a:pPr algn="l">
              <a:lnSpc>
                <a:spcPct val="105000"/>
              </a:lnSpc>
            </a:pPr>
            <a:r>
              <a:rPr sz="974" b="0" i="0">
                <a:solidFill>
                  <a:srgbClr val="E4E8EF"/>
                </a:solidFill>
                <a:latin typeface="Consolas"/>
              </a:rPr>
              <a:t> </a:t>
            </a:r>
          </a:p>
          <a:p>
            <a:pPr algn="l">
              <a:lnSpc>
                <a:spcPct val="105000"/>
              </a:lnSpc>
            </a:pPr>
            <a:r>
              <a:rPr sz="974" b="0" i="0">
                <a:solidFill>
                  <a:srgbClr val="E4E8EF"/>
                </a:solidFill>
                <a:latin typeface="Consolas"/>
              </a:rPr>
              <a:t>      det(A - lI) = 0</a:t>
            </a:r>
          </a:p>
          <a:p>
            <a:pPr algn="l">
              <a:lnSpc>
                <a:spcPct val="105000"/>
              </a:lnSpc>
            </a:pPr>
            <a:r>
              <a:rPr sz="974" b="0" i="0">
                <a:solidFill>
                  <a:srgbClr val="E4E8EF"/>
                </a:solidFill>
                <a:latin typeface="Consolas"/>
              </a:rPr>
              <a:t> </a:t>
            </a:r>
          </a:p>
          <a:p>
            <a:pPr algn="l">
              <a:lnSpc>
                <a:spcPct val="105000"/>
              </a:lnSpc>
            </a:pPr>
            <a:r>
              <a:rPr sz="974" b="0" i="0">
                <a:solidFill>
                  <a:srgbClr val="E4E8EF"/>
                </a:solidFill>
                <a:latin typeface="Consolas"/>
              </a:rPr>
              <a:t>  -- the characteristic polynomial. Solve for l,</a:t>
            </a:r>
          </a:p>
          <a:p>
            <a:pPr algn="l">
              <a:lnSpc>
                <a:spcPct val="105000"/>
              </a:lnSpc>
            </a:pPr>
            <a:r>
              <a:rPr sz="974" b="0" i="0">
                <a:solidFill>
                  <a:srgbClr val="E4E8EF"/>
                </a:solidFill>
                <a:latin typeface="Consolas"/>
              </a:rPr>
              <a:t>  then solve (A - lI)v = 0 for each root.</a:t>
            </a:r>
          </a:p>
          <a:p>
            <a:pPr algn="l">
              <a:lnSpc>
                <a:spcPct val="105000"/>
              </a:lnSpc>
            </a:pPr>
            <a:r>
              <a:rPr sz="974" b="0" i="0">
                <a:solidFill>
                  <a:srgbClr val="E4E8EF"/>
                </a:solidFill>
                <a:latin typeface="Consolas"/>
              </a:rPr>
              <a:t> </a:t>
            </a:r>
          </a:p>
          <a:p>
            <a:pPr algn="l">
              <a:lnSpc>
                <a:spcPct val="105000"/>
              </a:lnSpc>
            </a:pPr>
            <a:r>
              <a:rPr sz="974" b="0" i="0">
                <a:solidFill>
                  <a:srgbClr val="E4E8EF"/>
                </a:solidFill>
                <a:latin typeface="Consolas"/>
              </a:rPr>
              <a:t>  EXAMPLE  A = [ 2 1 ]</a:t>
            </a:r>
          </a:p>
          <a:p>
            <a:pPr algn="l">
              <a:lnSpc>
                <a:spcPct val="105000"/>
              </a:lnSpc>
            </a:pPr>
            <a:r>
              <a:rPr sz="974" b="0" i="0">
                <a:solidFill>
                  <a:srgbClr val="E4E8EF"/>
                </a:solidFill>
                <a:latin typeface="Consolas"/>
              </a:rPr>
              <a:t>               [ 1 2 ]</a:t>
            </a:r>
          </a:p>
          <a:p>
            <a:pPr algn="l">
              <a:lnSpc>
                <a:spcPct val="105000"/>
              </a:lnSpc>
            </a:pPr>
            <a:r>
              <a:rPr sz="974" b="0" i="0">
                <a:solidFill>
                  <a:srgbClr val="E4E8EF"/>
                </a:solidFill>
                <a:latin typeface="Consolas"/>
              </a:rPr>
              <a:t>      det([2-l, 1], [1, 2-l]) = (2-l)^2 - 1</a:t>
            </a:r>
          </a:p>
          <a:p>
            <a:pPr algn="l">
              <a:lnSpc>
                <a:spcPct val="105000"/>
              </a:lnSpc>
            </a:pPr>
            <a:r>
              <a:rPr sz="974" b="0" i="0">
                <a:solidFill>
                  <a:srgbClr val="E4E8EF"/>
                </a:solidFill>
                <a:latin typeface="Consolas"/>
              </a:rPr>
              <a:t>                              = l^2 - 4l + 3</a:t>
            </a:r>
          </a:p>
          <a:p>
            <a:pPr algn="l">
              <a:lnSpc>
                <a:spcPct val="105000"/>
              </a:lnSpc>
            </a:pPr>
            <a:r>
              <a:rPr sz="974" b="0" i="0">
                <a:solidFill>
                  <a:srgbClr val="E4E8EF"/>
                </a:solidFill>
                <a:latin typeface="Consolas"/>
              </a:rPr>
              <a:t>                              = (l-1)(l-3)</a:t>
            </a:r>
          </a:p>
          <a:p>
            <a:pPr algn="l">
              <a:lnSpc>
                <a:spcPct val="105000"/>
              </a:lnSpc>
            </a:pPr>
            <a:r>
              <a:rPr sz="974" b="0" i="0">
                <a:solidFill>
                  <a:srgbClr val="E4E8EF"/>
                </a:solidFill>
                <a:latin typeface="Consolas"/>
              </a:rPr>
              <a:t>      l = 1:  v = (1, -1)</a:t>
            </a:r>
          </a:p>
          <a:p>
            <a:pPr algn="l">
              <a:lnSpc>
                <a:spcPct val="105000"/>
              </a:lnSpc>
            </a:pPr>
            <a:r>
              <a:rPr sz="974" b="0" i="0">
                <a:solidFill>
                  <a:srgbClr val="E4E8EF"/>
                </a:solidFill>
                <a:latin typeface="Consolas"/>
              </a:rPr>
              <a:t>      l = 3:  v = (1,  1)</a:t>
            </a:r>
          </a:p>
          <a:p>
            <a:pPr algn="l">
              <a:lnSpc>
                <a:spcPct val="105000"/>
              </a:lnSpc>
            </a:pPr>
            <a:r>
              <a:rPr sz="974" b="0" i="0">
                <a:solidFill>
                  <a:srgbClr val="E4E8EF"/>
                </a:solidFill>
                <a:latin typeface="Consolas"/>
              </a:rPr>
              <a:t>  and both are perpendicular, because A is symmetric</a:t>
            </a:r>
          </a:p>
          <a:p>
            <a:pPr algn="l">
              <a:lnSpc>
                <a:spcPct val="105000"/>
              </a:lnSpc>
            </a:pPr>
            <a:r>
              <a:rPr sz="974" b="0" i="0">
                <a:solidFill>
                  <a:srgbClr val="E4E8EF"/>
                </a:solidFill>
                <a:latin typeface="Consolas"/>
              </a:rPr>
              <a:t>  (section 4).</a:t>
            </a:r>
          </a:p>
          <a:p>
            <a:pPr algn="l">
              <a:lnSpc>
                <a:spcPct val="105000"/>
              </a:lnSpc>
            </a:pPr>
            <a:r>
              <a:rPr sz="974" b="0" i="0">
                <a:solidFill>
                  <a:srgbClr val="E4E8EF"/>
                </a:solidFill>
                <a:latin typeface="Consolas"/>
              </a:rPr>
              <a:t> </a:t>
            </a:r>
          </a:p>
          <a:p>
            <a:pPr algn="l">
              <a:lnSpc>
                <a:spcPct val="105000"/>
              </a:lnSpc>
            </a:pPr>
            <a:r>
              <a:rPr sz="974" b="0" i="0">
                <a:solidFill>
                  <a:srgbClr val="E4E8EF"/>
                </a:solidFill>
                <a:latin typeface="Consolas"/>
              </a:rPr>
              <a:t>  BUT NOT AT SCALE: root-finding on a degree-n</a:t>
            </a:r>
          </a:p>
          <a:p>
            <a:pPr algn="l">
              <a:lnSpc>
                <a:spcPct val="105000"/>
              </a:lnSpc>
            </a:pPr>
            <a:r>
              <a:rPr sz="974" b="0" i="0">
                <a:solidFill>
                  <a:srgbClr val="E4E8EF"/>
                </a:solidFill>
                <a:latin typeface="Consolas"/>
              </a:rPr>
              <a:t>  polynomial is numerically catastrophic. Real</a:t>
            </a:r>
          </a:p>
          <a:p>
            <a:pPr algn="l">
              <a:lnSpc>
                <a:spcPct val="105000"/>
              </a:lnSpc>
            </a:pPr>
            <a:r>
              <a:rPr sz="974" b="0" i="0">
                <a:solidFill>
                  <a:srgbClr val="E4E8EF"/>
                </a:solidFill>
                <a:latin typeface="Consolas"/>
              </a:rPr>
              <a:t>  implementations use iterative methods (QR, power</a:t>
            </a:r>
          </a:p>
          <a:p>
            <a:pPr algn="l">
              <a:lnSpc>
                <a:spcPct val="105000"/>
              </a:lnSpc>
            </a:pPr>
            <a:r>
              <a:rPr sz="974" b="0" i="0">
                <a:solidFill>
                  <a:srgbClr val="E4E8EF"/>
                </a:solidFill>
                <a:latin typeface="Consolas"/>
              </a:rPr>
              <a:t>  iteration). Use a library and know why.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566928" y="5971031"/>
            <a:ext cx="10789920" cy="4572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20000"/>
              </a:lnSpc>
            </a:pPr>
            <a:r>
              <a:rPr sz="1250" b="1" i="1">
                <a:solidFill>
                  <a:srgbClr val="798290"/>
                </a:solidFill>
                <a:latin typeface="Calibri"/>
              </a:rPr>
              <a:t>The characteristic polynomial is for understanding and for 2×2</a:t>
            </a:r>
            <a:r>
              <a:rPr sz="1250" b="0" i="1">
                <a:solidFill>
                  <a:srgbClr val="798290"/>
                </a:solidFill>
                <a:latin typeface="Calibri"/>
              </a:rPr>
              <a:t> — real implementations iterate, because polynomial root-finding is numerically catastrophic.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566928" y="6419088"/>
            <a:ext cx="822960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900" b="0" i="0">
                <a:solidFill>
                  <a:srgbClr val="798290"/>
                </a:solidFill>
                <a:latin typeface="Calibri"/>
              </a:rPr>
              <a:t>UC LINA 600 · Linear Algebra for Graphics  —  Module 10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10728655" y="6419088"/>
            <a:ext cx="91440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>
              <a:lnSpc>
                <a:spcPct val="100000"/>
              </a:lnSpc>
            </a:pPr>
            <a:r>
              <a:rPr sz="900" b="0" i="0">
                <a:solidFill>
                  <a:srgbClr val="798290"/>
                </a:solidFill>
                <a:latin typeface="Calibri"/>
              </a:rPr>
              <a:t>5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242C3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146304"/>
          </a:xfrm>
          <a:prstGeom prst="rect">
            <a:avLst/>
          </a:prstGeom>
          <a:solidFill>
            <a:srgbClr val="C29B3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1005840" y="2240280"/>
            <a:ext cx="10058400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1300" b="1" i="0">
                <a:solidFill>
                  <a:srgbClr val="C29B3F"/>
                </a:solidFill>
                <a:latin typeface="Calibri"/>
              </a:rPr>
              <a:t>PART 3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005840" y="2697480"/>
            <a:ext cx="10058400" cy="12801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0000"/>
              </a:lnSpc>
            </a:pPr>
            <a:r>
              <a:rPr sz="3600" b="1" i="0">
                <a:solidFill>
                  <a:srgbClr val="FFFFFF"/>
                </a:solidFill>
                <a:latin typeface="Georgia"/>
              </a:rPr>
              <a:t>Diagonalisation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005840" y="3977639"/>
            <a:ext cx="9326880" cy="10972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30000"/>
              </a:lnSpc>
            </a:pPr>
            <a:r>
              <a:rPr sz="1500" b="0" i="0">
                <a:solidFill>
                  <a:srgbClr val="9AA5B5"/>
                </a:solidFill>
                <a:latin typeface="Calibri"/>
              </a:rPr>
              <a:t>What eigenvectors are actually for.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566928" y="6419088"/>
            <a:ext cx="822960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900" b="0" i="0">
                <a:solidFill>
                  <a:srgbClr val="6E788A"/>
                </a:solidFill>
                <a:latin typeface="Calibri"/>
              </a:rPr>
              <a:t>UC LINA 600 · Linear Algebra for Graphics  —  Module 10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0728655" y="6419088"/>
            <a:ext cx="91440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>
              <a:lnSpc>
                <a:spcPct val="100000"/>
              </a:lnSpc>
            </a:pPr>
            <a:r>
              <a:rPr sz="900" b="0" i="0">
                <a:solidFill>
                  <a:srgbClr val="6E788A"/>
                </a:solidFill>
                <a:latin typeface="Calibri"/>
              </a:rPr>
              <a:t>6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8F6F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66928" y="475488"/>
            <a:ext cx="11064240" cy="7772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8000"/>
              </a:lnSpc>
            </a:pPr>
            <a:r>
              <a:rPr sz="2700" b="1" i="0">
                <a:solidFill>
                  <a:srgbClr val="141924"/>
                </a:solidFill>
                <a:latin typeface="Georgia"/>
              </a:rPr>
              <a:t>In its eigenvector basis a transform is diagonal — which is change of basis doing its job</a:t>
            </a:r>
          </a:p>
        </p:txBody>
      </p:sp>
      <p:sp>
        <p:nvSpPr>
          <p:cNvPr id="4" name="Rectangle 3"/>
          <p:cNvSpPr/>
          <p:nvPr/>
        </p:nvSpPr>
        <p:spPr>
          <a:xfrm>
            <a:off x="566928" y="1316736"/>
            <a:ext cx="1371600" cy="32004"/>
          </a:xfrm>
          <a:prstGeom prst="rect">
            <a:avLst/>
          </a:prstGeom>
          <a:solidFill>
            <a:srgbClr val="B03F2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Rectangle 4"/>
          <p:cNvSpPr/>
          <p:nvPr/>
        </p:nvSpPr>
        <p:spPr>
          <a:xfrm>
            <a:off x="566928" y="1591056"/>
            <a:ext cx="11064240" cy="4261104"/>
          </a:xfrm>
          <a:prstGeom prst="rect">
            <a:avLst/>
          </a:prstGeom>
          <a:solidFill>
            <a:srgbClr val="FFFFFF"/>
          </a:solidFill>
          <a:ln w="12700">
            <a:solidFill>
              <a:srgbClr val="E2DED5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Rectangle 5"/>
          <p:cNvSpPr/>
          <p:nvPr/>
        </p:nvSpPr>
        <p:spPr>
          <a:xfrm>
            <a:off x="566928" y="1591056"/>
            <a:ext cx="64008" cy="4261104"/>
          </a:xfrm>
          <a:prstGeom prst="rect">
            <a:avLst/>
          </a:prstGeom>
          <a:solidFill>
            <a:srgbClr val="C29B3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1005840" y="1911095"/>
            <a:ext cx="10241280" cy="3200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1100" b="1" i="0">
                <a:solidFill>
                  <a:srgbClr val="C29B3F"/>
                </a:solidFill>
                <a:latin typeface="Calibri"/>
              </a:rPr>
              <a:t>WHY THIS MATTERS BEYOND THE DEFINITION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005840" y="2368296"/>
            <a:ext cx="10058400" cy="3163824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35000"/>
              </a:lnSpc>
              <a:spcAft>
                <a:spcPts val="1200"/>
              </a:spcAft>
            </a:pPr>
            <a:r>
              <a:rPr sz="1600" b="1" i="0">
                <a:solidFill>
                  <a:srgbClr val="141924"/>
                </a:solidFill>
                <a:latin typeface="Georgia"/>
              </a:rPr>
              <a:t>A = PDP⁻¹</a:t>
            </a:r>
            <a:r>
              <a:rPr sz="1600" b="0" i="0">
                <a:solidFill>
                  <a:srgbClr val="141924"/>
                </a:solidFill>
                <a:latin typeface="Georgia"/>
              </a:rPr>
              <a:t>, </a:t>
            </a:r>
            <a:r>
              <a:rPr sz="1600" b="1" i="0">
                <a:solidFill>
                  <a:srgbClr val="141924"/>
                </a:solidFill>
                <a:latin typeface="Georgia"/>
              </a:rPr>
              <a:t>where P's columns are the eigenvectors and D is diagonal</a:t>
            </a:r>
            <a:r>
              <a:rPr sz="1600" b="0" i="0">
                <a:solidFill>
                  <a:srgbClr val="141924"/>
                </a:solidFill>
                <a:latin typeface="Georgia"/>
              </a:rPr>
              <a:t> — </a:t>
            </a:r>
            <a:r>
              <a:rPr sz="1600" b="1" i="0">
                <a:solidFill>
                  <a:srgbClr val="141924"/>
                </a:solidFill>
                <a:latin typeface="Georgia"/>
              </a:rPr>
              <a:t>which reads as: change to the eigenbasis, scale each axis, change back</a:t>
            </a:r>
            <a:r>
              <a:rPr sz="1600" b="0" i="0">
                <a:solidFill>
                  <a:srgbClr val="141924"/>
                </a:solidFill>
                <a:latin typeface="Georgia"/>
              </a:rPr>
              <a:t> (Module 04).</a:t>
            </a:r>
          </a:p>
          <a:p>
            <a:pPr algn="l">
              <a:lnSpc>
                <a:spcPct val="135000"/>
              </a:lnSpc>
              <a:spcAft>
                <a:spcPts val="1200"/>
              </a:spcAft>
            </a:pPr>
            <a:r>
              <a:rPr sz="1600" b="1" i="0">
                <a:solidFill>
                  <a:srgbClr val="141924"/>
                </a:solidFill>
                <a:latin typeface="Georgia"/>
              </a:rPr>
              <a:t>And then Aⁿ = PDⁿP⁻¹</a:t>
            </a:r>
            <a:r>
              <a:rPr sz="1600" b="0" i="0">
                <a:solidFill>
                  <a:srgbClr val="141924"/>
                </a:solidFill>
                <a:latin typeface="Georgia"/>
              </a:rPr>
              <a:t>, </a:t>
            </a:r>
            <a:r>
              <a:rPr sz="1600" b="1" i="0">
                <a:solidFill>
                  <a:srgbClr val="141924"/>
                </a:solidFill>
                <a:latin typeface="Georgia"/>
              </a:rPr>
              <a:t>where Dⁿ is just each diagonal entry to the n</a:t>
            </a:r>
            <a:r>
              <a:rPr sz="1600" b="0" i="0">
                <a:solidFill>
                  <a:srgbClr val="141924"/>
                </a:solidFill>
                <a:latin typeface="Georgia"/>
              </a:rPr>
              <a:t> — </a:t>
            </a:r>
            <a:r>
              <a:rPr sz="1600" b="1" i="0">
                <a:solidFill>
                  <a:srgbClr val="141924"/>
                </a:solidFill>
                <a:latin typeface="Georgia"/>
              </a:rPr>
              <a:t>which turns repeated application into exponentiation of numbers.</a:t>
            </a:r>
          </a:p>
          <a:p>
            <a:pPr algn="l">
              <a:lnSpc>
                <a:spcPct val="135000"/>
              </a:lnSpc>
              <a:spcAft>
                <a:spcPts val="1200"/>
              </a:spcAft>
            </a:pPr>
            <a:r>
              <a:rPr sz="1600" b="1" i="0">
                <a:solidFill>
                  <a:srgbClr val="141924"/>
                </a:solidFill>
                <a:latin typeface="Georgia"/>
              </a:rPr>
              <a:t>Which is why eigenvectors matter for anything iterated</a:t>
            </a:r>
            <a:r>
              <a:rPr sz="1600" b="0" i="0">
                <a:solidFill>
                  <a:srgbClr val="141924"/>
                </a:solidFill>
                <a:latin typeface="Georgia"/>
              </a:rPr>
              <a:t>: </a:t>
            </a:r>
            <a:r>
              <a:rPr sz="1600" b="1" i="0">
                <a:solidFill>
                  <a:srgbClr val="141924"/>
                </a:solidFill>
                <a:latin typeface="Georgia"/>
              </a:rPr>
              <a:t>stability of a simulation, convergence of an iterative method, long-run behaviour of a Markov chain.</a:t>
            </a:r>
          </a:p>
          <a:p>
            <a:pPr algn="l">
              <a:lnSpc>
                <a:spcPct val="135000"/>
              </a:lnSpc>
              <a:spcAft>
                <a:spcPts val="1200"/>
              </a:spcAft>
            </a:pPr>
            <a:r>
              <a:rPr sz="1600" b="1" i="0">
                <a:solidFill>
                  <a:srgbClr val="141924"/>
                </a:solidFill>
                <a:latin typeface="Georgia"/>
              </a:rPr>
              <a:t>So the question 'does this simulation blow up' is 'is the largest eigenvalue above 1'</a:t>
            </a:r>
            <a:r>
              <a:rPr sz="1600" b="0" i="0">
                <a:solidFill>
                  <a:srgbClr val="141924"/>
                </a:solidFill>
                <a:latin typeface="Georgia"/>
              </a:rPr>
              <a:t> — </a:t>
            </a:r>
            <a:r>
              <a:rPr sz="1600" b="1" i="0">
                <a:solidFill>
                  <a:srgbClr val="141924"/>
                </a:solidFill>
                <a:latin typeface="Georgia"/>
              </a:rPr>
              <a:t>which is CSCE 649's stability analysis</a:t>
            </a:r>
            <a:r>
              <a:rPr sz="1600" b="0" i="0">
                <a:solidFill>
                  <a:srgbClr val="141924"/>
                </a:solidFill>
                <a:latin typeface="Georgia"/>
              </a:rPr>
              <a:t> and is the most practical use in this track.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566928" y="6419088"/>
            <a:ext cx="822960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900" b="0" i="0">
                <a:solidFill>
                  <a:srgbClr val="798290"/>
                </a:solidFill>
                <a:latin typeface="Calibri"/>
              </a:rPr>
              <a:t>UC LINA 600 · Linear Algebra for Graphics  —  Module 10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10728655" y="6419088"/>
            <a:ext cx="91440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>
              <a:lnSpc>
                <a:spcPct val="100000"/>
              </a:lnSpc>
            </a:pPr>
            <a:r>
              <a:rPr sz="900" b="0" i="0">
                <a:solidFill>
                  <a:srgbClr val="798290"/>
                </a:solidFill>
                <a:latin typeface="Calibri"/>
              </a:rPr>
              <a:t>7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242C3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146304"/>
          </a:xfrm>
          <a:prstGeom prst="rect">
            <a:avLst/>
          </a:prstGeom>
          <a:solidFill>
            <a:srgbClr val="C29B3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1005840" y="2240280"/>
            <a:ext cx="10058400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1300" b="1" i="0">
                <a:solidFill>
                  <a:srgbClr val="C29B3F"/>
                </a:solidFill>
                <a:latin typeface="Calibri"/>
              </a:rPr>
              <a:t>PART 4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005840" y="2697480"/>
            <a:ext cx="10058400" cy="12801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0000"/>
              </a:lnSpc>
            </a:pPr>
            <a:r>
              <a:rPr sz="3600" b="1" i="0">
                <a:solidFill>
                  <a:srgbClr val="FFFFFF"/>
                </a:solidFill>
                <a:latin typeface="Georgia"/>
              </a:rPr>
              <a:t>The symmetric case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005840" y="3977639"/>
            <a:ext cx="9326880" cy="10972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30000"/>
              </a:lnSpc>
            </a:pPr>
            <a:r>
              <a:rPr sz="1500" b="0" i="0">
                <a:solidFill>
                  <a:srgbClr val="9AA5B5"/>
                </a:solidFill>
                <a:latin typeface="Calibri"/>
              </a:rPr>
              <a:t>Which is the one you meet most, and is well behaved.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566928" y="6419088"/>
            <a:ext cx="822960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900" b="0" i="0">
                <a:solidFill>
                  <a:srgbClr val="6E788A"/>
                </a:solidFill>
                <a:latin typeface="Calibri"/>
              </a:rPr>
              <a:t>UC LINA 600 · Linear Algebra for Graphics  —  Module 10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0728655" y="6419088"/>
            <a:ext cx="91440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>
              <a:lnSpc>
                <a:spcPct val="100000"/>
              </a:lnSpc>
            </a:pPr>
            <a:r>
              <a:rPr sz="900" b="0" i="0">
                <a:solidFill>
                  <a:srgbClr val="6E788A"/>
                </a:solidFill>
                <a:latin typeface="Calibri"/>
              </a:rPr>
              <a:t>8</a:t>
            </a: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8F6F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66928" y="475488"/>
            <a:ext cx="1078992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1050" b="1" i="0">
                <a:solidFill>
                  <a:srgbClr val="B03F2B"/>
                </a:solidFill>
                <a:latin typeface="Calibri"/>
              </a:rPr>
              <a:t>SYMMETRIC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66928" y="786384"/>
            <a:ext cx="11064240" cy="7772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8000"/>
              </a:lnSpc>
            </a:pPr>
            <a:r>
              <a:rPr sz="2700" b="1" i="0">
                <a:solidFill>
                  <a:srgbClr val="141924"/>
                </a:solidFill>
                <a:latin typeface="Georgia"/>
              </a:rPr>
              <a:t>Why symmetric matrices are the easy and common case</a:t>
            </a:r>
          </a:p>
        </p:txBody>
      </p:sp>
      <p:sp>
        <p:nvSpPr>
          <p:cNvPr id="5" name="Rectangle 4"/>
          <p:cNvSpPr/>
          <p:nvPr/>
        </p:nvSpPr>
        <p:spPr>
          <a:xfrm>
            <a:off x="566928" y="1627632"/>
            <a:ext cx="1371600" cy="32004"/>
          </a:xfrm>
          <a:prstGeom prst="rect">
            <a:avLst/>
          </a:prstGeom>
          <a:solidFill>
            <a:srgbClr val="B03F2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713232" y="1901952"/>
            <a:ext cx="10789920" cy="404164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22000"/>
              </a:lnSpc>
              <a:spcAft>
                <a:spcPts val="900"/>
              </a:spcAft>
            </a:pPr>
            <a:r>
              <a:rPr sz="1750" b="0" i="0">
                <a:solidFill>
                  <a:srgbClr val="3C4555"/>
                </a:solidFill>
                <a:latin typeface="Calibri"/>
              </a:rPr>
              <a:t>▪  </a:t>
            </a:r>
            <a:r>
              <a:rPr sz="1750" b="1" i="0">
                <a:solidFill>
                  <a:srgbClr val="3C4555"/>
                </a:solidFill>
                <a:latin typeface="Calibri"/>
              </a:rPr>
              <a:t>Real eigenvalues, always</a:t>
            </a:r>
            <a:r>
              <a:rPr sz="1750" b="0" i="0">
                <a:solidFill>
                  <a:srgbClr val="3C4555"/>
                </a:solidFill>
                <a:latin typeface="Calibri"/>
              </a:rPr>
              <a:t> — no complex numbers, which is not true in general.</a:t>
            </a:r>
          </a:p>
          <a:p>
            <a:pPr algn="l">
              <a:lnSpc>
                <a:spcPct val="100000"/>
              </a:lnSpc>
            </a:pPr>
            <a:r>
              <a:rPr sz="600" b="0" i="0">
                <a:solidFill>
                  <a:srgbClr val="3C4555"/>
                </a:solidFill>
                <a:latin typeface="Calibri"/>
              </a:rPr>
              <a:t> </a:t>
            </a:r>
          </a:p>
          <a:p>
            <a:pPr algn="l">
              <a:lnSpc>
                <a:spcPct val="122000"/>
              </a:lnSpc>
              <a:spcAft>
                <a:spcPts val="900"/>
              </a:spcAft>
            </a:pPr>
            <a:r>
              <a:rPr sz="1750" b="0" i="0">
                <a:solidFill>
                  <a:srgbClr val="3C4555"/>
                </a:solidFill>
                <a:latin typeface="Calibri"/>
              </a:rPr>
              <a:t>▪  </a:t>
            </a:r>
            <a:r>
              <a:rPr sz="1750" b="1" i="0">
                <a:solidFill>
                  <a:srgbClr val="3C4555"/>
                </a:solidFill>
                <a:latin typeface="Calibri"/>
              </a:rPr>
              <a:t>And orthogonal eigenvectors</a:t>
            </a:r>
            <a:r>
              <a:rPr sz="1750" b="0" i="0">
                <a:solidFill>
                  <a:srgbClr val="3C4555"/>
                </a:solidFill>
                <a:latin typeface="Calibri"/>
              </a:rPr>
              <a:t> — </a:t>
            </a:r>
            <a:r>
              <a:rPr sz="1750" b="1" i="0">
                <a:solidFill>
                  <a:srgbClr val="3C4555"/>
                </a:solidFill>
                <a:latin typeface="Calibri"/>
              </a:rPr>
              <a:t>so P is orthonormal and P⁻¹ = Pᵀ</a:t>
            </a:r>
            <a:r>
              <a:rPr sz="1750" b="0" i="0">
                <a:solidFill>
                  <a:srgbClr val="3C4555"/>
                </a:solidFill>
                <a:latin typeface="Calibri"/>
              </a:rPr>
              <a:t> (Module 04 §2), making the diagonalisation free to invert.</a:t>
            </a:r>
          </a:p>
          <a:p>
            <a:pPr algn="l">
              <a:lnSpc>
                <a:spcPct val="100000"/>
              </a:lnSpc>
            </a:pPr>
            <a:r>
              <a:rPr sz="600" b="0" i="0">
                <a:solidFill>
                  <a:srgbClr val="3C4555"/>
                </a:solidFill>
                <a:latin typeface="Calibri"/>
              </a:rPr>
              <a:t> </a:t>
            </a:r>
          </a:p>
          <a:p>
            <a:pPr algn="l">
              <a:lnSpc>
                <a:spcPct val="122000"/>
              </a:lnSpc>
              <a:spcAft>
                <a:spcPts val="900"/>
              </a:spcAft>
            </a:pPr>
            <a:r>
              <a:rPr sz="1750" b="0" i="0">
                <a:solidFill>
                  <a:srgbClr val="3C4555"/>
                </a:solidFill>
                <a:latin typeface="Calibri"/>
              </a:rPr>
              <a:t>▪  </a:t>
            </a:r>
            <a:r>
              <a:rPr sz="1750" b="1" i="0">
                <a:solidFill>
                  <a:srgbClr val="3C4555"/>
                </a:solidFill>
                <a:latin typeface="Calibri"/>
              </a:rPr>
              <a:t>Which is the spectral theorem</a:t>
            </a:r>
            <a:r>
              <a:rPr sz="1750" b="0" i="0">
                <a:solidFill>
                  <a:srgbClr val="3C4555"/>
                </a:solidFill>
                <a:latin typeface="Calibri"/>
              </a:rPr>
              <a:t>, and </a:t>
            </a:r>
            <a:r>
              <a:rPr sz="1750" b="1" i="0">
                <a:solidFill>
                  <a:srgbClr val="3C4555"/>
                </a:solidFill>
                <a:latin typeface="Calibri"/>
              </a:rPr>
              <a:t>it is why the symmetric case is the one every application arranges to be in</a:t>
            </a:r>
            <a:r>
              <a:rPr sz="1750" b="0" i="0">
                <a:solidFill>
                  <a:srgbClr val="3C4555"/>
                </a:solidFill>
                <a:latin typeface="Calibri"/>
              </a:rPr>
              <a:t>.</a:t>
            </a:r>
          </a:p>
          <a:p>
            <a:pPr algn="l">
              <a:lnSpc>
                <a:spcPct val="100000"/>
              </a:lnSpc>
            </a:pPr>
            <a:r>
              <a:rPr sz="600" b="0" i="0">
                <a:solidFill>
                  <a:srgbClr val="3C4555"/>
                </a:solidFill>
                <a:latin typeface="Calibri"/>
              </a:rPr>
              <a:t> </a:t>
            </a:r>
          </a:p>
          <a:p>
            <a:pPr algn="l">
              <a:lnSpc>
                <a:spcPct val="122000"/>
              </a:lnSpc>
              <a:spcAft>
                <a:spcPts val="900"/>
              </a:spcAft>
            </a:pPr>
            <a:r>
              <a:rPr sz="1750" b="0" i="0">
                <a:solidFill>
                  <a:srgbClr val="3C4555"/>
                </a:solidFill>
                <a:latin typeface="Calibri"/>
              </a:rPr>
              <a:t>▪  </a:t>
            </a:r>
            <a:r>
              <a:rPr sz="1750" b="1" i="0">
                <a:solidFill>
                  <a:srgbClr val="3C4555"/>
                </a:solidFill>
                <a:latin typeface="Calibri"/>
              </a:rPr>
              <a:t>Inertia tensors are symmetric</a:t>
            </a:r>
            <a:r>
              <a:rPr sz="1750" b="0" i="0">
                <a:solidFill>
                  <a:srgbClr val="3C4555"/>
                </a:solidFill>
                <a:latin typeface="Calibri"/>
              </a:rPr>
              <a:t> — </a:t>
            </a:r>
            <a:r>
              <a:rPr sz="1750" b="1" i="0">
                <a:solidFill>
                  <a:srgbClr val="3C4555"/>
                </a:solidFill>
                <a:latin typeface="Calibri"/>
              </a:rPr>
              <a:t>so the principal axes are orthogonal</a:t>
            </a:r>
            <a:r>
              <a:rPr sz="1750" b="0" i="0">
                <a:solidFill>
                  <a:srgbClr val="3C4555"/>
                </a:solidFill>
                <a:latin typeface="Calibri"/>
              </a:rPr>
              <a:t>, which is why rigid body dynamics is tractable (CSCE 649).</a:t>
            </a:r>
          </a:p>
          <a:p>
            <a:pPr algn="l">
              <a:lnSpc>
                <a:spcPct val="100000"/>
              </a:lnSpc>
            </a:pPr>
            <a:r>
              <a:rPr sz="600" b="0" i="0">
                <a:solidFill>
                  <a:srgbClr val="3C4555"/>
                </a:solidFill>
                <a:latin typeface="Calibri"/>
              </a:rPr>
              <a:t> </a:t>
            </a:r>
          </a:p>
          <a:p>
            <a:pPr algn="l">
              <a:lnSpc>
                <a:spcPct val="122000"/>
              </a:lnSpc>
              <a:spcAft>
                <a:spcPts val="900"/>
              </a:spcAft>
            </a:pPr>
            <a:r>
              <a:rPr sz="1750" b="0" i="0">
                <a:solidFill>
                  <a:srgbClr val="3C4555"/>
                </a:solidFill>
                <a:latin typeface="Calibri"/>
              </a:rPr>
              <a:t>▪  </a:t>
            </a:r>
            <a:r>
              <a:rPr sz="1750" b="1" i="0">
                <a:solidFill>
                  <a:srgbClr val="3C4555"/>
                </a:solidFill>
                <a:latin typeface="Calibri"/>
              </a:rPr>
              <a:t>And covariance matrices are symmetric</a:t>
            </a:r>
            <a:r>
              <a:rPr sz="1750" b="0" i="0">
                <a:solidFill>
                  <a:srgbClr val="3C4555"/>
                </a:solidFill>
                <a:latin typeface="Calibri"/>
              </a:rPr>
              <a:t> — </a:t>
            </a:r>
            <a:r>
              <a:rPr sz="1750" b="1" i="0">
                <a:solidFill>
                  <a:srgbClr val="3C4555"/>
                </a:solidFill>
                <a:latin typeface="Calibri"/>
              </a:rPr>
              <a:t>so principal component analysis is an eigendecomposition</a:t>
            </a:r>
            <a:r>
              <a:rPr sz="1750" b="0" i="0">
                <a:solidFill>
                  <a:srgbClr val="3C4555"/>
                </a:solidFill>
                <a:latin typeface="Calibri"/>
              </a:rPr>
              <a:t>, which is CSCE 633 and CSCE 753.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566928" y="5989320"/>
            <a:ext cx="10789920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1050" b="1" i="1">
                <a:solidFill>
                  <a:srgbClr val="798290"/>
                </a:solidFill>
                <a:latin typeface="Calibri"/>
              </a:rPr>
              <a:t>Covariance matrices are symmetric, so PCA is an eigendecomposition</a:t>
            </a:r>
            <a:r>
              <a:rPr sz="1050" b="0" i="1">
                <a:solidFill>
                  <a:srgbClr val="798290"/>
                </a:solidFill>
                <a:latin typeface="Calibri"/>
              </a:rPr>
              <a:t> — which is the single most common use of this module outside graphics.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566928" y="6419088"/>
            <a:ext cx="822960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900" b="0" i="0">
                <a:solidFill>
                  <a:srgbClr val="798290"/>
                </a:solidFill>
                <a:latin typeface="Calibri"/>
              </a:rPr>
              <a:t>UC LINA 600 · Linear Algebra for Graphics  —  Module 10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10728655" y="6419088"/>
            <a:ext cx="91440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>
              <a:lnSpc>
                <a:spcPct val="100000"/>
              </a:lnSpc>
            </a:pPr>
            <a:r>
              <a:rPr sz="900" b="0" i="0">
                <a:solidFill>
                  <a:srgbClr val="798290"/>
                </a:solidFill>
                <a:latin typeface="Calibri"/>
              </a:rPr>
              <a:t>9</a:t>
            </a: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8F6F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66928" y="475488"/>
            <a:ext cx="11064240" cy="7772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8000"/>
              </a:lnSpc>
            </a:pPr>
            <a:r>
              <a:rPr sz="2700" b="1" i="0">
                <a:solidFill>
                  <a:srgbClr val="141924"/>
                </a:solidFill>
                <a:latin typeface="Georgia"/>
              </a:rPr>
              <a:t>And where this appears in the program</a:t>
            </a:r>
          </a:p>
        </p:txBody>
      </p:sp>
      <p:sp>
        <p:nvSpPr>
          <p:cNvPr id="4" name="Rectangle 3"/>
          <p:cNvSpPr/>
          <p:nvPr/>
        </p:nvSpPr>
        <p:spPr>
          <a:xfrm>
            <a:off x="566928" y="1316736"/>
            <a:ext cx="1371600" cy="32004"/>
          </a:xfrm>
          <a:prstGeom prst="rect">
            <a:avLst/>
          </a:prstGeom>
          <a:solidFill>
            <a:srgbClr val="B03F2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Rectangle 4"/>
          <p:cNvSpPr/>
          <p:nvPr/>
        </p:nvSpPr>
        <p:spPr>
          <a:xfrm>
            <a:off x="566928" y="1591056"/>
            <a:ext cx="11064240" cy="4261104"/>
          </a:xfrm>
          <a:prstGeom prst="rect">
            <a:avLst/>
          </a:prstGeom>
          <a:solidFill>
            <a:srgbClr val="FFFFFF"/>
          </a:solidFill>
          <a:ln w="12700">
            <a:solidFill>
              <a:srgbClr val="E2DED5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Rectangle 5"/>
          <p:cNvSpPr/>
          <p:nvPr/>
        </p:nvSpPr>
        <p:spPr>
          <a:xfrm>
            <a:off x="566928" y="1591056"/>
            <a:ext cx="64008" cy="4261104"/>
          </a:xfrm>
          <a:prstGeom prst="rect">
            <a:avLst/>
          </a:prstGeom>
          <a:solidFill>
            <a:srgbClr val="C29B3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1005840" y="1911095"/>
            <a:ext cx="10241280" cy="3200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1100" b="1" i="0">
                <a:solidFill>
                  <a:srgbClr val="C29B3F"/>
                </a:solidFill>
                <a:latin typeface="Calibri"/>
              </a:rPr>
              <a:t>CLOSING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005840" y="2368296"/>
            <a:ext cx="10058400" cy="3163824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35000"/>
              </a:lnSpc>
              <a:spcAft>
                <a:spcPts val="1200"/>
              </a:spcAft>
            </a:pPr>
            <a:r>
              <a:rPr sz="1600" b="1" i="0">
                <a:solidFill>
                  <a:srgbClr val="141924"/>
                </a:solidFill>
                <a:latin typeface="Georgia"/>
              </a:rPr>
              <a:t>CSCE 649: inertia tensors, modal analysis, and stability of integrators</a:t>
            </a:r>
            <a:r>
              <a:rPr sz="1600" b="0" i="0">
                <a:solidFill>
                  <a:srgbClr val="141924"/>
                </a:solidFill>
                <a:latin typeface="Georgia"/>
              </a:rPr>
              <a:t> — </a:t>
            </a:r>
            <a:r>
              <a:rPr sz="1600" b="1" i="0">
                <a:solidFill>
                  <a:srgbClr val="141924"/>
                </a:solidFill>
                <a:latin typeface="Georgia"/>
              </a:rPr>
              <a:t>all eigenvalue problems</a:t>
            </a:r>
            <a:r>
              <a:rPr sz="1600" b="0" i="0">
                <a:solidFill>
                  <a:srgbClr val="141924"/>
                </a:solidFill>
                <a:latin typeface="Georgia"/>
              </a:rPr>
              <a:t>, and the last one decides whether your simulation explodes.</a:t>
            </a:r>
          </a:p>
          <a:p>
            <a:pPr algn="l">
              <a:lnSpc>
                <a:spcPct val="135000"/>
              </a:lnSpc>
              <a:spcAft>
                <a:spcPts val="1200"/>
              </a:spcAft>
            </a:pPr>
            <a:r>
              <a:rPr sz="1600" b="1" i="0">
                <a:solidFill>
                  <a:srgbClr val="141924"/>
                </a:solidFill>
                <a:latin typeface="Georgia"/>
              </a:rPr>
              <a:t>CSCE 753 and CSCE 633: principal components, spectral clustering</a:t>
            </a:r>
            <a:r>
              <a:rPr sz="1600" b="0" i="0">
                <a:solidFill>
                  <a:srgbClr val="141924"/>
                </a:solidFill>
                <a:latin typeface="Georgia"/>
              </a:rPr>
              <a:t> — </a:t>
            </a:r>
            <a:r>
              <a:rPr sz="1600" b="1" i="0">
                <a:solidFill>
                  <a:srgbClr val="141924"/>
                </a:solidFill>
                <a:latin typeface="Georgia"/>
              </a:rPr>
              <a:t>the covariance matrix's eigenvectors are the directions of greatest variance.</a:t>
            </a:r>
          </a:p>
          <a:p>
            <a:pPr algn="l">
              <a:lnSpc>
                <a:spcPct val="135000"/>
              </a:lnSpc>
              <a:spcAft>
                <a:spcPts val="1200"/>
              </a:spcAft>
            </a:pPr>
            <a:r>
              <a:rPr sz="1600" b="1" i="0">
                <a:solidFill>
                  <a:srgbClr val="141924"/>
                </a:solidFill>
                <a:latin typeface="Georgia"/>
              </a:rPr>
              <a:t>CSCE 645: mesh smoothing and parameterisation use the Laplacian's spectrum</a:t>
            </a:r>
            <a:r>
              <a:rPr sz="1600" b="0" i="0">
                <a:solidFill>
                  <a:srgbClr val="141924"/>
                </a:solidFill>
                <a:latin typeface="Georgia"/>
              </a:rPr>
              <a:t>, which is the same machinery on a graph.</a:t>
            </a:r>
          </a:p>
          <a:p>
            <a:pPr algn="l">
              <a:lnSpc>
                <a:spcPct val="135000"/>
              </a:lnSpc>
              <a:spcAft>
                <a:spcPts val="1200"/>
              </a:spcAft>
            </a:pPr>
            <a:r>
              <a:rPr sz="1600" b="1" i="0">
                <a:solidFill>
                  <a:srgbClr val="141924"/>
                </a:solidFill>
                <a:latin typeface="Georgia"/>
              </a:rPr>
              <a:t>And Module 11's quaternions are the axis-angle representation</a:t>
            </a:r>
            <a:r>
              <a:rPr sz="1600" b="0" i="0">
                <a:solidFill>
                  <a:srgbClr val="141924"/>
                </a:solidFill>
                <a:latin typeface="Georgia"/>
              </a:rPr>
              <a:t> — </a:t>
            </a:r>
            <a:r>
              <a:rPr sz="1600" b="1" i="0">
                <a:solidFill>
                  <a:srgbClr val="141924"/>
                </a:solidFill>
                <a:latin typeface="Georgia"/>
              </a:rPr>
              <a:t>where the axis is the eigenvector with eigenvalue 1</a:t>
            </a:r>
            <a:r>
              <a:rPr sz="1600" b="0" i="0">
                <a:solidFill>
                  <a:srgbClr val="141924"/>
                </a:solidFill>
                <a:latin typeface="Georgia"/>
              </a:rPr>
              <a:t> (Part 1).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566928" y="6419088"/>
            <a:ext cx="822960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900" b="0" i="0">
                <a:solidFill>
                  <a:srgbClr val="798290"/>
                </a:solidFill>
                <a:latin typeface="Calibri"/>
              </a:rPr>
              <a:t>UC LINA 600 · Linear Algebra for Graphics  —  Module 10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10728655" y="6419088"/>
            <a:ext cx="91440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>
              <a:lnSpc>
                <a:spcPct val="100000"/>
              </a:lnSpc>
            </a:pPr>
            <a:r>
              <a:rPr sz="900" b="0" i="0">
                <a:solidFill>
                  <a:srgbClr val="798290"/>
                </a:solidFill>
                <a:latin typeface="Calibri"/>
              </a:rPr>
              <a:t>10</a:t>
            </a:r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14192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146304"/>
          </a:xfrm>
          <a:prstGeom prst="rect">
            <a:avLst/>
          </a:prstGeom>
          <a:solidFill>
            <a:srgbClr val="B03F2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822960" y="685800"/>
            <a:ext cx="10515600" cy="6858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2900" b="1" i="0">
                <a:solidFill>
                  <a:srgbClr val="FFFFFF"/>
                </a:solidFill>
                <a:latin typeface="Georgia"/>
              </a:rPr>
              <a:t>What to carry forward</a:t>
            </a:r>
          </a:p>
        </p:txBody>
      </p:sp>
      <p:sp>
        <p:nvSpPr>
          <p:cNvPr id="5" name="Rectangle 4"/>
          <p:cNvSpPr/>
          <p:nvPr/>
        </p:nvSpPr>
        <p:spPr>
          <a:xfrm>
            <a:off x="822960" y="1481328"/>
            <a:ext cx="1371600" cy="32004"/>
          </a:xfrm>
          <a:prstGeom prst="rect">
            <a:avLst/>
          </a:prstGeom>
          <a:solidFill>
            <a:srgbClr val="C29B3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868680" y="1828800"/>
            <a:ext cx="10424160" cy="42062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25000"/>
              </a:lnSpc>
              <a:spcAft>
                <a:spcPts val="1300"/>
              </a:spcAft>
            </a:pPr>
            <a:r>
              <a:rPr sz="1700" b="0" i="0">
                <a:solidFill>
                  <a:srgbClr val="D6DCE6"/>
                </a:solidFill>
                <a:latin typeface="Calibri"/>
              </a:rPr>
              <a:t>1.  An eigenvector is a direction the transform only stretches; the scalar is the eigenvalue.</a:t>
            </a:r>
          </a:p>
          <a:p>
            <a:pPr algn="l">
              <a:lnSpc>
                <a:spcPct val="125000"/>
              </a:lnSpc>
              <a:spcAft>
                <a:spcPts val="1300"/>
              </a:spcAft>
            </a:pPr>
            <a:r>
              <a:rPr sz="1700" b="0" i="0">
                <a:solidFill>
                  <a:srgbClr val="D6DCE6"/>
                </a:solidFill>
                <a:latin typeface="Calibri"/>
              </a:rPr>
              <a:t>2.  A 3D rotation has exactly one real eigenvector: its axis, with eigenvalue 1.</a:t>
            </a:r>
          </a:p>
          <a:p>
            <a:pPr algn="l">
              <a:lnSpc>
                <a:spcPct val="125000"/>
              </a:lnSpc>
              <a:spcAft>
                <a:spcPts val="1300"/>
              </a:spcAft>
            </a:pPr>
            <a:r>
              <a:rPr sz="1700" b="0" i="0">
                <a:solidFill>
                  <a:srgbClr val="D6DCE6"/>
                </a:solidFill>
                <a:latin typeface="Calibri"/>
              </a:rPr>
              <a:t>3.  The characteristic polynomial is for understanding and for 2×2; real implementations iterate.</a:t>
            </a:r>
          </a:p>
          <a:p>
            <a:pPr algn="l">
              <a:lnSpc>
                <a:spcPct val="125000"/>
              </a:lnSpc>
              <a:spcAft>
                <a:spcPts val="1300"/>
              </a:spcAft>
            </a:pPr>
            <a:r>
              <a:rPr sz="1700" b="0" i="0">
                <a:solidFill>
                  <a:srgbClr val="D6DCE6"/>
                </a:solidFill>
                <a:latin typeface="Calibri"/>
              </a:rPr>
              <a:t>4.  In its eigenvector basis a transform is diagonal, which turns repeated application into exponentiation of numbers.</a:t>
            </a:r>
          </a:p>
          <a:p>
            <a:pPr algn="l">
              <a:lnSpc>
                <a:spcPct val="125000"/>
              </a:lnSpc>
              <a:spcAft>
                <a:spcPts val="1300"/>
              </a:spcAft>
            </a:pPr>
            <a:r>
              <a:rPr sz="1700" b="0" i="0">
                <a:solidFill>
                  <a:srgbClr val="D6DCE6"/>
                </a:solidFill>
                <a:latin typeface="Calibri"/>
              </a:rPr>
              <a:t>5.  'Does this simulation blow up' is 'is the largest eigenvalue above 1'.</a:t>
            </a:r>
          </a:p>
          <a:p>
            <a:pPr algn="l">
              <a:lnSpc>
                <a:spcPct val="125000"/>
              </a:lnSpc>
              <a:spcAft>
                <a:spcPts val="1300"/>
              </a:spcAft>
            </a:pPr>
            <a:r>
              <a:rPr sz="1700" b="0" i="0">
                <a:solidFill>
                  <a:srgbClr val="D6DCE6"/>
                </a:solidFill>
                <a:latin typeface="Calibri"/>
              </a:rPr>
              <a:t>6.  Symmetric matrices have real eigenvalues and orthogonal eigenvectors, which is why applications arrange to be symmetric.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566928" y="6419088"/>
            <a:ext cx="822960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900" b="0" i="0">
                <a:solidFill>
                  <a:srgbClr val="6E788A"/>
                </a:solidFill>
                <a:latin typeface="Calibri"/>
              </a:rPr>
              <a:t>UC LINA 600 · Linear Algebra for Graphics  —  Module 10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0728655" y="6419088"/>
            <a:ext cx="91440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>
              <a:lnSpc>
                <a:spcPct val="100000"/>
              </a:lnSpc>
            </a:pPr>
            <a:r>
              <a:rPr sz="900" b="0" i="0">
                <a:solidFill>
                  <a:srgbClr val="6E788A"/>
                </a:solidFill>
                <a:latin typeface="Calibri"/>
              </a:rPr>
              <a:t>11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