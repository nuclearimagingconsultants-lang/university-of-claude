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row here is a bug that ships, because each one produces a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Project 2 requires this suite and one bug found by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UC LINA 600 — Linear Algebra for 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Claiming a Transform Is Correct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Verification, rather than looking at the picture.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UC LINA 600 · Module 13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visual inspection is insufficient.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Build a verification suite for transforms.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the invariants worth checking.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Assess whether you are ready for Semester 1.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the program's closing rule in this subject.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Why looking is not enough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Five ways a wrong matrix looks right.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FAILURES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Wrong transforms that produce plausible images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420624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The error</a:t>
            </a:r>
          </a:p>
        </p:txBody>
      </p:sp>
      <p:sp>
        <p:nvSpPr>
          <p:cNvPr id="8" name="Rectangle 7"/>
          <p:cNvSpPr/>
          <p:nvPr/>
        </p:nvSpPr>
        <p:spPr>
          <a:xfrm>
            <a:off x="4773168" y="1901952"/>
            <a:ext cx="585216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82896" y="1956816"/>
            <a:ext cx="5632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What you see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77440"/>
            <a:ext cx="42062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2414016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Transposed rotation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73168" y="2377440"/>
            <a:ext cx="5852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82896" y="2414016"/>
            <a:ext cx="5632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Everything rotates the wrong way — looks deliberate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852928"/>
            <a:ext cx="42062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889504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Wrong handedness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73168" y="2852928"/>
            <a:ext cx="58521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82896" y="2889504"/>
            <a:ext cx="5632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 mirrored scene, which reads as an art choice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328416"/>
            <a:ext cx="42062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3364992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Normals not inverse-transposed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73168" y="3328416"/>
            <a:ext cx="5852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82896" y="3364992"/>
            <a:ext cx="5632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Slightly wrong shading under non-uniform scale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803904"/>
            <a:ext cx="42062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3840480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Unnormalised normals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73168" y="3803904"/>
            <a:ext cx="58521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82896" y="3840480"/>
            <a:ext cx="5632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Too bright or too dark; reads as a lighting problem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279392"/>
            <a:ext cx="42062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4315968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Composition order swapped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73168" y="4279392"/>
            <a:ext cx="5852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82896" y="4315968"/>
            <a:ext cx="5632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Correct for symmetric test scenes only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Because a plausible image is the weakest possible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ARGUMENT FOR A TEST SUITE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pipeline produces a picture from almost any matrices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'I see something' rules out only crashes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crashes were never the risk.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you are the worst possible judge of your own scene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you know what it should look like, so you see what you expect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(CSCE 671 §01 §2, and UC MATH 600 §13 §2).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fix is numbers: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point whose screen position you computed by hand, checked automatically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cannot be talked out of a disagreement.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takes an hour to set up and saves days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is the one engineering habit this course is trying to install.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verification suite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What to check, concretely.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checks, in order of how often they catch something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24" b="0" i="0">
                <a:solidFill>
                  <a:srgbClr val="E4E8EF"/>
                </a:solidFill>
                <a:latin typeface="Consolas"/>
              </a:rPr>
              <a:t>  1  KNOWN POINTS</a:t>
            </a:r>
          </a:p>
          <a:p>
            <a:pPr algn="l">
              <a:lnSpc>
                <a:spcPct val="105000"/>
              </a:lnSpc>
            </a:pPr>
            <a:r>
              <a:rPr sz="824" b="0" i="0">
                <a:solidFill>
                  <a:srgbClr val="E4E8EF"/>
                </a:solidFill>
                <a:latin typeface="Consolas"/>
              </a:rPr>
              <a:t>         a unit cube at the origin, a camera on an</a:t>
            </a:r>
          </a:p>
          <a:p>
            <a:pPr algn="l">
              <a:lnSpc>
                <a:spcPct val="105000"/>
              </a:lnSpc>
            </a:pPr>
            <a:r>
              <a:rPr sz="824" b="0" i="0">
                <a:solidFill>
                  <a:srgbClr val="E4E8EF"/>
                </a:solidFill>
                <a:latin typeface="Consolas"/>
              </a:rPr>
              <a:t>         axis, and screen positions you computed on</a:t>
            </a:r>
          </a:p>
          <a:p>
            <a:pPr algn="l">
              <a:lnSpc>
                <a:spcPct val="105000"/>
              </a:lnSpc>
            </a:pPr>
            <a:r>
              <a:rPr sz="824" b="0" i="0">
                <a:solidFill>
                  <a:srgbClr val="E4E8EF"/>
                </a:solidFill>
                <a:latin typeface="Consolas"/>
              </a:rPr>
              <a:t>         paper. Assert them.</a:t>
            </a:r>
          </a:p>
          <a:p>
            <a:pPr algn="l">
              <a:lnSpc>
                <a:spcPct val="105000"/>
              </a:lnSpc>
            </a:pPr>
            <a:r>
              <a:rPr sz="82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24" b="0" i="0">
                <a:solidFill>
                  <a:srgbClr val="E4E8EF"/>
                </a:solidFill>
                <a:latin typeface="Consolas"/>
              </a:rPr>
              <a:t>  2  ROUND TRIPS</a:t>
            </a:r>
          </a:p>
          <a:p>
            <a:pPr algn="l">
              <a:lnSpc>
                <a:spcPct val="105000"/>
              </a:lnSpc>
            </a:pPr>
            <a:r>
              <a:rPr sz="824" b="0" i="0">
                <a:solidFill>
                  <a:srgbClr val="E4E8EF"/>
                </a:solidFill>
                <a:latin typeface="Consolas"/>
              </a:rPr>
              <a:t>         M * M^-1 == I to tolerance.</a:t>
            </a:r>
          </a:p>
          <a:p>
            <a:pPr algn="l">
              <a:lnSpc>
                <a:spcPct val="105000"/>
              </a:lnSpc>
            </a:pPr>
            <a:r>
              <a:rPr sz="824" b="0" i="0">
                <a:solidFill>
                  <a:srgbClr val="E4E8EF"/>
                </a:solidFill>
                <a:latin typeface="Consolas"/>
              </a:rPr>
              <a:t>         world_from_camera * camera_from_world == I.</a:t>
            </a:r>
          </a:p>
          <a:p>
            <a:pPr algn="l">
              <a:lnSpc>
                <a:spcPct val="105000"/>
              </a:lnSpc>
            </a:pPr>
            <a:r>
              <a:rPr sz="82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24" b="0" i="0">
                <a:solidFill>
                  <a:srgbClr val="E4E8EF"/>
                </a:solidFill>
                <a:latin typeface="Consolas"/>
              </a:rPr>
              <a:t>  3  INVARIANTS OF ROTATIONS</a:t>
            </a:r>
          </a:p>
          <a:p>
            <a:pPr algn="l">
              <a:lnSpc>
                <a:spcPct val="105000"/>
              </a:lnSpc>
            </a:pPr>
            <a:r>
              <a:rPr sz="824" b="0" i="0">
                <a:solidFill>
                  <a:srgbClr val="E4E8EF"/>
                </a:solidFill>
                <a:latin typeface="Consolas"/>
              </a:rPr>
              <a:t>         orthogonal: R * R^T == I</a:t>
            </a:r>
          </a:p>
          <a:p>
            <a:pPr algn="l">
              <a:lnSpc>
                <a:spcPct val="105000"/>
              </a:lnSpc>
            </a:pPr>
            <a:r>
              <a:rPr sz="824" b="0" i="0">
                <a:solidFill>
                  <a:srgbClr val="E4E8EF"/>
                </a:solidFill>
                <a:latin typeface="Consolas"/>
              </a:rPr>
              <a:t>         determinant == +1  (Module 09 section 3)</a:t>
            </a:r>
          </a:p>
          <a:p>
            <a:pPr algn="l">
              <a:lnSpc>
                <a:spcPct val="105000"/>
              </a:lnSpc>
            </a:pPr>
            <a:r>
              <a:rPr sz="824" b="0" i="0">
                <a:solidFill>
                  <a:srgbClr val="E4E8EF"/>
                </a:solidFill>
                <a:latin typeface="Consolas"/>
              </a:rPr>
              <a:t>         lengths preserved: |Rv| == |v|</a:t>
            </a:r>
          </a:p>
          <a:p>
            <a:pPr algn="l">
              <a:lnSpc>
                <a:spcPct val="105000"/>
              </a:lnSpc>
            </a:pPr>
            <a:r>
              <a:rPr sz="824" b="0" i="0">
                <a:solidFill>
                  <a:srgbClr val="E4E8EF"/>
                </a:solidFill>
                <a:latin typeface="Consolas"/>
              </a:rPr>
              <a:t>         -- three cheap checks that catch transposes</a:t>
            </a:r>
          </a:p>
          <a:p>
            <a:pPr algn="l">
              <a:lnSpc>
                <a:spcPct val="105000"/>
              </a:lnSpc>
            </a:pPr>
            <a:r>
              <a:rPr sz="824" b="0" i="0">
                <a:solidFill>
                  <a:srgbClr val="E4E8EF"/>
                </a:solidFill>
                <a:latin typeface="Consolas"/>
              </a:rPr>
              <a:t>            and handedness errors</a:t>
            </a:r>
          </a:p>
          <a:p>
            <a:pPr algn="l">
              <a:lnSpc>
                <a:spcPct val="105000"/>
              </a:lnSpc>
            </a:pPr>
            <a:r>
              <a:rPr sz="82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24" b="0" i="0">
                <a:solidFill>
                  <a:srgbClr val="E4E8EF"/>
                </a:solidFill>
                <a:latin typeface="Consolas"/>
              </a:rPr>
              <a:t>  4  DEGENERACY GUARDS</a:t>
            </a:r>
          </a:p>
          <a:p>
            <a:pPr algn="l">
              <a:lnSpc>
                <a:spcPct val="105000"/>
              </a:lnSpc>
            </a:pPr>
            <a:r>
              <a:rPr sz="824" b="0" i="0">
                <a:solidFill>
                  <a:srgbClr val="E4E8EF"/>
                </a:solidFill>
                <a:latin typeface="Consolas"/>
              </a:rPr>
              <a:t>         |det| above tolerance before inverting</a:t>
            </a:r>
          </a:p>
          <a:p>
            <a:pPr algn="l">
              <a:lnSpc>
                <a:spcPct val="105000"/>
              </a:lnSpc>
            </a:pPr>
            <a:r>
              <a:rPr sz="824" b="0" i="0">
                <a:solidFill>
                  <a:srgbClr val="E4E8EF"/>
                </a:solidFill>
                <a:latin typeface="Consolas"/>
              </a:rPr>
              <a:t>         |n| above tolerance before normalising</a:t>
            </a:r>
          </a:p>
          <a:p>
            <a:pPr algn="l">
              <a:lnSpc>
                <a:spcPct val="105000"/>
              </a:lnSpc>
            </a:pPr>
            <a:r>
              <a:rPr sz="82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24" b="0" i="0">
                <a:solidFill>
                  <a:srgbClr val="E4E8EF"/>
                </a:solidFill>
                <a:latin typeface="Consolas"/>
              </a:rPr>
              <a:t>  5  AND A VISUAL CHECK LAST</a:t>
            </a:r>
          </a:p>
          <a:p>
            <a:pPr algn="l">
              <a:lnSpc>
                <a:spcPct val="105000"/>
              </a:lnSpc>
            </a:pPr>
            <a:r>
              <a:rPr sz="824" b="0" i="0">
                <a:solidFill>
                  <a:srgbClr val="E4E8EF"/>
                </a:solidFill>
                <a:latin typeface="Consolas"/>
              </a:rPr>
              <a:t>         normals drawn as segments, axes drawn in</a:t>
            </a:r>
          </a:p>
          <a:p>
            <a:pPr algn="l">
              <a:lnSpc>
                <a:spcPct val="105000"/>
              </a:lnSpc>
            </a:pPr>
            <a:r>
              <a:rPr sz="824" b="0" i="0">
                <a:solidFill>
                  <a:srgbClr val="E4E8EF"/>
                </a:solidFill>
                <a:latin typeface="Consolas"/>
              </a:rPr>
              <a:t>         colour -- useful, and not evidence.</a:t>
            </a:r>
          </a:p>
          <a:p>
            <a:pPr algn="l">
              <a:lnSpc>
                <a:spcPct val="105000"/>
              </a:lnSpc>
            </a:pPr>
            <a:r>
              <a:rPr sz="82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24" b="0" i="0">
                <a:solidFill>
                  <a:srgbClr val="E4E8EF"/>
                </a:solidFill>
                <a:latin typeface="Consolas"/>
              </a:rPr>
              <a:t>  THE FIRST THREE WOULD CATCH EVERY ROW OF THE</a:t>
            </a:r>
          </a:p>
          <a:p>
            <a:pPr algn="l">
              <a:lnSpc>
                <a:spcPct val="105000"/>
              </a:lnSpc>
            </a:pPr>
            <a:r>
              <a:rPr sz="824" b="0" i="0">
                <a:solidFill>
                  <a:srgbClr val="E4E8EF"/>
                </a:solidFill>
                <a:latin typeface="Consolas"/>
              </a:rPr>
              <a:t>  TABLE IN SECTION 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The first three checks would catch every failure in §1's table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which is the argument for writing them, and they are about forty lines total.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Are you ready?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five questions, taken honestly.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READINESS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Take these before Semester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Can you derive a rotation matrix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by drawing where the basis vectors go? (Module 03 §1.)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Can you derive the projection formula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from the perpendicularity condition? (Module 05 §2.)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Can you say why the view matrix is an inverse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, and why it is a transpose? (Module 04 §3.)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Can you explain what w is for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, both of its jobs? (Module 07.)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And can you derive the projection matrix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from similar triangles? (Module 08 §2.)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Five questions.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Answer all five and start Semester 1; otherwise the ones you missed name the modules to revisit.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the program's, in this subject's terms.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State what you verified, state what you assumed, and never claim more than you established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In this subject it means: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name the handedness convention, name the spaces each matrix maps between, and say what you tested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three things.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'The transform is correct' means 'it passes these assertions under this convention'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a checkable claim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unlike 'it looks right'.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convention is the one most often left unstated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why every handedness bug is somebody's unstated assumption meeting somebody else's unstated assumption.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So: convention, spaces, tests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that is the prerequisite done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with the same rule the other thirty-six courses close 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Every wrong transform in §1's table produces a plausible picture, which is why they ship.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A symmetric test scene hides composition errors, so make the test scene asymmetric and off-axis.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You are the worst judge of your own scene, because you see what you expect.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Three cheap checks — orthogonality, determinant +1, length preservation — catch transposes and handedness errors.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The first three checks would catch every failure in the table, and are about forty lines total.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'The transform is correct' means 'it passes these assertions under this convention'.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