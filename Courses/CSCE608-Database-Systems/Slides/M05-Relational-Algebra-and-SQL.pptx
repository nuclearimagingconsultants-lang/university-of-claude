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outcomes before the content. Every slide that follows exists to serve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join is derived rather than primitive is the key fact for Module 08.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the practical rule: WHERE needs TRUE, and UNKNOWN is not TRUE.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 BY inconsistency is the clearest illustration that NULL semantics were not designed as a whole.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Nearly every 'why can't I use my alias here' question is answered by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868680"/>
            <a:ext cx="96012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UNIVERSITY OF CLAUDE</a:t>
            </a:r>
          </a:p>
        </p:txBody>
      </p:sp>
      <p:sp>
        <p:nvSpPr>
          <p:cNvPr id="5" name="TextBox 4"/>
          <p:cNvSpPr txBox="1"/>
          <p:nvPr/>
        </p:nvSpPr>
        <p:spPr>
          <a:xfrm>
            <a:off x="1005840" y="1417320"/>
            <a:ext cx="9601200" cy="457200"/>
          </a:xfrm>
          <a:prstGeom prst="rect">
            <a:avLst/>
          </a:prstGeom>
          <a:noFill/>
        </p:spPr>
        <p:txBody>
          <a:bodyPr wrap="square" anchor="t" lIns="0" rIns="0" tIns="0" bIns="0">
            <a:spAutoFit/>
          </a:bodyPr>
          <a:lstStyle/>
          <a:p>
            <a:pPr algn="l">
              <a:lnSpc>
                <a:spcPct val="100000"/>
              </a:lnSpc>
            </a:pPr>
            <a:r>
              <a:rPr sz="1700" b="0" i="0">
                <a:solidFill>
                  <a:srgbClr val="A9B4C4"/>
                </a:solidFill>
                <a:latin typeface="Calibri"/>
              </a:rPr>
              <a:t>CSCE 608 — Database Systems</a:t>
            </a:r>
          </a:p>
        </p:txBody>
      </p:sp>
      <p:sp>
        <p:nvSpPr>
          <p:cNvPr id="6" name="TextBox 5"/>
          <p:cNvSpPr txBox="1"/>
          <p:nvPr/>
        </p:nvSpPr>
        <p:spPr>
          <a:xfrm>
            <a:off x="1005840" y="2148840"/>
            <a:ext cx="10058400" cy="411480"/>
          </a:xfrm>
          <a:prstGeom prst="rect">
            <a:avLst/>
          </a:prstGeom>
          <a:noFill/>
        </p:spPr>
        <p:txBody>
          <a:bodyPr wrap="square" anchor="t" lIns="0" rIns="0" tIns="0" bIns="0">
            <a:spAutoFit/>
          </a:bodyPr>
          <a:lstStyle/>
          <a:p>
            <a:pPr algn="l">
              <a:lnSpc>
                <a:spcPct val="100000"/>
              </a:lnSpc>
            </a:pPr>
            <a:r>
              <a:rPr sz="1300" b="1" i="0">
                <a:solidFill>
                  <a:srgbClr val="1F6B68"/>
                </a:solidFill>
                <a:latin typeface="Calibri"/>
              </a:rPr>
              <a:t>MODULE 05</a:t>
            </a:r>
          </a:p>
        </p:txBody>
      </p:sp>
      <p:sp>
        <p:nvSpPr>
          <p:cNvPr id="7" name="TextBox 6"/>
          <p:cNvSpPr txBox="1"/>
          <p:nvPr/>
        </p:nvSpPr>
        <p:spPr>
          <a:xfrm>
            <a:off x="1005840" y="2606040"/>
            <a:ext cx="10241280" cy="1737360"/>
          </a:xfrm>
          <a:prstGeom prst="rect">
            <a:avLst/>
          </a:prstGeom>
          <a:noFill/>
        </p:spPr>
        <p:txBody>
          <a:bodyPr wrap="square" anchor="t" lIns="0" rIns="0" tIns="0" bIns="0">
            <a:spAutoFit/>
          </a:bodyPr>
          <a:lstStyle/>
          <a:p>
            <a:pPr algn="l">
              <a:lnSpc>
                <a:spcPct val="105000"/>
              </a:lnSpc>
            </a:pPr>
            <a:r>
              <a:rPr sz="4400" b="1" i="0">
                <a:solidFill>
                  <a:srgbClr val="FFFFFF"/>
                </a:solidFill>
                <a:latin typeface="Georgia"/>
              </a:rPr>
              <a:t>Relational Algebra and SQL</a:t>
            </a:r>
          </a:p>
        </p:txBody>
      </p:sp>
      <p:sp>
        <p:nvSpPr>
          <p:cNvPr id="8" name="Rectangle 7"/>
          <p:cNvSpPr/>
          <p:nvPr/>
        </p:nvSpPr>
        <p:spPr>
          <a:xfrm>
            <a:off x="1005840" y="4526280"/>
            <a:ext cx="2377440" cy="41148"/>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9509760" cy="1005840"/>
          </a:xfrm>
          <a:prstGeom prst="rect">
            <a:avLst/>
          </a:prstGeom>
          <a:noFill/>
        </p:spPr>
        <p:txBody>
          <a:bodyPr wrap="square" anchor="t" lIns="0" rIns="0" tIns="0" bIns="0">
            <a:spAutoFit/>
          </a:bodyPr>
          <a:lstStyle/>
          <a:p>
            <a:pPr algn="l">
              <a:lnSpc>
                <a:spcPct val="125000"/>
              </a:lnSpc>
            </a:pPr>
            <a:r>
              <a:rPr sz="1600" b="0" i="1">
                <a:solidFill>
                  <a:srgbClr val="9AA5B5"/>
                </a:solidFill>
                <a:latin typeface="Calibri"/>
              </a:rPr>
              <a:t>What a query means, before anyone decides how to run it.</a:t>
            </a:r>
          </a:p>
        </p:txBody>
      </p:sp>
      <p:sp>
        <p:nvSpPr>
          <p:cNvPr id="10" name="TextBox 9"/>
          <p:cNvSpPr txBox="1"/>
          <p:nvPr/>
        </p:nvSpPr>
        <p:spPr>
          <a:xfrm>
            <a:off x="1005840" y="6080760"/>
            <a:ext cx="10058400" cy="320040"/>
          </a:xfrm>
          <a:prstGeom prst="rect">
            <a:avLst/>
          </a:prstGeom>
          <a:noFill/>
        </p:spPr>
        <p:txBody>
          <a:bodyPr wrap="square" anchor="t" lIns="0" rIns="0" tIns="0" bIns="0">
            <a:spAutoFit/>
          </a:bodyPr>
          <a:lstStyle/>
          <a:p>
            <a:pPr algn="l">
              <a:lnSpc>
                <a:spcPct val="100000"/>
              </a:lnSpc>
            </a:pPr>
            <a:r>
              <a:rPr sz="1000" b="0" i="0">
                <a:solidFill>
                  <a:srgbClr val="5E697A"/>
                </a:solidFill>
                <a:latin typeface="Calibri"/>
              </a:rPr>
              <a:t>CSCE 608 · Module 05 of 13 · original material, share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MODULE OUTCOMES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What you will be able to do</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Express queries in relational algebra.</a:t>
            </a:r>
          </a:p>
          <a:p>
            <a:pPr algn="l">
              <a:lnSpc>
                <a:spcPct val="122000"/>
              </a:lnSpc>
              <a:spcAft>
                <a:spcPts val="900"/>
              </a:spcAft>
            </a:pPr>
            <a:r>
              <a:rPr sz="1800" b="0" i="0">
                <a:solidFill>
                  <a:srgbClr val="3C4555"/>
                </a:solidFill>
                <a:latin typeface="Calibri"/>
              </a:rPr>
              <a:t>▪  Explain the gap between SQL and the algebra.</a:t>
            </a:r>
          </a:p>
          <a:p>
            <a:pPr algn="l">
              <a:lnSpc>
                <a:spcPct val="122000"/>
              </a:lnSpc>
              <a:spcAft>
                <a:spcPts val="900"/>
              </a:spcAft>
            </a:pPr>
            <a:r>
              <a:rPr sz="1800" b="0" i="0">
                <a:solidFill>
                  <a:srgbClr val="3C4555"/>
                </a:solidFill>
                <a:latin typeface="Calibri"/>
              </a:rPr>
              <a:t>▪  Explain three-valued logic and the problems NULL causes.</a:t>
            </a:r>
          </a:p>
          <a:p>
            <a:pPr algn="l">
              <a:lnSpc>
                <a:spcPct val="122000"/>
              </a:lnSpc>
              <a:spcAft>
                <a:spcPts val="900"/>
              </a:spcAft>
            </a:pPr>
            <a:r>
              <a:rPr sz="1800" b="0" i="0">
                <a:solidFill>
                  <a:srgbClr val="3C4555"/>
                </a:solidFill>
                <a:latin typeface="Calibri"/>
              </a:rPr>
              <a:t>▪  Trace SQL's logical evaluation order.</a:t>
            </a:r>
          </a:p>
          <a:p>
            <a:pPr algn="l">
              <a:lnSpc>
                <a:spcPct val="122000"/>
              </a:lnSpc>
              <a:spcAft>
                <a:spcPts val="900"/>
              </a:spcAft>
            </a:pPr>
            <a:r>
              <a:rPr sz="1800" b="0" i="0">
                <a:solidFill>
                  <a:srgbClr val="3C4555"/>
                </a:solidFill>
                <a:latin typeface="Calibri"/>
              </a:rPr>
              <a:t>▪  Explain why declarative querying requires an optimiser.</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1</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The algebra</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Six operators, and everything else is sugar.</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OPERATORS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Relational algebra</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22860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206654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Operator</a:t>
            </a:r>
          </a:p>
        </p:txBody>
      </p:sp>
      <p:sp>
        <p:nvSpPr>
          <p:cNvPr id="8" name="Rectangle 7"/>
          <p:cNvSpPr/>
          <p:nvPr/>
        </p:nvSpPr>
        <p:spPr>
          <a:xfrm>
            <a:off x="2852928" y="1901952"/>
            <a:ext cx="146304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62656" y="1956816"/>
            <a:ext cx="124358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Symbol</a:t>
            </a:r>
          </a:p>
        </p:txBody>
      </p:sp>
      <p:sp>
        <p:nvSpPr>
          <p:cNvPr id="10" name="Rectangle 9"/>
          <p:cNvSpPr/>
          <p:nvPr/>
        </p:nvSpPr>
        <p:spPr>
          <a:xfrm>
            <a:off x="4315968" y="1901952"/>
            <a:ext cx="36576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956816"/>
            <a:ext cx="343814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Does</a:t>
            </a:r>
          </a:p>
        </p:txBody>
      </p:sp>
      <p:sp>
        <p:nvSpPr>
          <p:cNvPr id="12" name="Rectangle 11"/>
          <p:cNvSpPr/>
          <p:nvPr/>
        </p:nvSpPr>
        <p:spPr>
          <a:xfrm>
            <a:off x="7973568" y="1901952"/>
            <a:ext cx="36576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83296" y="1956816"/>
            <a:ext cx="343814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SQL</a:t>
            </a:r>
          </a:p>
        </p:txBody>
      </p:sp>
      <p:sp>
        <p:nvSpPr>
          <p:cNvPr id="14" name="Rectangle 13"/>
          <p:cNvSpPr/>
          <p:nvPr/>
        </p:nvSpPr>
        <p:spPr>
          <a:xfrm>
            <a:off x="566928" y="2377440"/>
            <a:ext cx="22860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414016"/>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Select</a:t>
            </a:r>
          </a:p>
        </p:txBody>
      </p:sp>
      <p:sp>
        <p:nvSpPr>
          <p:cNvPr id="16" name="Rectangle 15"/>
          <p:cNvSpPr/>
          <p:nvPr/>
        </p:nvSpPr>
        <p:spPr>
          <a:xfrm>
            <a:off x="2852928" y="2377440"/>
            <a:ext cx="14630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62656" y="2414016"/>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σ</a:t>
            </a:r>
          </a:p>
        </p:txBody>
      </p:sp>
      <p:sp>
        <p:nvSpPr>
          <p:cNvPr id="18" name="Rectangle 17"/>
          <p:cNvSpPr/>
          <p:nvPr/>
        </p:nvSpPr>
        <p:spPr>
          <a:xfrm>
            <a:off x="4315968" y="2377440"/>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6" y="2414016"/>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Keep rows matching a predicate</a:t>
            </a:r>
          </a:p>
        </p:txBody>
      </p:sp>
      <p:sp>
        <p:nvSpPr>
          <p:cNvPr id="20" name="Rectangle 19"/>
          <p:cNvSpPr/>
          <p:nvPr/>
        </p:nvSpPr>
        <p:spPr>
          <a:xfrm>
            <a:off x="7973568" y="2377440"/>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2414016"/>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WHERE</a:t>
            </a:r>
          </a:p>
        </p:txBody>
      </p:sp>
      <p:sp>
        <p:nvSpPr>
          <p:cNvPr id="22" name="Rectangle 21"/>
          <p:cNvSpPr/>
          <p:nvPr/>
        </p:nvSpPr>
        <p:spPr>
          <a:xfrm>
            <a:off x="566928" y="2852928"/>
            <a:ext cx="22860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2889504"/>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Project</a:t>
            </a:r>
          </a:p>
        </p:txBody>
      </p:sp>
      <p:sp>
        <p:nvSpPr>
          <p:cNvPr id="24" name="Rectangle 23"/>
          <p:cNvSpPr/>
          <p:nvPr/>
        </p:nvSpPr>
        <p:spPr>
          <a:xfrm>
            <a:off x="2852928" y="2852928"/>
            <a:ext cx="14630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62656" y="2889504"/>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π</a:t>
            </a:r>
          </a:p>
        </p:txBody>
      </p:sp>
      <p:sp>
        <p:nvSpPr>
          <p:cNvPr id="26" name="Rectangle 25"/>
          <p:cNvSpPr/>
          <p:nvPr/>
        </p:nvSpPr>
        <p:spPr>
          <a:xfrm>
            <a:off x="4315968" y="2852928"/>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2889504"/>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Keep columns; </a:t>
            </a:r>
            <a:r>
              <a:rPr sz="1150" b="1" i="0">
                <a:solidFill>
                  <a:srgbClr val="3C4555"/>
                </a:solidFill>
                <a:latin typeface="Calibri"/>
              </a:rPr>
              <a:t>remove duplicates</a:t>
            </a:r>
          </a:p>
        </p:txBody>
      </p:sp>
      <p:sp>
        <p:nvSpPr>
          <p:cNvPr id="28" name="Rectangle 27"/>
          <p:cNvSpPr/>
          <p:nvPr/>
        </p:nvSpPr>
        <p:spPr>
          <a:xfrm>
            <a:off x="7973568" y="2852928"/>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83296" y="2889504"/>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SELECT DISTINCT</a:t>
            </a:r>
          </a:p>
        </p:txBody>
      </p:sp>
      <p:sp>
        <p:nvSpPr>
          <p:cNvPr id="30" name="Rectangle 29"/>
          <p:cNvSpPr/>
          <p:nvPr/>
        </p:nvSpPr>
        <p:spPr>
          <a:xfrm>
            <a:off x="566928" y="3328416"/>
            <a:ext cx="22860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364992"/>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Union</a:t>
            </a:r>
          </a:p>
        </p:txBody>
      </p:sp>
      <p:sp>
        <p:nvSpPr>
          <p:cNvPr id="32" name="Rectangle 31"/>
          <p:cNvSpPr/>
          <p:nvPr/>
        </p:nvSpPr>
        <p:spPr>
          <a:xfrm>
            <a:off x="2852928" y="3328416"/>
            <a:ext cx="14630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62656" y="3364992"/>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t>
            </a:r>
          </a:p>
        </p:txBody>
      </p:sp>
      <p:sp>
        <p:nvSpPr>
          <p:cNvPr id="34" name="Rectangle 33"/>
          <p:cNvSpPr/>
          <p:nvPr/>
        </p:nvSpPr>
        <p:spPr>
          <a:xfrm>
            <a:off x="4315968" y="3328416"/>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25696" y="3364992"/>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Rows in either</a:t>
            </a:r>
          </a:p>
        </p:txBody>
      </p:sp>
      <p:sp>
        <p:nvSpPr>
          <p:cNvPr id="36" name="Rectangle 35"/>
          <p:cNvSpPr/>
          <p:nvPr/>
        </p:nvSpPr>
        <p:spPr>
          <a:xfrm>
            <a:off x="7973568" y="3328416"/>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83296" y="3364992"/>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UNION</a:t>
            </a:r>
          </a:p>
        </p:txBody>
      </p:sp>
      <p:sp>
        <p:nvSpPr>
          <p:cNvPr id="38" name="Rectangle 37"/>
          <p:cNvSpPr/>
          <p:nvPr/>
        </p:nvSpPr>
        <p:spPr>
          <a:xfrm>
            <a:off x="566928" y="3803904"/>
            <a:ext cx="22860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3840480"/>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Difference</a:t>
            </a:r>
          </a:p>
        </p:txBody>
      </p:sp>
      <p:sp>
        <p:nvSpPr>
          <p:cNvPr id="40" name="Rectangle 39"/>
          <p:cNvSpPr/>
          <p:nvPr/>
        </p:nvSpPr>
        <p:spPr>
          <a:xfrm>
            <a:off x="2852928" y="3803904"/>
            <a:ext cx="14630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62656" y="3840480"/>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t>
            </a:r>
          </a:p>
        </p:txBody>
      </p:sp>
      <p:sp>
        <p:nvSpPr>
          <p:cNvPr id="42" name="Rectangle 41"/>
          <p:cNvSpPr/>
          <p:nvPr/>
        </p:nvSpPr>
        <p:spPr>
          <a:xfrm>
            <a:off x="4315968" y="3803904"/>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25696" y="3840480"/>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Rows in one, not the other</a:t>
            </a:r>
          </a:p>
        </p:txBody>
      </p:sp>
      <p:sp>
        <p:nvSpPr>
          <p:cNvPr id="44" name="Rectangle 43"/>
          <p:cNvSpPr/>
          <p:nvPr/>
        </p:nvSpPr>
        <p:spPr>
          <a:xfrm>
            <a:off x="7973568" y="3803904"/>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83296" y="3840480"/>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EXCEPT</a:t>
            </a:r>
          </a:p>
        </p:txBody>
      </p:sp>
      <p:sp>
        <p:nvSpPr>
          <p:cNvPr id="46" name="Rectangle 45"/>
          <p:cNvSpPr/>
          <p:nvPr/>
        </p:nvSpPr>
        <p:spPr>
          <a:xfrm>
            <a:off x="566928" y="4279392"/>
            <a:ext cx="22860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6656" y="4315968"/>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Product</a:t>
            </a:r>
          </a:p>
        </p:txBody>
      </p:sp>
      <p:sp>
        <p:nvSpPr>
          <p:cNvPr id="48" name="Rectangle 47"/>
          <p:cNvSpPr/>
          <p:nvPr/>
        </p:nvSpPr>
        <p:spPr>
          <a:xfrm>
            <a:off x="2852928" y="4279392"/>
            <a:ext cx="14630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62656" y="4315968"/>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a:t>
            </a:r>
          </a:p>
        </p:txBody>
      </p:sp>
      <p:sp>
        <p:nvSpPr>
          <p:cNvPr id="50" name="Rectangle 49"/>
          <p:cNvSpPr/>
          <p:nvPr/>
        </p:nvSpPr>
        <p:spPr>
          <a:xfrm>
            <a:off x="4315968" y="4279392"/>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25696" y="4315968"/>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Every pair</a:t>
            </a:r>
          </a:p>
        </p:txBody>
      </p:sp>
      <p:sp>
        <p:nvSpPr>
          <p:cNvPr id="52" name="Rectangle 51"/>
          <p:cNvSpPr/>
          <p:nvPr/>
        </p:nvSpPr>
        <p:spPr>
          <a:xfrm>
            <a:off x="7973568" y="4279392"/>
            <a:ext cx="3657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83296" y="4315968"/>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CROSS JOIN</a:t>
            </a:r>
          </a:p>
        </p:txBody>
      </p:sp>
      <p:sp>
        <p:nvSpPr>
          <p:cNvPr id="54" name="Rectangle 53"/>
          <p:cNvSpPr/>
          <p:nvPr/>
        </p:nvSpPr>
        <p:spPr>
          <a:xfrm>
            <a:off x="566928" y="4754879"/>
            <a:ext cx="22860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6656" y="4791455"/>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Rename</a:t>
            </a:r>
          </a:p>
        </p:txBody>
      </p:sp>
      <p:sp>
        <p:nvSpPr>
          <p:cNvPr id="56" name="Rectangle 55"/>
          <p:cNvSpPr/>
          <p:nvPr/>
        </p:nvSpPr>
        <p:spPr>
          <a:xfrm>
            <a:off x="2852928" y="4754879"/>
            <a:ext cx="14630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62656" y="4791455"/>
            <a:ext cx="124358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ρ</a:t>
            </a:r>
          </a:p>
        </p:txBody>
      </p:sp>
      <p:sp>
        <p:nvSpPr>
          <p:cNvPr id="58" name="Rectangle 57"/>
          <p:cNvSpPr/>
          <p:nvPr/>
        </p:nvSpPr>
        <p:spPr>
          <a:xfrm>
            <a:off x="4315968" y="4754879"/>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25696" y="4791455"/>
            <a:ext cx="3438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Rename a relation or attribute</a:t>
            </a:r>
          </a:p>
        </p:txBody>
      </p:sp>
      <p:sp>
        <p:nvSpPr>
          <p:cNvPr id="60" name="Rectangle 59"/>
          <p:cNvSpPr/>
          <p:nvPr/>
        </p:nvSpPr>
        <p:spPr>
          <a:xfrm>
            <a:off x="7973568" y="4754879"/>
            <a:ext cx="3657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83296" y="4791455"/>
            <a:ext cx="3438144"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AS</a:t>
            </a:r>
          </a:p>
        </p:txBody>
      </p:sp>
      <p:sp>
        <p:nvSpPr>
          <p:cNvPr id="62" name="TextBox 61"/>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63" name="TextBox 62"/>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Closure is what makes composition work</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THE PROPERTY THAT MATTERS</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600" b="1" i="0">
                <a:solidFill>
                  <a:srgbClr val="141924"/>
                </a:solidFill>
                <a:latin typeface="Georgia"/>
              </a:rPr>
              <a:t>Every operator takes relations and returns a relation.</a:t>
            </a:r>
          </a:p>
          <a:p>
            <a:pPr algn="l">
              <a:lnSpc>
                <a:spcPct val="135000"/>
              </a:lnSpc>
              <a:spcAft>
                <a:spcPts val="1200"/>
              </a:spcAft>
            </a:pPr>
            <a:r>
              <a:rPr sz="1600" b="0" i="0">
                <a:solidFill>
                  <a:srgbClr val="141924"/>
                </a:solidFill>
                <a:latin typeface="Georgia"/>
              </a:rPr>
              <a:t>So operators compose arbitrarily — the output of one is a valid input to any other. Subqueries, views, and CTEs all follow from this.</a:t>
            </a:r>
          </a:p>
          <a:p>
            <a:pPr algn="l">
              <a:lnSpc>
                <a:spcPct val="135000"/>
              </a:lnSpc>
              <a:spcAft>
                <a:spcPts val="1200"/>
              </a:spcAft>
            </a:pPr>
            <a:r>
              <a:rPr sz="1600" b="1" i="0">
                <a:solidFill>
                  <a:srgbClr val="141924"/>
                </a:solidFill>
                <a:latin typeface="Georgia"/>
              </a:rPr>
              <a:t>And it means a query is a tree of operators</a:t>
            </a:r>
            <a:r>
              <a:rPr sz="1600" b="0" i="0">
                <a:solidFill>
                  <a:srgbClr val="141924"/>
                </a:solidFill>
                <a:latin typeface="Georgia"/>
              </a:rPr>
              <a:t>, which is exactly the structure an optimiser manipulates and an executor walks.</a:t>
            </a:r>
          </a:p>
          <a:p>
            <a:pPr algn="l">
              <a:lnSpc>
                <a:spcPct val="135000"/>
              </a:lnSpc>
              <a:spcAft>
                <a:spcPts val="1200"/>
              </a:spcAft>
            </a:pPr>
            <a:r>
              <a:rPr sz="1600" b="1" i="0">
                <a:solidFill>
                  <a:srgbClr val="141924"/>
                </a:solidFill>
                <a:latin typeface="Georgia"/>
              </a:rPr>
              <a:t>Without closure there would be no query plans</a:t>
            </a:r>
            <a:r>
              <a:rPr sz="1600" b="0" i="0">
                <a:solidFill>
                  <a:srgbClr val="141924"/>
                </a:solidFill>
                <a:latin typeface="Georgia"/>
              </a:rPr>
              <a:t>, no algebraic rewriting, and no optimisation. The whole architecture rests on this one property.</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SQL is not the relational algebra</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THREE REAL DIFFERENCES</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600" b="1" i="0">
                <a:solidFill>
                  <a:srgbClr val="141924"/>
                </a:solidFill>
                <a:latin typeface="Georgia"/>
              </a:rPr>
              <a:t>SQL has bags, not sets.</a:t>
            </a:r>
            <a:r>
              <a:rPr sz="1600" b="0" i="0">
                <a:solidFill>
                  <a:srgbClr val="141924"/>
                </a:solidFill>
                <a:latin typeface="Georgia"/>
              </a:rPr>
              <a:t> Duplicates persist unless you ask for DISTINCT. The algebra's relations are sets.</a:t>
            </a:r>
          </a:p>
          <a:p>
            <a:pPr algn="l">
              <a:lnSpc>
                <a:spcPct val="135000"/>
              </a:lnSpc>
              <a:spcAft>
                <a:spcPts val="1200"/>
              </a:spcAft>
            </a:pPr>
            <a:r>
              <a:rPr sz="1600" b="1" i="0">
                <a:solidFill>
                  <a:srgbClr val="141924"/>
                </a:solidFill>
                <a:latin typeface="Georgia"/>
              </a:rPr>
              <a:t>SQL has NULL</a:t>
            </a:r>
            <a:r>
              <a:rPr sz="1600" b="0" i="0">
                <a:solidFill>
                  <a:srgbClr val="141924"/>
                </a:solidFill>
                <a:latin typeface="Georgia"/>
              </a:rPr>
              <a:t>, which the algebra does not, and it brings three-valued logic with it (Part 2).</a:t>
            </a:r>
          </a:p>
          <a:p>
            <a:pPr algn="l">
              <a:lnSpc>
                <a:spcPct val="135000"/>
              </a:lnSpc>
              <a:spcAft>
                <a:spcPts val="1200"/>
              </a:spcAft>
            </a:pPr>
            <a:r>
              <a:rPr sz="1600" b="1" i="0">
                <a:solidFill>
                  <a:srgbClr val="141924"/>
                </a:solidFill>
                <a:latin typeface="Georgia"/>
              </a:rPr>
              <a:t>SQL has order</a:t>
            </a:r>
            <a:r>
              <a:rPr sz="1600" b="0" i="0">
                <a:solidFill>
                  <a:srgbClr val="141924"/>
                </a:solidFill>
                <a:latin typeface="Georgia"/>
              </a:rPr>
              <a:t> — ORDER BY, LIMIT, window functions. Relations are unordered by definition.</a:t>
            </a:r>
          </a:p>
          <a:p>
            <a:pPr algn="l">
              <a:lnSpc>
                <a:spcPct val="135000"/>
              </a:lnSpc>
              <a:spcAft>
                <a:spcPts val="1200"/>
              </a:spcAft>
            </a:pPr>
            <a:r>
              <a:rPr sz="1600" b="1" i="0">
                <a:solidFill>
                  <a:srgbClr val="141924"/>
                </a:solidFill>
                <a:latin typeface="Georgia"/>
              </a:rPr>
              <a:t>These are not pedantry.</a:t>
            </a:r>
            <a:r>
              <a:rPr sz="1600" b="0" i="0">
                <a:solidFill>
                  <a:srgbClr val="141924"/>
                </a:solidFill>
                <a:latin typeface="Georgia"/>
              </a:rPr>
              <a:t> Each one is a genuine source of bugs, and the NULL one in particular catches experienced people regularly.</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2</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NULL</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The feature Codd wanted and many regret.</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THREE-VALUED LOGIC</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AND, OR, and UNKNOWN</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512064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490118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Expression</a:t>
            </a:r>
          </a:p>
        </p:txBody>
      </p:sp>
      <p:sp>
        <p:nvSpPr>
          <p:cNvPr id="8" name="Rectangle 7"/>
          <p:cNvSpPr/>
          <p:nvPr/>
        </p:nvSpPr>
        <p:spPr>
          <a:xfrm>
            <a:off x="5687568" y="1901952"/>
            <a:ext cx="59436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97296" y="1956816"/>
            <a:ext cx="572414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Result</a:t>
            </a:r>
          </a:p>
        </p:txBody>
      </p:sp>
      <p:sp>
        <p:nvSpPr>
          <p:cNvPr id="10" name="Rectangle 9"/>
          <p:cNvSpPr/>
          <p:nvPr/>
        </p:nvSpPr>
        <p:spPr>
          <a:xfrm>
            <a:off x="566928" y="2377440"/>
            <a:ext cx="51206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414016"/>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NULL = NULL</a:t>
            </a:r>
          </a:p>
        </p:txBody>
      </p:sp>
      <p:sp>
        <p:nvSpPr>
          <p:cNvPr id="12" name="Rectangle 11"/>
          <p:cNvSpPr/>
          <p:nvPr/>
        </p:nvSpPr>
        <p:spPr>
          <a:xfrm>
            <a:off x="5687568" y="2377440"/>
            <a:ext cx="5943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97296" y="2414016"/>
            <a:ext cx="5724144" cy="475488"/>
          </a:xfrm>
          <a:prstGeom prst="rect">
            <a:avLst/>
          </a:prstGeom>
          <a:noFill/>
        </p:spPr>
        <p:txBody>
          <a:bodyPr wrap="square" anchor="ctr" lIns="0" rIns="0" tIns="0" bIns="0">
            <a:spAutoFit/>
          </a:bodyPr>
          <a:lstStyle/>
          <a:p>
            <a:pPr algn="l">
              <a:lnSpc>
                <a:spcPct val="110000"/>
              </a:lnSpc>
            </a:pPr>
            <a:r>
              <a:rPr sz="1150" b="1" i="0">
                <a:solidFill>
                  <a:srgbClr val="3C4555"/>
                </a:solidFill>
                <a:latin typeface="Calibri"/>
              </a:rPr>
              <a:t>UNKNOWN</a:t>
            </a:r>
            <a:r>
              <a:rPr sz="1150" b="0" i="0">
                <a:solidFill>
                  <a:srgbClr val="3C4555"/>
                </a:solidFill>
                <a:latin typeface="Calibri"/>
              </a:rPr>
              <a:t> — not TRUE</a:t>
            </a:r>
          </a:p>
        </p:txBody>
      </p:sp>
      <p:sp>
        <p:nvSpPr>
          <p:cNvPr id="14" name="Rectangle 13"/>
          <p:cNvSpPr/>
          <p:nvPr/>
        </p:nvSpPr>
        <p:spPr>
          <a:xfrm>
            <a:off x="566928" y="2852928"/>
            <a:ext cx="51206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889504"/>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NULL &lt;&gt; NULL</a:t>
            </a:r>
          </a:p>
        </p:txBody>
      </p:sp>
      <p:sp>
        <p:nvSpPr>
          <p:cNvPr id="16" name="Rectangle 15"/>
          <p:cNvSpPr/>
          <p:nvPr/>
        </p:nvSpPr>
        <p:spPr>
          <a:xfrm>
            <a:off x="5687568" y="2852928"/>
            <a:ext cx="5943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97296" y="2889504"/>
            <a:ext cx="5724144" cy="475488"/>
          </a:xfrm>
          <a:prstGeom prst="rect">
            <a:avLst/>
          </a:prstGeom>
          <a:noFill/>
        </p:spPr>
        <p:txBody>
          <a:bodyPr wrap="square" anchor="ctr" lIns="0" rIns="0" tIns="0" bIns="0">
            <a:spAutoFit/>
          </a:bodyPr>
          <a:lstStyle/>
          <a:p>
            <a:pPr algn="l">
              <a:lnSpc>
                <a:spcPct val="110000"/>
              </a:lnSpc>
            </a:pPr>
            <a:r>
              <a:rPr sz="1150" b="1" i="0">
                <a:solidFill>
                  <a:srgbClr val="3C4555"/>
                </a:solidFill>
                <a:latin typeface="Calibri"/>
              </a:rPr>
              <a:t>UNKNOWN</a:t>
            </a:r>
            <a:r>
              <a:rPr sz="1150" b="0" i="0">
                <a:solidFill>
                  <a:srgbClr val="3C4555"/>
                </a:solidFill>
                <a:latin typeface="Calibri"/>
              </a:rPr>
              <a:t> — not TRUE either</a:t>
            </a:r>
          </a:p>
        </p:txBody>
      </p:sp>
      <p:sp>
        <p:nvSpPr>
          <p:cNvPr id="18" name="Rectangle 17"/>
          <p:cNvSpPr/>
          <p:nvPr/>
        </p:nvSpPr>
        <p:spPr>
          <a:xfrm>
            <a:off x="566928" y="3328416"/>
            <a:ext cx="51206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364992"/>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TRUE OR NULL</a:t>
            </a:r>
          </a:p>
        </p:txBody>
      </p:sp>
      <p:sp>
        <p:nvSpPr>
          <p:cNvPr id="20" name="Rectangle 19"/>
          <p:cNvSpPr/>
          <p:nvPr/>
        </p:nvSpPr>
        <p:spPr>
          <a:xfrm>
            <a:off x="5687568" y="3328416"/>
            <a:ext cx="5943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97296" y="3364992"/>
            <a:ext cx="5724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TRUE</a:t>
            </a:r>
          </a:p>
        </p:txBody>
      </p:sp>
      <p:sp>
        <p:nvSpPr>
          <p:cNvPr id="22" name="Rectangle 21"/>
          <p:cNvSpPr/>
          <p:nvPr/>
        </p:nvSpPr>
        <p:spPr>
          <a:xfrm>
            <a:off x="566928" y="3803904"/>
            <a:ext cx="51206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840480"/>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FALSE AND NULL</a:t>
            </a:r>
          </a:p>
        </p:txBody>
      </p:sp>
      <p:sp>
        <p:nvSpPr>
          <p:cNvPr id="24" name="Rectangle 23"/>
          <p:cNvSpPr/>
          <p:nvPr/>
        </p:nvSpPr>
        <p:spPr>
          <a:xfrm>
            <a:off x="5687568" y="3803904"/>
            <a:ext cx="5943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97296" y="3840480"/>
            <a:ext cx="5724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FALSE</a:t>
            </a:r>
          </a:p>
        </p:txBody>
      </p:sp>
      <p:sp>
        <p:nvSpPr>
          <p:cNvPr id="26" name="Rectangle 25"/>
          <p:cNvSpPr/>
          <p:nvPr/>
        </p:nvSpPr>
        <p:spPr>
          <a:xfrm>
            <a:off x="566928" y="4279392"/>
            <a:ext cx="512064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4315968"/>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TRUE AND NULL</a:t>
            </a:r>
          </a:p>
        </p:txBody>
      </p:sp>
      <p:sp>
        <p:nvSpPr>
          <p:cNvPr id="28" name="Rectangle 27"/>
          <p:cNvSpPr/>
          <p:nvPr/>
        </p:nvSpPr>
        <p:spPr>
          <a:xfrm>
            <a:off x="5687568" y="4279392"/>
            <a:ext cx="59436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97296" y="4315968"/>
            <a:ext cx="57241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UNKNOWN</a:t>
            </a:r>
          </a:p>
        </p:txBody>
      </p:sp>
      <p:sp>
        <p:nvSpPr>
          <p:cNvPr id="30" name="Rectangle 29"/>
          <p:cNvSpPr/>
          <p:nvPr/>
        </p:nvSpPr>
        <p:spPr>
          <a:xfrm>
            <a:off x="566928" y="4754879"/>
            <a:ext cx="512064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4791455"/>
            <a:ext cx="4901183" cy="475488"/>
          </a:xfrm>
          <a:prstGeom prst="rect">
            <a:avLst/>
          </a:prstGeom>
          <a:noFill/>
        </p:spPr>
        <p:txBody>
          <a:bodyPr wrap="square" anchor="ctr" lIns="0" rIns="0" tIns="0" bIns="0">
            <a:spAutoFit/>
          </a:bodyPr>
          <a:lstStyle/>
          <a:p>
            <a:pPr algn="l">
              <a:lnSpc>
                <a:spcPct val="110000"/>
              </a:lnSpc>
            </a:pPr>
            <a:r>
              <a:rPr sz="1058" b="0" i="0">
                <a:solidFill>
                  <a:srgbClr val="3C4555"/>
                </a:solidFill>
                <a:latin typeface="Consolas"/>
              </a:rPr>
              <a:t>WHERE &lt;UNKNOWN&gt;</a:t>
            </a:r>
          </a:p>
        </p:txBody>
      </p:sp>
      <p:sp>
        <p:nvSpPr>
          <p:cNvPr id="32" name="Rectangle 31"/>
          <p:cNvSpPr/>
          <p:nvPr/>
        </p:nvSpPr>
        <p:spPr>
          <a:xfrm>
            <a:off x="5687568" y="4754879"/>
            <a:ext cx="59436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97296" y="4791455"/>
            <a:ext cx="5724144" cy="475488"/>
          </a:xfrm>
          <a:prstGeom prst="rect">
            <a:avLst/>
          </a:prstGeom>
          <a:noFill/>
        </p:spPr>
        <p:txBody>
          <a:bodyPr wrap="square" anchor="ctr" lIns="0" rIns="0" tIns="0" bIns="0">
            <a:spAutoFit/>
          </a:bodyPr>
          <a:lstStyle/>
          <a:p>
            <a:pPr algn="l">
              <a:lnSpc>
                <a:spcPct val="110000"/>
              </a:lnSpc>
            </a:pPr>
            <a:r>
              <a:rPr sz="1150" b="1" i="0">
                <a:solidFill>
                  <a:srgbClr val="3C4555"/>
                </a:solidFill>
                <a:latin typeface="Calibri"/>
              </a:rPr>
              <a:t>Row excluded</a:t>
            </a:r>
            <a:r>
              <a:rPr sz="1150" b="0" i="0">
                <a:solidFill>
                  <a:srgbClr val="3C4555"/>
                </a:solidFill>
                <a:latin typeface="Calibri"/>
              </a:rPr>
              <a:t> — only TRUE passes</a:t>
            </a:r>
          </a:p>
        </p:txBody>
      </p:sp>
      <p:sp>
        <p:nvSpPr>
          <p:cNvPr id="34" name="TextBox 33"/>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35" name="TextBox 34"/>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The NOT IN trap</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THE BUG THAT BITES EVERYONE ONCE</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472" b="0" i="0">
                <a:solidFill>
                  <a:srgbClr val="141924"/>
                </a:solidFill>
                <a:latin typeface="Consolas"/>
              </a:rPr>
              <a:t>WHERE x NOT IN (SELECT y FROM t)</a:t>
            </a:r>
            <a:r>
              <a:rPr sz="1600" b="0" i="0">
                <a:solidFill>
                  <a:srgbClr val="141924"/>
                </a:solidFill>
                <a:latin typeface="Georgia"/>
              </a:rPr>
              <a:t> returns </a:t>
            </a:r>
            <a:r>
              <a:rPr sz="1600" b="1" i="0">
                <a:solidFill>
                  <a:srgbClr val="141924"/>
                </a:solidFill>
                <a:latin typeface="Georgia"/>
              </a:rPr>
              <a:t>nothing at all</a:t>
            </a:r>
            <a:r>
              <a:rPr sz="1600" b="0" i="0">
                <a:solidFill>
                  <a:srgbClr val="141924"/>
                </a:solidFill>
                <a:latin typeface="Georgia"/>
              </a:rPr>
              <a:t> if any y is NULL.</a:t>
            </a:r>
          </a:p>
          <a:p>
            <a:pPr algn="l">
              <a:lnSpc>
                <a:spcPct val="135000"/>
              </a:lnSpc>
              <a:spcAft>
                <a:spcPts val="1200"/>
              </a:spcAft>
            </a:pPr>
            <a:r>
              <a:rPr sz="1600" b="1" i="0">
                <a:solidFill>
                  <a:srgbClr val="141924"/>
                </a:solidFill>
                <a:latin typeface="Georgia"/>
              </a:rPr>
              <a:t>Why:</a:t>
            </a:r>
            <a:r>
              <a:rPr sz="1600" b="0" i="0">
                <a:solidFill>
                  <a:srgbClr val="141924"/>
                </a:solidFill>
                <a:latin typeface="Georgia"/>
              </a:rPr>
              <a:t> </a:t>
            </a:r>
            <a:r>
              <a:rPr sz="1472" b="0" i="0">
                <a:solidFill>
                  <a:srgbClr val="141924"/>
                </a:solidFill>
                <a:latin typeface="Consolas"/>
              </a:rPr>
              <a:t>x NOT IN (1, 2, NULL)</a:t>
            </a:r>
            <a:r>
              <a:rPr sz="1600" b="0" i="0">
                <a:solidFill>
                  <a:srgbClr val="141924"/>
                </a:solidFill>
                <a:latin typeface="Georgia"/>
              </a:rPr>
              <a:t> expands to </a:t>
            </a:r>
            <a:r>
              <a:rPr sz="1472" b="0" i="0">
                <a:solidFill>
                  <a:srgbClr val="141924"/>
                </a:solidFill>
                <a:latin typeface="Consolas"/>
              </a:rPr>
              <a:t>x&lt;&gt;1 AND x&lt;&gt;2 AND x&lt;&gt;NULL</a:t>
            </a:r>
            <a:r>
              <a:rPr sz="1600" b="0" i="0">
                <a:solidFill>
                  <a:srgbClr val="141924"/>
                </a:solidFill>
                <a:latin typeface="Georgia"/>
              </a:rPr>
              <a:t>. The last conjunct is UNKNOWN, so the whole thing is UNKNOWN or FALSE — never TRUE.</a:t>
            </a:r>
          </a:p>
          <a:p>
            <a:pPr algn="l">
              <a:lnSpc>
                <a:spcPct val="135000"/>
              </a:lnSpc>
              <a:spcAft>
                <a:spcPts val="1200"/>
              </a:spcAft>
            </a:pPr>
            <a:r>
              <a:rPr sz="1600" b="1" i="0">
                <a:solidFill>
                  <a:srgbClr val="141924"/>
                </a:solidFill>
                <a:latin typeface="Georgia"/>
              </a:rPr>
              <a:t>The query is silently empty.</a:t>
            </a:r>
            <a:r>
              <a:rPr sz="1600" b="0" i="0">
                <a:solidFill>
                  <a:srgbClr val="141924"/>
                </a:solidFill>
                <a:latin typeface="Georgia"/>
              </a:rPr>
              <a:t> No error, no warning, and it worked yesterday before a NULL appeared in the data.</a:t>
            </a:r>
          </a:p>
          <a:p>
            <a:pPr algn="l">
              <a:lnSpc>
                <a:spcPct val="135000"/>
              </a:lnSpc>
              <a:spcAft>
                <a:spcPts val="1200"/>
              </a:spcAft>
            </a:pPr>
            <a:r>
              <a:rPr sz="1600" b="1" i="0">
                <a:solidFill>
                  <a:srgbClr val="141924"/>
                </a:solidFill>
                <a:latin typeface="Georgia"/>
              </a:rPr>
              <a:t>Use NOT EXISTS instead</a:t>
            </a:r>
            <a:r>
              <a:rPr sz="1600" b="0" i="0">
                <a:solidFill>
                  <a:srgbClr val="141924"/>
                </a:solidFill>
                <a:latin typeface="Georgia"/>
              </a:rPr>
              <a:t>, which is also usually faster. This is the single most costly NULL behaviour in practice.</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MORE NULL</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Other inconsistencies worth knowing</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a:t>
            </a:r>
            <a:r>
              <a:rPr sz="1800" b="1" i="0">
                <a:solidFill>
                  <a:srgbClr val="3C4555"/>
                </a:solidFill>
                <a:latin typeface="Calibri"/>
              </a:rPr>
              <a:t>Aggregates skip NULLs.</a:t>
            </a:r>
            <a:r>
              <a:rPr sz="1800" b="0" i="0">
                <a:solidFill>
                  <a:srgbClr val="3C4555"/>
                </a:solidFill>
                <a:latin typeface="Calibri"/>
              </a:rPr>
              <a:t> </a:t>
            </a:r>
            <a:r>
              <a:rPr sz="1656" b="0" i="0">
                <a:solidFill>
                  <a:srgbClr val="3C4555"/>
                </a:solidFill>
                <a:latin typeface="Consolas"/>
              </a:rPr>
              <a:t>AVG(x)</a:t>
            </a:r>
            <a:r>
              <a:rPr sz="1800" b="0" i="0">
                <a:solidFill>
                  <a:srgbClr val="3C4555"/>
                </a:solidFill>
                <a:latin typeface="Calibri"/>
              </a:rPr>
              <a:t> ignores them, so the denominator is not the row count.</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But COUNT(*) counts every row</a:t>
            </a:r>
            <a:r>
              <a:rPr sz="1800" b="0" i="0">
                <a:solidFill>
                  <a:srgbClr val="3C4555"/>
                </a:solidFill>
                <a:latin typeface="Calibri"/>
              </a:rPr>
              <a:t>, while </a:t>
            </a:r>
            <a:r>
              <a:rPr sz="1656" b="0" i="0">
                <a:solidFill>
                  <a:srgbClr val="3C4555"/>
                </a:solidFill>
                <a:latin typeface="Consolas"/>
              </a:rPr>
              <a:t>COUNT(x)</a:t>
            </a:r>
            <a:r>
              <a:rPr sz="1800" b="0" i="0">
                <a:solidFill>
                  <a:srgbClr val="3C4555"/>
                </a:solidFill>
                <a:latin typeface="Calibri"/>
              </a:rPr>
              <a:t> skips NULL x. Two different questions, one character apart.</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GROUP BY treats NULLs as equal</a:t>
            </a:r>
            <a:r>
              <a:rPr sz="1800" b="0" i="0">
                <a:solidFill>
                  <a:srgbClr val="3C4555"/>
                </a:solidFill>
                <a:latin typeface="Calibri"/>
              </a:rPr>
              <a:t> and puts them in one group — even though </a:t>
            </a:r>
            <a:r>
              <a:rPr sz="1656" b="0" i="0">
                <a:solidFill>
                  <a:srgbClr val="3C4555"/>
                </a:solidFill>
                <a:latin typeface="Consolas"/>
              </a:rPr>
              <a:t>NULL = NULL</a:t>
            </a:r>
            <a:r>
              <a:rPr sz="1800" b="0" i="0">
                <a:solidFill>
                  <a:srgbClr val="3C4555"/>
                </a:solidFill>
                <a:latin typeface="Calibri"/>
              </a:rPr>
              <a:t> is UNKNOWN.</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UNIQUE constraints permit multiple NULLs</a:t>
            </a:r>
            <a:r>
              <a:rPr sz="1800" b="0" i="0">
                <a:solidFill>
                  <a:srgbClr val="3C4555"/>
                </a:solidFill>
                <a:latin typeface="Calibri"/>
              </a:rPr>
              <a:t> in most systems, for the same reason — and the standard is ambiguous.</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a:t>
            </a:r>
            <a:r>
              <a:rPr sz="1800" b="1" i="0">
                <a:solidFill>
                  <a:srgbClr val="3C4555"/>
                </a:solidFill>
                <a:latin typeface="Calibri"/>
              </a:rPr>
              <a:t>ORDER BY must decide</a:t>
            </a:r>
            <a:r>
              <a:rPr sz="1800" b="0" i="0">
                <a:solidFill>
                  <a:srgbClr val="3C4555"/>
                </a:solidFill>
                <a:latin typeface="Calibri"/>
              </a:rPr>
              <a:t> where NULLs sort. Systems differ; the standard allows either.</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3</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Evaluation order</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Not the order the clauses are written in.</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ORDER</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SQL's logical evaluation order</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3904487"/>
          </a:xfrm>
          <a:prstGeom prst="rect">
            <a:avLst/>
          </a:prstGeom>
          <a:solidFill>
            <a:srgbClr val="1B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2011680"/>
            <a:ext cx="1005840" cy="274320"/>
          </a:xfrm>
          <a:prstGeom prst="rect">
            <a:avLst/>
          </a:prstGeom>
          <a:noFill/>
        </p:spPr>
        <p:txBody>
          <a:bodyPr wrap="square" anchor="t" lIns="0" rIns="0" tIns="0" bIns="0">
            <a:spAutoFit/>
          </a:bodyPr>
          <a:lstStyle/>
          <a:p>
            <a:pPr algn="r">
              <a:lnSpc>
                <a:spcPct val="100000"/>
              </a:lnSpc>
            </a:pPr>
            <a:r>
              <a:rPr sz="1000" b="0" i="0">
                <a:solidFill>
                  <a:srgbClr val="C29B3F"/>
                </a:solidFill>
                <a:latin typeface="Consolas"/>
              </a:rPr>
              <a:t>text</a:t>
            </a:r>
          </a:p>
        </p:txBody>
      </p:sp>
      <p:sp>
        <p:nvSpPr>
          <p:cNvPr id="8" name="TextBox 7"/>
          <p:cNvSpPr txBox="1"/>
          <p:nvPr/>
        </p:nvSpPr>
        <p:spPr>
          <a:xfrm>
            <a:off x="868680" y="2084832"/>
            <a:ext cx="10515600" cy="3630168"/>
          </a:xfrm>
          <a:prstGeom prst="rect">
            <a:avLst/>
          </a:prstGeom>
          <a:noFill/>
        </p:spPr>
        <p:txBody>
          <a:bodyPr wrap="square" anchor="t" lIns="0" rIns="0" tIns="0" bIns="0">
            <a:spAutoFit/>
          </a:bodyPr>
          <a:lstStyle/>
          <a:p>
            <a:pPr algn="l">
              <a:lnSpc>
                <a:spcPct val="105000"/>
              </a:lnSpc>
            </a:pPr>
            <a:r>
              <a:rPr sz="1339" b="0" i="0">
                <a:solidFill>
                  <a:srgbClr val="E4E8EF"/>
                </a:solidFill>
                <a:latin typeface="Consolas"/>
              </a:rPr>
              <a:t>  WRITTEN                      EVALUATED</a:t>
            </a:r>
          </a:p>
          <a:p>
            <a:pPr algn="l">
              <a:lnSpc>
                <a:spcPct val="105000"/>
              </a:lnSpc>
            </a:pPr>
            <a:r>
              <a:rPr sz="1339" b="0" i="0">
                <a:solidFill>
                  <a:srgbClr val="E4E8EF"/>
                </a:solidFill>
                <a:latin typeface="Consolas"/>
              </a:rPr>
              <a:t>  -------                      ---------</a:t>
            </a:r>
          </a:p>
          <a:p>
            <a:pPr algn="l">
              <a:lnSpc>
                <a:spcPct val="105000"/>
              </a:lnSpc>
            </a:pPr>
            <a:r>
              <a:rPr sz="1339" b="0" i="0">
                <a:solidFill>
                  <a:srgbClr val="E4E8EF"/>
                </a:solidFill>
                <a:latin typeface="Consolas"/>
              </a:rPr>
              <a:t>  SELECT    ...                1.  FROM / JOIN      build the row source</a:t>
            </a:r>
          </a:p>
          <a:p>
            <a:pPr algn="l">
              <a:lnSpc>
                <a:spcPct val="105000"/>
              </a:lnSpc>
            </a:pPr>
            <a:r>
              <a:rPr sz="1339" b="0" i="0">
                <a:solidFill>
                  <a:srgbClr val="E4E8EF"/>
                </a:solidFill>
                <a:latin typeface="Consolas"/>
              </a:rPr>
              <a:t>  FROM      ...                2.  WHERE            filter individual rows</a:t>
            </a:r>
          </a:p>
          <a:p>
            <a:pPr algn="l">
              <a:lnSpc>
                <a:spcPct val="105000"/>
              </a:lnSpc>
            </a:pPr>
            <a:r>
              <a:rPr sz="1339" b="0" i="0">
                <a:solidFill>
                  <a:srgbClr val="E4E8EF"/>
                </a:solidFill>
                <a:latin typeface="Consolas"/>
              </a:rPr>
              <a:t>  WHERE     ...                3.  GROUP BY         form groups</a:t>
            </a:r>
          </a:p>
          <a:p>
            <a:pPr algn="l">
              <a:lnSpc>
                <a:spcPct val="105000"/>
              </a:lnSpc>
            </a:pPr>
            <a:r>
              <a:rPr sz="1339" b="0" i="0">
                <a:solidFill>
                  <a:srgbClr val="E4E8EF"/>
                </a:solidFill>
                <a:latin typeface="Consolas"/>
              </a:rPr>
              <a:t>  GROUP BY  ...                4.  HAVING           filter GROUPS</a:t>
            </a:r>
          </a:p>
          <a:p>
            <a:pPr algn="l">
              <a:lnSpc>
                <a:spcPct val="105000"/>
              </a:lnSpc>
            </a:pPr>
            <a:r>
              <a:rPr sz="1339" b="0" i="0">
                <a:solidFill>
                  <a:srgbClr val="E4E8EF"/>
                </a:solidFill>
                <a:latin typeface="Consolas"/>
              </a:rPr>
              <a:t>  HAVING    ...                5.  SELECT           compute output columns</a:t>
            </a:r>
          </a:p>
          <a:p>
            <a:pPr algn="l">
              <a:lnSpc>
                <a:spcPct val="105000"/>
              </a:lnSpc>
            </a:pPr>
            <a:r>
              <a:rPr sz="1339" b="0" i="0">
                <a:solidFill>
                  <a:srgbClr val="E4E8EF"/>
                </a:solidFill>
                <a:latin typeface="Consolas"/>
              </a:rPr>
              <a:t>  ORDER BY  ...                6.  DISTINCT</a:t>
            </a:r>
          </a:p>
          <a:p>
            <a:pPr algn="l">
              <a:lnSpc>
                <a:spcPct val="105000"/>
              </a:lnSpc>
            </a:pPr>
            <a:r>
              <a:rPr sz="1339" b="0" i="0">
                <a:solidFill>
                  <a:srgbClr val="E4E8EF"/>
                </a:solidFill>
                <a:latin typeface="Consolas"/>
              </a:rPr>
              <a:t>  LIMIT     ...                7.  ORDER BY         sort the result</a:t>
            </a:r>
          </a:p>
          <a:p>
            <a:pPr algn="l">
              <a:lnSpc>
                <a:spcPct val="105000"/>
              </a:lnSpc>
            </a:pPr>
            <a:r>
              <a:rPr sz="1339" b="0" i="0">
                <a:solidFill>
                  <a:srgbClr val="E4E8EF"/>
                </a:solidFill>
                <a:latin typeface="Consolas"/>
              </a:rPr>
              <a:t>                               8.  LIMIT</a:t>
            </a:r>
          </a:p>
          <a:p>
            <a:pPr algn="l">
              <a:lnSpc>
                <a:spcPct val="105000"/>
              </a:lnSpc>
            </a:pPr>
            <a:r>
              <a:rPr sz="1339" b="0" i="0">
                <a:solidFill>
                  <a:srgbClr val="E4E8EF"/>
                </a:solidFill>
                <a:latin typeface="Consolas"/>
              </a:rPr>
              <a:t> </a:t>
            </a:r>
          </a:p>
          <a:p>
            <a:pPr algn="l">
              <a:lnSpc>
                <a:spcPct val="105000"/>
              </a:lnSpc>
            </a:pPr>
            <a:r>
              <a:rPr sz="1339" b="0" i="0">
                <a:solidFill>
                  <a:srgbClr val="E4E8EF"/>
                </a:solidFill>
                <a:latin typeface="Consolas"/>
              </a:rPr>
              <a:t>  CONSEQUENCES:</a:t>
            </a:r>
          </a:p>
          <a:p>
            <a:pPr algn="l">
              <a:lnSpc>
                <a:spcPct val="105000"/>
              </a:lnSpc>
            </a:pPr>
            <a:r>
              <a:rPr sz="1339" b="0" i="0">
                <a:solidFill>
                  <a:srgbClr val="E4E8EF"/>
                </a:solidFill>
                <a:latin typeface="Consolas"/>
              </a:rPr>
              <a:t>   * WHERE cannot reference a SELECT alias -- it has not been computed.</a:t>
            </a:r>
          </a:p>
          <a:p>
            <a:pPr algn="l">
              <a:lnSpc>
                <a:spcPct val="105000"/>
              </a:lnSpc>
            </a:pPr>
            <a:r>
              <a:rPr sz="1339" b="0" i="0">
                <a:solidFill>
                  <a:srgbClr val="E4E8EF"/>
                </a:solidFill>
                <a:latin typeface="Consolas"/>
              </a:rPr>
              <a:t>   * ORDER BY CAN -- by then it has.</a:t>
            </a:r>
          </a:p>
          <a:p>
            <a:pPr algn="l">
              <a:lnSpc>
                <a:spcPct val="105000"/>
              </a:lnSpc>
            </a:pPr>
            <a:r>
              <a:rPr sz="1339" b="0" i="0">
                <a:solidFill>
                  <a:srgbClr val="E4E8EF"/>
                </a:solidFill>
                <a:latin typeface="Consolas"/>
              </a:rPr>
              <a:t>   * HAVING filters groups; WHERE filters rows. Not interchangeable.</a:t>
            </a:r>
          </a:p>
          <a:p>
            <a:pPr algn="l">
              <a:lnSpc>
                <a:spcPct val="105000"/>
              </a:lnSpc>
            </a:pPr>
            <a:r>
              <a:rPr sz="1339" b="0" i="0">
                <a:solidFill>
                  <a:srgbClr val="E4E8EF"/>
                </a:solidFill>
                <a:latin typeface="Consolas"/>
              </a:rPr>
              <a:t>   * An aggregate cannot appear in WHERE. It does not exist yet.</a:t>
            </a:r>
          </a:p>
        </p:txBody>
      </p:sp>
      <p:sp>
        <p:nvSpPr>
          <p:cNvPr id="9" name="TextBox 8"/>
          <p:cNvSpPr txBox="1"/>
          <p:nvPr/>
        </p:nvSpPr>
        <p:spPr>
          <a:xfrm>
            <a:off x="566928" y="5971031"/>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This is the </a:t>
            </a:r>
            <a:r>
              <a:rPr sz="1250" b="0" i="1">
                <a:solidFill>
                  <a:srgbClr val="798290"/>
                </a:solidFill>
                <a:latin typeface="Calibri"/>
              </a:rPr>
              <a:t>logical</a:t>
            </a:r>
            <a:r>
              <a:rPr sz="1250" b="0" i="1">
                <a:solidFill>
                  <a:srgbClr val="798290"/>
                </a:solidFill>
                <a:latin typeface="Calibri"/>
              </a:rPr>
              <a:t> order. The optimiser may execute in any order that produces the same result.</a:t>
            </a:r>
          </a:p>
        </p:txBody>
      </p:sp>
      <p:sp>
        <p:nvSpPr>
          <p:cNvPr id="10" name="TextBox 9"/>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11" name="TextBox 10"/>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Declarative is the point, and it is why an optimiser exists</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CLOSING THE LOOP WITH MODULE 01</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600" b="0" i="0">
                <a:solidFill>
                  <a:srgbClr val="141924"/>
                </a:solidFill>
                <a:latin typeface="Georgia"/>
              </a:rPr>
              <a:t>SQL says </a:t>
            </a:r>
            <a:r>
              <a:rPr sz="1600" b="0" i="1">
                <a:solidFill>
                  <a:srgbClr val="141924"/>
                </a:solidFill>
                <a:latin typeface="Georgia"/>
              </a:rPr>
              <a:t>what</a:t>
            </a:r>
            <a:r>
              <a:rPr sz="1600" b="0" i="0">
                <a:solidFill>
                  <a:srgbClr val="141924"/>
                </a:solidFill>
                <a:latin typeface="Georgia"/>
              </a:rPr>
              <a:t> rows you want. It says nothing about which index to use, which join algorithm, or what order to join in.</a:t>
            </a:r>
          </a:p>
          <a:p>
            <a:pPr algn="l">
              <a:lnSpc>
                <a:spcPct val="135000"/>
              </a:lnSpc>
              <a:spcAft>
                <a:spcPts val="1200"/>
              </a:spcAft>
            </a:pPr>
            <a:r>
              <a:rPr sz="1600" b="1" i="0">
                <a:solidFill>
                  <a:srgbClr val="141924"/>
                </a:solidFill>
                <a:latin typeface="Georgia"/>
              </a:rPr>
              <a:t>So something must decide</a:t>
            </a:r>
            <a:r>
              <a:rPr sz="1600" b="0" i="0">
                <a:solidFill>
                  <a:srgbClr val="141924"/>
                </a:solidFill>
                <a:latin typeface="Georgia"/>
              </a:rPr>
              <a:t> — and that is the optimiser (Module 08).</a:t>
            </a:r>
          </a:p>
          <a:p>
            <a:pPr algn="l">
              <a:lnSpc>
                <a:spcPct val="135000"/>
              </a:lnSpc>
              <a:spcAft>
                <a:spcPts val="1200"/>
              </a:spcAft>
            </a:pPr>
            <a:r>
              <a:rPr sz="1600" b="1" i="0">
                <a:solidFill>
                  <a:srgbClr val="141924"/>
                </a:solidFill>
                <a:latin typeface="Georgia"/>
              </a:rPr>
              <a:t>The benefit:</a:t>
            </a:r>
            <a:r>
              <a:rPr sz="1600" b="0" i="0">
                <a:solidFill>
                  <a:srgbClr val="141924"/>
                </a:solidFill>
                <a:latin typeface="Georgia"/>
              </a:rPr>
              <a:t> the same query gets faster when an index is added or statistics improve, with no change to the query.</a:t>
            </a:r>
          </a:p>
          <a:p>
            <a:pPr algn="l">
              <a:lnSpc>
                <a:spcPct val="135000"/>
              </a:lnSpc>
              <a:spcAft>
                <a:spcPts val="1200"/>
              </a:spcAft>
            </a:pPr>
            <a:r>
              <a:rPr sz="1600" b="1" i="0">
                <a:solidFill>
                  <a:srgbClr val="141924"/>
                </a:solidFill>
                <a:latin typeface="Georgia"/>
              </a:rPr>
              <a:t>The cost:</a:t>
            </a:r>
            <a:r>
              <a:rPr sz="1600" b="0" i="0">
                <a:solidFill>
                  <a:srgbClr val="141924"/>
                </a:solidFill>
                <a:latin typeface="Georgia"/>
              </a:rPr>
              <a:t> you cannot directly control execution, and when the optimiser chooses badly the query is slow for reasons the text does not reveal. This is the single most common practical frustration with SQL.</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608 · Database Systems  —  Module 05</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515600" cy="685800"/>
          </a:xfrm>
          <a:prstGeom prst="rect">
            <a:avLst/>
          </a:prstGeom>
          <a:noFill/>
        </p:spPr>
        <p:txBody>
          <a:bodyPr wrap="square" anchor="t" lIns="0" rIns="0" tIns="0" bIns="0">
            <a:spAutoFit/>
          </a:bodyPr>
          <a:lstStyle/>
          <a:p>
            <a:pPr algn="l">
              <a:lnSpc>
                <a:spcPct val="100000"/>
              </a:lnSpc>
            </a:pPr>
            <a:r>
              <a:rPr sz="2900" b="1" i="0">
                <a:solidFill>
                  <a:srgbClr val="FFFFFF"/>
                </a:solidFill>
                <a:latin typeface="Georgia"/>
              </a:rPr>
              <a:t>What to carry forward</a:t>
            </a:r>
          </a:p>
        </p:txBody>
      </p:sp>
      <p:sp>
        <p:nvSpPr>
          <p:cNvPr id="5" name="Rectangle 4"/>
          <p:cNvSpPr/>
          <p:nvPr/>
        </p:nvSpPr>
        <p:spPr>
          <a:xfrm>
            <a:off x="822960" y="1481328"/>
            <a:ext cx="1371600" cy="320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206240"/>
          </a:xfrm>
          <a:prstGeom prst="rect">
            <a:avLst/>
          </a:prstGeom>
          <a:noFill/>
        </p:spPr>
        <p:txBody>
          <a:bodyPr wrap="square" anchor="t" lIns="0" rIns="0" tIns="0" bIns="0">
            <a:spAutoFit/>
          </a:bodyPr>
          <a:lstStyle/>
          <a:p>
            <a:pPr algn="l">
              <a:lnSpc>
                <a:spcPct val="125000"/>
              </a:lnSpc>
              <a:spcAft>
                <a:spcPts val="1300"/>
              </a:spcAft>
            </a:pPr>
            <a:r>
              <a:rPr sz="1700" b="0" i="0">
                <a:solidFill>
                  <a:srgbClr val="D6DCE6"/>
                </a:solidFill>
                <a:latin typeface="Calibri"/>
              </a:rPr>
              <a:t>1.  Six primitive operators — select, project, union, difference, product, rename. Join is derived, which is why it can be rewritten.</a:t>
            </a:r>
          </a:p>
          <a:p>
            <a:pPr algn="l">
              <a:lnSpc>
                <a:spcPct val="125000"/>
              </a:lnSpc>
              <a:spcAft>
                <a:spcPts val="1300"/>
              </a:spcAft>
            </a:pPr>
            <a:r>
              <a:rPr sz="1700" b="0" i="0">
                <a:solidFill>
                  <a:srgbClr val="D6DCE6"/>
                </a:solidFill>
                <a:latin typeface="Calibri"/>
              </a:rPr>
              <a:t>2.  Closure means every operator returns a relation, so queries are trees of operators. Query plans and optimisation depend entirely on this.</a:t>
            </a:r>
          </a:p>
          <a:p>
            <a:pPr algn="l">
              <a:lnSpc>
                <a:spcPct val="125000"/>
              </a:lnSpc>
              <a:spcAft>
                <a:spcPts val="1300"/>
              </a:spcAft>
            </a:pPr>
            <a:r>
              <a:rPr sz="1700" b="0" i="0">
                <a:solidFill>
                  <a:srgbClr val="D6DCE6"/>
                </a:solidFill>
                <a:latin typeface="Calibri"/>
              </a:rPr>
              <a:t>3.  SQL differs from the algebra in three real ways: bags not sets, NULL, and order.</a:t>
            </a:r>
          </a:p>
          <a:p>
            <a:pPr algn="l">
              <a:lnSpc>
                <a:spcPct val="125000"/>
              </a:lnSpc>
              <a:spcAft>
                <a:spcPts val="1300"/>
              </a:spcAft>
            </a:pPr>
            <a:r>
              <a:rPr sz="1700" b="0" i="0">
                <a:solidFill>
                  <a:srgbClr val="D6DCE6"/>
                </a:solidFill>
                <a:latin typeface="Calibri"/>
              </a:rPr>
              <a:t>4.  NULL brings three-valued logic. WHERE passes only TRUE, so UNKNOWN excludes the row.</a:t>
            </a:r>
          </a:p>
          <a:p>
            <a:pPr algn="l">
              <a:lnSpc>
                <a:spcPct val="125000"/>
              </a:lnSpc>
              <a:spcAft>
                <a:spcPts val="1300"/>
              </a:spcAft>
            </a:pPr>
            <a:r>
              <a:rPr sz="1700" b="0" i="0">
                <a:solidFill>
                  <a:srgbClr val="D6DCE6"/>
                </a:solidFill>
                <a:latin typeface="Calibri"/>
              </a:rPr>
              <a:t>5.  NOT IN returns nothing if the subquery yields any NULL — silently. Use NOT EXISTS.</a:t>
            </a:r>
          </a:p>
          <a:p>
            <a:pPr algn="l">
              <a:lnSpc>
                <a:spcPct val="125000"/>
              </a:lnSpc>
              <a:spcAft>
                <a:spcPts val="1300"/>
              </a:spcAft>
            </a:pPr>
            <a:r>
              <a:rPr sz="1700" b="0" i="0">
                <a:solidFill>
                  <a:srgbClr val="D6DCE6"/>
                </a:solidFill>
                <a:latin typeface="Calibri"/>
              </a:rPr>
              <a:t>6.  Clauses are evaluated FROM, WHERE, GROUP BY, HAVING, SELECT, ORDER BY, LIMIT — which explains most alias and aggregate restrictions.</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608 · Database Systems  —  Module 05</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